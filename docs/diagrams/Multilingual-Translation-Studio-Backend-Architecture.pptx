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2A44"/>
                </a:solidFill>
                <a:latin typeface="Calibri"/>
              </a:rPr>
              <a:t>SA - Multilingual Translation Studio (Backend)</a:t>
            </a:r>
          </a:p>
        </p:txBody>
      </p:sp>
      <p:pic>
        <p:nvPicPr>
          <p:cNvPr id="4" name="Picture 3" descr="multilingual-translator-studio-backend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457200"/>
            <a:ext cx="1179576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2A44"/>
                </a:solidFill>
                <a:latin typeface="Calibri"/>
              </a:rPr>
              <a:t>Editable component map (drag shapes / replace icons)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869680" y="137160"/>
            <a:ext cx="256032" cy="182880"/>
          </a:xfrm>
          <a:prstGeom prst="roundRect">
            <a:avLst/>
          </a:prstGeom>
          <a:solidFill>
            <a:srgbClr val="FBF3E0"/>
          </a:solidFill>
          <a:ln w="12700">
            <a:solidFill>
              <a:srgbClr val="C9B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89720" y="109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latin typeface="Calibri"/>
              </a:rPr>
              <a:t>New Application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365760"/>
            <a:ext cx="256032" cy="182880"/>
          </a:xfrm>
          <a:prstGeom prst="roundRect">
            <a:avLst/>
          </a:prstGeom>
          <a:solidFill>
            <a:srgbClr val="EEEEEE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89720" y="3383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2222"/>
                </a:solidFill>
                <a:latin typeface="Calibri"/>
              </a:rPr>
              <a:t>Shared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777240"/>
            <a:ext cx="2011680" cy="12344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850392"/>
            <a:ext cx="1810512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API Consumers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Partner · BFF · Mobile · External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2402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2313432"/>
            <a:ext cx="15361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F5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Load balancer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3108960"/>
            <a:ext cx="1920240" cy="7772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-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18688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182112"/>
            <a:ext cx="132588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App Gateway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TLS · WAF · routing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731520"/>
            <a:ext cx="502920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888888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822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  <a:latin typeface="Calibri"/>
              </a:rPr>
              <a:t>MTS Backend Environment (CAT 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1143000"/>
            <a:ext cx="4663440" cy="960120"/>
          </a:xfrm>
          <a:prstGeom prst="roundRect">
            <a:avLst>
              <a:gd name="adj" fmla="val 10000"/>
            </a:avLst>
          </a:prstGeom>
          <a:solidFill>
            <a:srgbClr val="FBF3E0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252728"/>
            <a:ext cx="347472" cy="34747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0400" y="1216152"/>
            <a:ext cx="4069080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NS1 · API Gateway Services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FastAPI /api/v1 · Upload · Status · Pages · Cancel/Retry · Downloads · JWT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97480" y="2240280"/>
            <a:ext cx="4663440" cy="1417320"/>
          </a:xfrm>
          <a:prstGeom prst="roundRect">
            <a:avLst>
              <a:gd name="adj" fmla="val 10000"/>
            </a:avLst>
          </a:prstGeom>
          <a:solidFill>
            <a:srgbClr val="FBF3E0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2350008"/>
            <a:ext cx="347472" cy="3474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200400" y="2313432"/>
            <a:ext cx="4069080" cy="1307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NS2 · Orchestrator &amp; Processing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Intake/Extract → Gateway/Profiles → Translate → Export
Data Security Gateway · Rule/Profile library · JWT between services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3794760"/>
            <a:ext cx="4663440" cy="1051560"/>
          </a:xfrm>
          <a:prstGeom prst="roundRect">
            <a:avLst>
              <a:gd name="adj" fmla="val 10000"/>
            </a:avLst>
          </a:prstGeom>
          <a:solidFill>
            <a:srgbClr val="FBF3E0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3904488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200400" y="3867912"/>
            <a:ext cx="4069080" cy="941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2222"/>
                </a:solidFill>
                <a:latin typeface="Calibri"/>
              </a:rPr>
              <a:t>NS3 · Workers &amp; Agents</a:t>
            </a:r>
          </a:p>
          <a:p>
            <a:r>
              <a:rPr sz="900">
                <a:solidFill>
                  <a:srgbClr val="222222"/>
                </a:solidFill>
                <a:latin typeface="Calibri"/>
              </a:rPr>
              <a:t>Page-range DI worker · Translation worker · Retention · Prompt library · Token service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77724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ap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886968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321040" y="850392"/>
            <a:ext cx="7772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APIM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JWT · throttle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72600" y="77724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pp-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886968"/>
            <a:ext cx="34747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75520" y="850392"/>
            <a:ext cx="868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App Gateway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AI path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18120" y="1554480"/>
            <a:ext cx="4069080" cy="2606040"/>
          </a:xfrm>
          <a:prstGeom prst="roundRect">
            <a:avLst>
              <a:gd name="adj" fmla="val 5000"/>
            </a:avLst>
          </a:prstGeom>
          <a:solidFill>
            <a:srgbClr val="FBF3E0"/>
          </a:solidFill>
          <a:ln w="2222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79" y="16459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2A44"/>
                </a:solidFill>
                <a:latin typeface="Calibri"/>
              </a:rPr>
              <a:t>AI HUB (CAT 1)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1965960"/>
            <a:ext cx="370332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2075688"/>
            <a:ext cx="347472" cy="34747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503920" y="2039112"/>
            <a:ext cx="3108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Azure OpenAI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GPT structured translation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2651760"/>
            <a:ext cx="370332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doc-int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2761488"/>
            <a:ext cx="347472" cy="34747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03920" y="2724912"/>
            <a:ext cx="3108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Document Intelligence 4.0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prebuilt-layout · OCR · languages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01000" y="3337560"/>
            <a:ext cx="370332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transla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3447288"/>
            <a:ext cx="347472" cy="34747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503920" y="3410712"/>
            <a:ext cx="3108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Azure AI Translator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Non-LLM route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343400"/>
            <a:ext cx="1920240" cy="64008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entr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9560" y="4453128"/>
            <a:ext cx="347472" cy="3474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321040" y="4416552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AZ Entra ID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App roles · SPN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21240" y="4343400"/>
            <a:ext cx="1965960" cy="64008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30968" y="4416552"/>
            <a:ext cx="17647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Calibri"/>
              </a:rPr>
              <a:t>Identity Governance</a:t>
            </a:r>
          </a:p>
          <a:p>
            <a:r>
              <a:rPr sz="800">
                <a:solidFill>
                  <a:srgbClr val="222222"/>
                </a:solidFill>
                <a:latin typeface="Calibri"/>
              </a:rPr>
              <a:t>Enterprise IDP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14600" y="5212080"/>
            <a:ext cx="9372600" cy="1051560"/>
          </a:xfrm>
          <a:prstGeom prst="roundRect">
            <a:avLst/>
          </a:prstGeom>
          <a:solidFill>
            <a:srgbClr val="FBF3E0"/>
          </a:solidFill>
          <a:ln w="19050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51760" y="5257800"/>
            <a:ext cx="8961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A44"/>
                </a:solidFill>
                <a:latin typeface="Calibri"/>
              </a:rPr>
              <a:t>Data Storage Layer · CMK encryption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51760" y="553212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service-b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0" y="5641848"/>
            <a:ext cx="347472" cy="3474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154680" y="5605272"/>
            <a:ext cx="1051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Calibri"/>
              </a:rPr>
              <a:t>Service Bus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434840" y="553212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lo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6280" y="5641848"/>
            <a:ext cx="347472" cy="3474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4937760" y="5605272"/>
            <a:ext cx="1051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Calibri"/>
              </a:rPr>
              <a:t>Blob Storage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17920" y="553212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postg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5641848"/>
            <a:ext cx="347472" cy="3474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720840" y="5605272"/>
            <a:ext cx="1051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Calibri"/>
              </a:rPr>
              <a:t>Postgres DB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01000" y="553212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redi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92440" y="5641848"/>
            <a:ext cx="347472" cy="34747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3920" y="5605272"/>
            <a:ext cx="1051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Calibri"/>
              </a:rPr>
              <a:t>Redis Cache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84080" y="553212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9B88E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ear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5520" y="5641848"/>
            <a:ext cx="347472" cy="3474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287000" y="5605272"/>
            <a:ext cx="1051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2222"/>
                </a:solidFill>
                <a:latin typeface="Calibri"/>
              </a:rPr>
              <a:t>AI Search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286000" y="3474720"/>
            <a:ext cx="228600" cy="0"/>
          </a:xfrm>
          <a:prstGeom prst="line">
            <a:avLst/>
          </a:prstGeom>
          <a:ln w="22225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7543800" y="1097280"/>
            <a:ext cx="274320" cy="1645920"/>
          </a:xfrm>
          <a:prstGeom prst="line">
            <a:avLst/>
          </a:prstGeom>
          <a:ln w="22225">
            <a:solidFill>
              <a:srgbClr val="44444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27432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key-vault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5760" y="6556248"/>
            <a:ext cx="347472" cy="34747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77240" y="6519672"/>
            <a:ext cx="8229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Key Vault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1168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entr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3120" y="6556248"/>
            <a:ext cx="347472" cy="34747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2514600" y="6519672"/>
            <a:ext cx="8229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Entra Identity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8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monito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31920" y="6556248"/>
            <a:ext cx="347472" cy="3474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4343400" y="6519672"/>
            <a:ext cx="8229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Azure Monitor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79008" y="6519672"/>
            <a:ext cx="1216152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Log Analytics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40664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516368" y="6519672"/>
            <a:ext cx="1216152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GitLab CI/CD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14400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53728" y="6519672"/>
            <a:ext cx="1216152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Artifacts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698480" y="6446520"/>
            <a:ext cx="1417320" cy="32004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 w="15875">
            <a:solidFill>
              <a:srgbClr val="999999"/>
            </a:solidFill>
          </a:ln>
          <a:effectLst>
            <a:outerShdw blurRad="50800" dist="38100" dir="2700000" algn="t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808208" y="6519672"/>
            <a:ext cx="1216152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22222"/>
                </a:solidFill>
                <a:latin typeface="Calibri"/>
              </a:rPr>
              <a:t>Private 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2A44"/>
                </a:solidFill>
                <a:latin typeface="Calibri"/>
              </a:rPr>
              <a:t>How to use / edit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Calibri"/>
              </a:rPr>
              <a:t>Slide 1 — Presentation board: high-fidelity architecture image for customer reviews.</a:t>
            </a:r>
          </a:p>
          <a:p>
            <a:r>
              <a:rPr sz="1500" b="1">
                <a:solidFill>
                  <a:srgbClr val="222222"/>
                </a:solidFill>
                <a:latin typeface="Calibri"/>
              </a:rPr>
              <a:t>Slide 2 — Editable map: native PowerPoint shapes + Azure icons (drag, recolor, rename).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>Icons source: Microsoft Azure Architecture Center official SVG pack (when downloaded into docs/diagrams/icons).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/>
            </a:r>
          </a:p>
          <a:p>
            <a:r>
              <a:rPr sz="1500" b="1">
                <a:solidFill>
                  <a:srgbClr val="222222"/>
                </a:solidFill>
                <a:latin typeface="Calibri"/>
              </a:rPr>
              <a:t>Sell as backend-only: customers bring UI; they integrate via App Gateway / APIM.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>CAT 3 = MTS namespaces (API · Orchestrator · Workers).  CAT 1 = AI Hub via APIM.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>Data plane: Service Bus · Blob · Postgres · Redis · AI Search with CMK.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/>
            </a:r>
          </a:p>
          <a:p>
            <a:r>
              <a:rPr sz="1500" b="1">
                <a:solidFill>
                  <a:srgbClr val="222222"/>
                </a:solidFill>
                <a:latin typeface="Calibri"/>
              </a:rPr>
              <a:t>Also editable in diagrams.net: Multilingual-Translation-Studio-Backend-Architecture.drawio</a:t>
            </a:r>
          </a:p>
          <a:p>
            <a:r>
              <a:rPr sz="1500" b="0">
                <a:solidFill>
                  <a:srgbClr val="222222"/>
                </a:solidFill>
                <a:latin typeface="Calibri"/>
              </a:rPr>
              <a:t>Regenerate: backend\.venv\Scripts\python.exe scripts\generate_backend_architecture_pptx.py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