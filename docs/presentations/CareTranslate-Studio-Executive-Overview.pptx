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1dd17506c84afa" /><Relationship Type="http://schemas.openxmlformats.org/officeDocument/2006/relationships/extended-properties" Target="/docProps/app.xml" Id="R5d6b42754e974ba8" /><Relationship Type="http://schemas.openxmlformats.org/officeDocument/2006/relationships/officeDocument" Target="/ppt/presentation.xml" Id="R8261ceda5da048f8" /></Relationships>
</file>

<file path=ppt/presentation.xml><?xml version="1.0" encoding="utf-8"?>
<p:presentation xmlns:p="http://schemas.openxmlformats.org/presentationml/2006/main">
  <p:sldMasterIdLst>
    <p:sldMasterId xmlns:r="http://schemas.openxmlformats.org/officeDocument/2006/relationships" id="2147483648" r:id="Rdd93ba6d5e7042cc"/>
  </p:sldMasterIdLst>
  <p:notesMasterIdLst>
    <p:notesMasterId xmlns:r="http://schemas.openxmlformats.org/officeDocument/2006/relationships" r:id="R4a1c38355509473c"/>
  </p:notesMasterIdLst>
  <p:sldIdLst>
    <p:sldId xmlns:r="http://schemas.openxmlformats.org/officeDocument/2006/relationships" id="256" r:id="Re120c43537bc4f8a"/>
    <p:sldId xmlns:r="http://schemas.openxmlformats.org/officeDocument/2006/relationships" id="257" r:id="R2448b2e8347e4c49"/>
    <p:sldId xmlns:r="http://schemas.openxmlformats.org/officeDocument/2006/relationships" id="258" r:id="R1949be3a4f504abb"/>
    <p:sldId xmlns:r="http://schemas.openxmlformats.org/officeDocument/2006/relationships" id="259" r:id="Rc67b7cb882374f54"/>
    <p:sldId xmlns:r="http://schemas.openxmlformats.org/officeDocument/2006/relationships" id="260" r:id="R663dd3c6f7364b73"/>
    <p:sldId xmlns:r="http://schemas.openxmlformats.org/officeDocument/2006/relationships" id="261" r:id="Rf5c71961af9f4576"/>
    <p:sldId xmlns:r="http://schemas.openxmlformats.org/officeDocument/2006/relationships" id="262" r:id="R0bd2d6e130154b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f1cfe21e054d87" /><Relationship Type="http://schemas.openxmlformats.org/officeDocument/2006/relationships/slideMaster" Target="/ppt/slideMasters/slideMaster1.xml" Id="Rdd93ba6d5e7042cc" /><Relationship Type="http://schemas.openxmlformats.org/officeDocument/2006/relationships/notesMaster" Target="/ppt/notesMasters/notesMaster1.xml" Id="R4a1c38355509473c" /><Relationship Type="http://schemas.openxmlformats.org/officeDocument/2006/relationships/presProps" Target="/ppt/presProps.xml" Id="R2e4050dcc2cd4aa5" /><Relationship Type="http://schemas.openxmlformats.org/officeDocument/2006/relationships/tableStyles" Target="/ppt/tableStyles.xml" Id="R2727faa2a5e842a2" /><Relationship Type="http://schemas.openxmlformats.org/officeDocument/2006/relationships/slide" Target="/ppt/slides/slide1.xml" Id="Re120c43537bc4f8a" /><Relationship Type="http://schemas.openxmlformats.org/officeDocument/2006/relationships/slide" Target="/ppt/slides/slide2.xml" Id="R2448b2e8347e4c49" /><Relationship Type="http://schemas.openxmlformats.org/officeDocument/2006/relationships/slide" Target="/ppt/slides/slide3.xml" Id="R1949be3a4f504abb" /><Relationship Type="http://schemas.openxmlformats.org/officeDocument/2006/relationships/slide" Target="/ppt/slides/slide4.xml" Id="Rc67b7cb882374f54" /><Relationship Type="http://schemas.openxmlformats.org/officeDocument/2006/relationships/slide" Target="/ppt/slides/slide5.xml" Id="R663dd3c6f7364b73" /><Relationship Type="http://schemas.openxmlformats.org/officeDocument/2006/relationships/slide" Target="/ppt/slides/slide6.xml" Id="Rf5c71961af9f4576" /><Relationship Type="http://schemas.openxmlformats.org/officeDocument/2006/relationships/slide" Target="/ppt/slides/slide7.xml" Id="R0bd2d6e130154b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02d68566e749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906c72dd4a49cd" /><Relationship Type="http://schemas.openxmlformats.org/officeDocument/2006/relationships/notesMaster" Target="/ppt/notesMasters/notesMaster1.xml" Id="R6be13de2c4a749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b6f3e5a87948b8" /><Relationship Type="http://schemas.openxmlformats.org/officeDocument/2006/relationships/notesMaster" Target="/ppt/notesMasters/notesMaster1.xml" Id="Rb128bfb6ea694a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d6e31c911e4a8c" /><Relationship Type="http://schemas.openxmlformats.org/officeDocument/2006/relationships/notesMaster" Target="/ppt/notesMasters/notesMaster1.xml" Id="Rfe6c7a4397d34e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2709abfbb144f2" /><Relationship Type="http://schemas.openxmlformats.org/officeDocument/2006/relationships/notesMaster" Target="/ppt/notesMasters/notesMaster1.xml" Id="R9dfb5e2c43fb4d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ab8e71037840a3" /><Relationship Type="http://schemas.openxmlformats.org/officeDocument/2006/relationships/notesMaster" Target="/ppt/notesMasters/notesMaster1.xml" Id="Ra6e85d0d105942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f8b6ca947943f0" /><Relationship Type="http://schemas.openxmlformats.org/officeDocument/2006/relationships/notesMaster" Target="/ppt/notesMasters/notesMaster1.xml" Id="R67410374cd5346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0eab028f7b483a" /><Relationship Type="http://schemas.openxmlformats.org/officeDocument/2006/relationships/notesMaster" Target="/ppt/notesMasters/notesMaster1.xml" Id="R1d8ae27bf51948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outcome: the team already has a runnable review studio and a documented path to production. Emphasize that the POC and production target are intentionally separated throughout the deck.</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./docs/PRD.md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product in one sentence: a studio that keeps source page, translation and structured output synchronized. This is the core manager-level value proposition.</a:t>
            </a:r>
          </a:p>
          <a:p xmlns:a="http://schemas.openxmlformats.org/drawingml/2006/main">
            <a:r>
              <a:t/>
            </a:r>
          </a:p>
          <a:p xmlns:a="http://schemas.openxmlformats.org/drawingml/2006/main">
            <a:r>
              <a:t>[Sources]</a:t>
            </a:r>
          </a:p>
          <a:p xmlns:a="http://schemas.openxmlformats.org/drawingml/2006/main">
            <a:r>
              <a:t>- ./docs/PRD.md</a:t>
            </a:r>
          </a:p>
          <a:p xmlns:a="http://schemas.openxmlformats.org/drawingml/2006/main">
            <a:r>
              <a:t>-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screenshot to ground the conversation in working software. Call out that the POC is not production-approved for confidential records; its security boundary is synthetic or explicitly approved de-identified data.</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./docs/PRD.md</a:t>
            </a:r>
          </a:p>
          <a:p xmlns:a="http://schemas.openxmlformats.org/drawingml/2006/main">
            <a:r>
              <a:t>- ./docs/DATA-SECURITY.md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eight stages. The key production addition is stage four: the Data Security Gateway makes a default-deny processing decision before any Azure OpenAI request. Low-confidence or prohibited jobs use a non-LLM, local or manual route.</a:t>
            </a:r>
          </a:p>
          <a:p xmlns:a="http://schemas.openxmlformats.org/drawingml/2006/main">
            <a:r>
              <a:t/>
            </a:r>
          </a:p>
          <a:p xmlns:a="http://schemas.openxmlformats.org/drawingml/2006/main">
            <a:r>
              <a:t>[Sources]</a:t>
            </a:r>
          </a:p>
          <a:p xmlns:a="http://schemas.openxmlformats.org/drawingml/2006/main">
            <a:r>
              <a:t>- ./docs/ARCHITECTURE.md</a:t>
            </a:r>
          </a:p>
          <a:p xmlns:a="http://schemas.openxmlformats.org/drawingml/2006/main">
            <a:r>
              <a:t>- ./docs/DATA-SECURITY.md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distinction explicit: managed-service processing and generative-LLM processing are different boundaries. Document Intelligence needs the full document to extract it, but it does not automatically call Azure OpenAI. Azure OpenAI processes only the prompt content the application sends. Microsoft states prompts and outputs are not used to train foundation models without permission; abuse-monitoring configuration must still be verified for the approved deployment.</a:t>
            </a:r>
          </a:p>
          <a:p xmlns:a="http://schemas.openxmlformats.org/drawingml/2006/main">
            <a:r>
              <a:t/>
            </a:r>
          </a:p>
          <a:p xmlns:a="http://schemas.openxmlformats.org/drawingml/2006/main">
            <a:r>
              <a:t>[Sources]</a:t>
            </a:r>
          </a:p>
          <a:p xmlns:a="http://schemas.openxmlformats.org/drawingml/2006/main">
            <a:r>
              <a:t>- https://learn.microsoft.com/en-us/azure/foundry/responsible-ai/document-intelligence/data-privacy-security</a:t>
            </a:r>
          </a:p>
          <a:p xmlns:a="http://schemas.openxmlformats.org/drawingml/2006/main">
            <a:r>
              <a:t>- https://learn.microsoft.com/en-us/azure/foundry/responsible-ai/openai/data-privacy</a:t>
            </a:r>
          </a:p>
          <a:p xmlns:a="http://schemas.openxmlformats.org/drawingml/2006/main">
            <a:r>
              <a:t>- https://learn.microsoft.com/en-us/azure/foundry/openai/concepts/abuse-monitoring</a:t>
            </a:r>
          </a:p>
          <a:p xmlns:a="http://schemas.openxmlformats.org/drawingml/2006/main">
            <a:r>
              <a:t>- ./docs/DATA-SECURITY.md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defense in depth by boundary rather than by service list. Entra ID and the edge protect entry; Container Apps and Service Bus create a durable private processing plane; Document Intelligence, the policy gateway and Azure OpenAI have explicit data contracts; storage, keys, monitoring, retention and deletion create evidence. The five immutable processing profiles prevent a retry or failure from silently changing the approved route.</a:t>
            </a:r>
          </a:p>
          <a:p xmlns:a="http://schemas.openxmlformats.org/drawingml/2006/main">
            <a:r>
              <a:t/>
            </a:r>
          </a:p>
          <a:p xmlns:a="http://schemas.openxmlformats.org/drawingml/2006/main">
            <a:r>
              <a:t>[Sources]</a:t>
            </a:r>
          </a:p>
          <a:p xmlns:a="http://schemas.openxmlformats.org/drawingml/2006/main">
            <a:r>
              <a:t>- ./docs/ARCHITECTURE.md</a:t>
            </a:r>
          </a:p>
          <a:p xmlns:a="http://schemas.openxmlformats.org/drawingml/2006/main">
            <a:r>
              <a:t>- ./docs/DATA-SECURITY.md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concrete decision. The recommended next step is not to process real confidential records immediately; it is to authorize Gate 1 and translate the documented security plan into owned, testable implementation work. Gates 2–5 then provide controlled expansion.</a:t>
            </a:r>
          </a:p>
          <a:p xmlns:a="http://schemas.openxmlformats.org/drawingml/2006/main">
            <a:r>
              <a:t/>
            </a:r>
          </a:p>
          <a:p xmlns:a="http://schemas.openxmlformats.org/drawingml/2006/main">
            <a:r>
              <a:t>[Sources]</a:t>
            </a:r>
          </a:p>
          <a:p xmlns:a="http://schemas.openxmlformats.org/drawingml/2006/main">
            <a:r>
              <a:t>- ./docs/DATA-SECURITY.md</a:t>
            </a:r>
          </a:p>
          <a:p xmlns:a="http://schemas.openxmlformats.org/drawingml/2006/main">
            <a:r>
              <a:t>- ./docs/PRD.md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143a7fcfe347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0bc215323d49b2" /><Relationship Type="http://schemas.openxmlformats.org/officeDocument/2006/relationships/slideLayout" Target="/ppt/slideLayouts/slideLayout1.xml" Id="R8a1453e1934749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1453e1934749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07a556f5554327" /><Relationship Type="http://schemas.openxmlformats.org/officeDocument/2006/relationships/image" Target="/ppt/media/image.png" Id="R54a27b82aad64cd7" /><Relationship Type="http://schemas.openxmlformats.org/officeDocument/2006/relationships/image" Target="/ppt/media/image2.png" Id="R396f75a301dc43af" /><Relationship Type="http://schemas.openxmlformats.org/officeDocument/2006/relationships/image" Target="/ppt/media/image.svg" Id="R7563587fb63642f1" /><Relationship Type="http://schemas.openxmlformats.org/officeDocument/2006/relationships/image" Target="/ppt/media/image3.png" Id="R6a3899b46e1b4533" /><Relationship Type="http://schemas.openxmlformats.org/officeDocument/2006/relationships/image" Target="/ppt/media/image2.svg" Id="R024b661d73384fd3" /><Relationship Type="http://schemas.openxmlformats.org/officeDocument/2006/relationships/image" Target="/ppt/media/image4.png" Id="R41c87b5587fa4dd2" /><Relationship Type="http://schemas.openxmlformats.org/officeDocument/2006/relationships/image" Target="/ppt/media/image3.svg" Id="Rd95c86999cd44c79" /><Relationship Type="http://schemas.openxmlformats.org/officeDocument/2006/relationships/notesSlide" Target="/ppt/notesSlides/notesSlide1.xml" Id="Rb4978694c40e48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83da3933314729" /><Relationship Type="http://schemas.openxmlformats.org/officeDocument/2006/relationships/image" Target="/ppt/media/image5.png" Id="R581b39d367db463c" /><Relationship Type="http://schemas.openxmlformats.org/officeDocument/2006/relationships/image" Target="/ppt/media/image4.svg" Id="R342b808c9eba4409" /><Relationship Type="http://schemas.openxmlformats.org/officeDocument/2006/relationships/image" Target="/ppt/media/image6.png" Id="R72f6b7dd051241b6" /><Relationship Type="http://schemas.openxmlformats.org/officeDocument/2006/relationships/image" Target="/ppt/media/image5.svg" Id="R5c360e48877d43e1" /><Relationship Type="http://schemas.openxmlformats.org/officeDocument/2006/relationships/image" Target="/ppt/media/image7.png" Id="R16922b1a4c214994" /><Relationship Type="http://schemas.openxmlformats.org/officeDocument/2006/relationships/image" Target="/ppt/media/image6.svg" Id="Rb2f188fd52ed4554" /><Relationship Type="http://schemas.openxmlformats.org/officeDocument/2006/relationships/image" Target="/ppt/media/image8.png" Id="Reeb6dcca3aa64f17" /><Relationship Type="http://schemas.openxmlformats.org/officeDocument/2006/relationships/image" Target="/ppt/media/image7.svg" Id="Rabfdfefd5a254d3a" /><Relationship Type="http://schemas.openxmlformats.org/officeDocument/2006/relationships/image" Target="/ppt/media/image9.png" Id="Red642e8fd075468b" /><Relationship Type="http://schemas.openxmlformats.org/officeDocument/2006/relationships/image" Target="/ppt/media/image8.svg" Id="R536022af9c5e475e" /><Relationship Type="http://schemas.openxmlformats.org/officeDocument/2006/relationships/image" Target="/ppt/media/image10.png" Id="R71d3d52f50724776" /><Relationship Type="http://schemas.openxmlformats.org/officeDocument/2006/relationships/image" Target="/ppt/media/image9.svg" Id="R86ec8c78ceff4489" /><Relationship Type="http://schemas.openxmlformats.org/officeDocument/2006/relationships/image" Target="/ppt/media/image11.png" Id="R92a28f11999d44f8" /><Relationship Type="http://schemas.openxmlformats.org/officeDocument/2006/relationships/image" Target="/ppt/media/image10.svg" Id="R1cad3655bf024ca5" /><Relationship Type="http://schemas.openxmlformats.org/officeDocument/2006/relationships/image" Target="/ppt/media/image12.png" Id="R0edaedbc77c543e2" /><Relationship Type="http://schemas.openxmlformats.org/officeDocument/2006/relationships/image" Target="/ppt/media/image11.svg" Id="R9dac4390f61046a2" /><Relationship Type="http://schemas.openxmlformats.org/officeDocument/2006/relationships/image" Target="/ppt/media/image13.png" Id="R733e9bcf21e7474c" /><Relationship Type="http://schemas.openxmlformats.org/officeDocument/2006/relationships/image" Target="/ppt/media/image12.svg" Id="R37a8a34b2fd4469f" /><Relationship Type="http://schemas.openxmlformats.org/officeDocument/2006/relationships/notesSlide" Target="/ppt/notesSlides/notesSlide2.xml" Id="Rc109fd079d134b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4350fa561c49c8" /><Relationship Type="http://schemas.openxmlformats.org/officeDocument/2006/relationships/image" Target="/ppt/media/image14.png" Id="R8dd14dfc1a4d49a9" /><Relationship Type="http://schemas.openxmlformats.org/officeDocument/2006/relationships/image" Target="/ppt/media/image15.png" Id="R910b8c7a1e4d44c7" /><Relationship Type="http://schemas.openxmlformats.org/officeDocument/2006/relationships/image" Target="/ppt/media/image13.svg" Id="R1edab1bd65bc4deb" /><Relationship Type="http://schemas.openxmlformats.org/officeDocument/2006/relationships/image" Target="/ppt/media/image16.png" Id="R4739fe0639f6491b" /><Relationship Type="http://schemas.openxmlformats.org/officeDocument/2006/relationships/image" Target="/ppt/media/image14.svg" Id="R4090008e3dd04783" /><Relationship Type="http://schemas.openxmlformats.org/officeDocument/2006/relationships/image" Target="/ppt/media/image17.png" Id="R9279fbfe822041b7" /><Relationship Type="http://schemas.openxmlformats.org/officeDocument/2006/relationships/image" Target="/ppt/media/image15.svg" Id="Re39ce292414d4798" /><Relationship Type="http://schemas.openxmlformats.org/officeDocument/2006/relationships/image" Target="/ppt/media/image18.png" Id="Rc38d3cd8250748c2" /><Relationship Type="http://schemas.openxmlformats.org/officeDocument/2006/relationships/image" Target="/ppt/media/image16.svg" Id="R6d4a1e4923f54159" /><Relationship Type="http://schemas.openxmlformats.org/officeDocument/2006/relationships/image" Target="/ppt/media/image19.png" Id="Rf333a0273b7d460e" /><Relationship Type="http://schemas.openxmlformats.org/officeDocument/2006/relationships/image" Target="/ppt/media/image17.svg" Id="R78f48b4c9c6b456b" /><Relationship Type="http://schemas.openxmlformats.org/officeDocument/2006/relationships/notesSlide" Target="/ppt/notesSlides/notesSlide3.xml" Id="R886163db4d3245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0aa6a936bf42e5" /><Relationship Type="http://schemas.openxmlformats.org/officeDocument/2006/relationships/image" Target="/ppt/media/image20.png" Id="Rff48f7724e744461" /><Relationship Type="http://schemas.openxmlformats.org/officeDocument/2006/relationships/image" Target="/ppt/media/image18.svg" Id="Rf0e97c80f7f245f5" /><Relationship Type="http://schemas.openxmlformats.org/officeDocument/2006/relationships/image" Target="/ppt/media/image21.png" Id="Rdd24029f0c2a4888" /><Relationship Type="http://schemas.openxmlformats.org/officeDocument/2006/relationships/image" Target="/ppt/media/image19.svg" Id="Rd8540ce9f1554468" /><Relationship Type="http://schemas.openxmlformats.org/officeDocument/2006/relationships/image" Target="/ppt/media/image22.png" Id="R0d7c261bed8b44d6" /><Relationship Type="http://schemas.openxmlformats.org/officeDocument/2006/relationships/image" Target="/ppt/media/image20.svg" Id="R592ceeb80fa0480a" /><Relationship Type="http://schemas.openxmlformats.org/officeDocument/2006/relationships/image" Target="/ppt/media/image23.png" Id="R2486f64409db40de" /><Relationship Type="http://schemas.openxmlformats.org/officeDocument/2006/relationships/image" Target="/ppt/media/image21.svg" Id="R05cd67dca02b45bb" /><Relationship Type="http://schemas.openxmlformats.org/officeDocument/2006/relationships/image" Target="/ppt/media/image24.png" Id="R42f47e868257423a" /><Relationship Type="http://schemas.openxmlformats.org/officeDocument/2006/relationships/image" Target="/ppt/media/image22.svg" Id="R6f2e8c79b3d14cc9" /><Relationship Type="http://schemas.openxmlformats.org/officeDocument/2006/relationships/image" Target="/ppt/media/image25.png" Id="R0157cc5243584334" /><Relationship Type="http://schemas.openxmlformats.org/officeDocument/2006/relationships/image" Target="/ppt/media/image23.svg" Id="Rfde4328a508d4e42" /><Relationship Type="http://schemas.openxmlformats.org/officeDocument/2006/relationships/image" Target="/ppt/media/image26.png" Id="Rc70a77162ec34523" /><Relationship Type="http://schemas.openxmlformats.org/officeDocument/2006/relationships/image" Target="/ppt/media/image24.svg" Id="Rd41fd4e1f77144b4" /><Relationship Type="http://schemas.openxmlformats.org/officeDocument/2006/relationships/image" Target="/ppt/media/image27.png" Id="R31aaa4ec68504ecd" /><Relationship Type="http://schemas.openxmlformats.org/officeDocument/2006/relationships/image" Target="/ppt/media/image25.svg" Id="Ree572d61d20e4cdf" /><Relationship Type="http://schemas.openxmlformats.org/officeDocument/2006/relationships/image" Target="/ppt/media/image28.png" Id="R6f0b3cb928d7435d" /><Relationship Type="http://schemas.openxmlformats.org/officeDocument/2006/relationships/image" Target="/ppt/media/image26.svg" Id="R91da6516e8304875" /><Relationship Type="http://schemas.openxmlformats.org/officeDocument/2006/relationships/notesSlide" Target="/ppt/notesSlides/notesSlide4.xml" Id="Re612f38c648349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c013b3e03d4b98" /><Relationship Type="http://schemas.openxmlformats.org/officeDocument/2006/relationships/image" Target="/ppt/media/image29.png" Id="R06512ffd46154ff2" /><Relationship Type="http://schemas.openxmlformats.org/officeDocument/2006/relationships/image" Target="/ppt/media/image27.svg" Id="R672c3cce61cb438d" /><Relationship Type="http://schemas.openxmlformats.org/officeDocument/2006/relationships/image" Target="/ppt/media/image30.png" Id="R4e36c51f06d04e23" /><Relationship Type="http://schemas.openxmlformats.org/officeDocument/2006/relationships/image" Target="/ppt/media/image28.svg" Id="Re5782dab943d4a32" /><Relationship Type="http://schemas.openxmlformats.org/officeDocument/2006/relationships/image" Target="/ppt/media/image31.png" Id="R892aa6e6e30249b6" /><Relationship Type="http://schemas.openxmlformats.org/officeDocument/2006/relationships/image" Target="/ppt/media/image29.svg" Id="R9e786c8af3de4654" /><Relationship Type="http://schemas.openxmlformats.org/officeDocument/2006/relationships/image" Target="/ppt/media/image32.png" Id="Raea40ec272bf4947" /><Relationship Type="http://schemas.openxmlformats.org/officeDocument/2006/relationships/image" Target="/ppt/media/image30.svg" Id="Re9b952c984ff4ac2" /><Relationship Type="http://schemas.openxmlformats.org/officeDocument/2006/relationships/image" Target="/ppt/media/image33.png" Id="R1875226124574d55" /><Relationship Type="http://schemas.openxmlformats.org/officeDocument/2006/relationships/image" Target="/ppt/media/image31.svg" Id="R1416b433f51f499f" /><Relationship Type="http://schemas.openxmlformats.org/officeDocument/2006/relationships/image" Target="/ppt/media/image34.png" Id="R6a4e59824ebc4e2d" /><Relationship Type="http://schemas.openxmlformats.org/officeDocument/2006/relationships/image" Target="/ppt/media/image32.svg" Id="R938b8d09e13e48a7" /><Relationship Type="http://schemas.openxmlformats.org/officeDocument/2006/relationships/image" Target="/ppt/media/image35.png" Id="R3754425332244f8e" /><Relationship Type="http://schemas.openxmlformats.org/officeDocument/2006/relationships/image" Target="/ppt/media/image33.svg" Id="Rbf77bc79f88d428a" /><Relationship Type="http://schemas.openxmlformats.org/officeDocument/2006/relationships/notesSlide" Target="/ppt/notesSlides/notesSlide5.xml" Id="Rc1e965fd7b9542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38ec987ce044ba2" /><Relationship Type="http://schemas.openxmlformats.org/officeDocument/2006/relationships/image" Target="/ppt/media/image36.png" Id="Rb7dac3cfa64f4e96" /><Relationship Type="http://schemas.openxmlformats.org/officeDocument/2006/relationships/image" Target="/ppt/media/image34.svg" Id="Rc85d7a71896e4539" /><Relationship Type="http://schemas.openxmlformats.org/officeDocument/2006/relationships/image" Target="/ppt/media/image37.png" Id="R2fe6f65c6d9a48ba" /><Relationship Type="http://schemas.openxmlformats.org/officeDocument/2006/relationships/image" Target="/ppt/media/image35.svg" Id="R9071b6d21c014c24" /><Relationship Type="http://schemas.openxmlformats.org/officeDocument/2006/relationships/image" Target="/ppt/media/image38.png" Id="Rcb01f00c45c3475c" /><Relationship Type="http://schemas.openxmlformats.org/officeDocument/2006/relationships/image" Target="/ppt/media/image36.svg" Id="Rca26f7c071fc4205" /><Relationship Type="http://schemas.openxmlformats.org/officeDocument/2006/relationships/image" Target="/ppt/media/image39.png" Id="R41429de830e441fd" /><Relationship Type="http://schemas.openxmlformats.org/officeDocument/2006/relationships/image" Target="/ppt/media/image37.svg" Id="R51857728e6114231" /><Relationship Type="http://schemas.openxmlformats.org/officeDocument/2006/relationships/image" Target="/ppt/media/image40.png" Id="R4aaf14dbbcd84da0" /><Relationship Type="http://schemas.openxmlformats.org/officeDocument/2006/relationships/image" Target="/ppt/media/image38.svg" Id="R1b8111609f3749c3" /><Relationship Type="http://schemas.openxmlformats.org/officeDocument/2006/relationships/image" Target="/ppt/media/image41.png" Id="R4cc984b81fe540eb" /><Relationship Type="http://schemas.openxmlformats.org/officeDocument/2006/relationships/image" Target="/ppt/media/image39.svg" Id="Rb6aec71b1bd244d9" /><Relationship Type="http://schemas.openxmlformats.org/officeDocument/2006/relationships/image" Target="/ppt/media/image42.png" Id="Re8375acf0e6f42dd" /><Relationship Type="http://schemas.openxmlformats.org/officeDocument/2006/relationships/image" Target="/ppt/media/image40.svg" Id="R04ce9df508024c5e" /><Relationship Type="http://schemas.openxmlformats.org/officeDocument/2006/relationships/image" Target="/ppt/media/image43.png" Id="R7c230ae2af604d2f" /><Relationship Type="http://schemas.openxmlformats.org/officeDocument/2006/relationships/image" Target="/ppt/media/image41.svg" Id="R2693e00a614148b6" /><Relationship Type="http://schemas.openxmlformats.org/officeDocument/2006/relationships/image" Target="/ppt/media/image44.png" Id="R82e169db51d54f98" /><Relationship Type="http://schemas.openxmlformats.org/officeDocument/2006/relationships/image" Target="/ppt/media/image42.svg" Id="R3936c296f10f4186" /><Relationship Type="http://schemas.openxmlformats.org/officeDocument/2006/relationships/image" Target="/ppt/media/image45.png" Id="Rfb39e7bcd376439c" /><Relationship Type="http://schemas.openxmlformats.org/officeDocument/2006/relationships/image" Target="/ppt/media/image43.svg" Id="R4b41bbd264c04805" /><Relationship Type="http://schemas.openxmlformats.org/officeDocument/2006/relationships/notesSlide" Target="/ppt/notesSlides/notesSlide6.xml" Id="R4e7a4e89384d4f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68688c71b64bf9" /><Relationship Type="http://schemas.openxmlformats.org/officeDocument/2006/relationships/image" Target="/ppt/media/image46.png" Id="R06f15012a5064885" /><Relationship Type="http://schemas.openxmlformats.org/officeDocument/2006/relationships/image" Target="/ppt/media/image44.svg" Id="R2cb9af273ce74390" /><Relationship Type="http://schemas.openxmlformats.org/officeDocument/2006/relationships/image" Target="/ppt/media/image47.png" Id="R2c67e025dbe343ae" /><Relationship Type="http://schemas.openxmlformats.org/officeDocument/2006/relationships/image" Target="/ppt/media/image45.svg" Id="R8623149b5f274941" /><Relationship Type="http://schemas.openxmlformats.org/officeDocument/2006/relationships/image" Target="/ppt/media/image48.png" Id="R9f36621228744825" /><Relationship Type="http://schemas.openxmlformats.org/officeDocument/2006/relationships/image" Target="/ppt/media/image46.svg" Id="R31fa75dbcd7c4da5" /><Relationship Type="http://schemas.openxmlformats.org/officeDocument/2006/relationships/image" Target="/ppt/media/image49.png" Id="Rd51a33176eb54e59" /><Relationship Type="http://schemas.openxmlformats.org/officeDocument/2006/relationships/image" Target="/ppt/media/image47.svg" Id="R1a99c11f4bf24c95" /><Relationship Type="http://schemas.openxmlformats.org/officeDocument/2006/relationships/image" Target="/ppt/media/image50.png" Id="Rfa4cb1d229824f00" /><Relationship Type="http://schemas.openxmlformats.org/officeDocument/2006/relationships/image" Target="/ppt/media/image48.svg" Id="R678b7e364ea34fde" /><Relationship Type="http://schemas.openxmlformats.org/officeDocument/2006/relationships/notesSlide" Target="/ppt/notesSlides/notesSlide7.xml" Id="R1f3a6b809f904606" /></Relationships>
</file>

<file path=ppt/slides/slide1.xml><?xml version="1.0" encoding="utf-8"?>
<p:sld xmlns:p="http://schemas.openxmlformats.org/presentationml/2006/main">
  <p:cSld>
    <p:bg>
      <p:bgPr>
        <a:solidFill xmlns:a="http://schemas.openxmlformats.org/drawingml/2006/main">
          <a:srgbClr val="071A3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FBFD1AD-F983-49BF-A6D4-7F3FAB9841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A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ED41201-966B-4F1E-8BE0-9229ED4CA86A}"/>
              </a:ext>
            </a:extLst>
          </p:cNvPr>
          <p:cNvSpPr>
            <a:spLocks xmlns:a="http://schemas.openxmlformats.org/drawingml/2006/main" noGrp="1"/>
          </p:cNvSpPr>
          <p:nvPr/>
        </p:nvSpPr>
        <p:spPr>
          <a:xfrm xmlns:a="http://schemas.openxmlformats.org/drawingml/2006/main">
            <a:off x="8858250" y="0"/>
            <a:ext cx="3333750" cy="3333750"/>
          </a:xfrm>
          <a:prstGeom xmlns:a="http://schemas.openxmlformats.org/drawingml/2006/main" prst="roundRect">
            <a:avLst>
              <a:gd name="adj" fmla="val 50000"/>
            </a:avLst>
          </a:prstGeom>
          <a:solidFill xmlns:a="http://schemas.openxmlformats.org/drawingml/2006/main">
            <a:srgbClr val="123E7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032F60-6F7B-4CDA-9046-6216F955FE64}"/>
              </a:ext>
            </a:extLst>
          </p:cNvPr>
          <p:cNvSpPr>
            <a:spLocks xmlns:a="http://schemas.openxmlformats.org/drawingml/2006/main" noGrp="1"/>
          </p:cNvSpPr>
          <p:nvPr/>
        </p:nvSpPr>
        <p:spPr>
          <a:xfrm xmlns:a="http://schemas.openxmlformats.org/drawingml/2006/main">
            <a:off x="9715500" y="4381500"/>
            <a:ext cx="2476500" cy="2476500"/>
          </a:xfrm>
          <a:prstGeom xmlns:a="http://schemas.openxmlformats.org/drawingml/2006/main" prst="roundRect">
            <a:avLst>
              <a:gd name="adj" fmla="val 50000"/>
            </a:avLst>
          </a:prstGeom>
          <a:solidFill xmlns:a="http://schemas.openxmlformats.org/drawingml/2006/main">
            <a:srgbClr val="0E6B7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B833213-60FB-45AE-BC61-992B2053152B}"/>
              </a:ext>
            </a:extLst>
          </p:cNvPr>
          <p:cNvSpPr>
            <a:spLocks xmlns:a="http://schemas.openxmlformats.org/drawingml/2006/main" noGrp="1"/>
          </p:cNvSpPr>
          <p:nvPr/>
        </p:nvSpPr>
        <p:spPr>
          <a:xfrm xmlns:a="http://schemas.openxmlformats.org/drawingml/2006/main">
            <a:off x="7315200" y="1095375"/>
            <a:ext cx="4267200" cy="4000500"/>
          </a:xfrm>
          <a:prstGeom xmlns:a="http://schemas.openxmlformats.org/drawingml/2006/main" prst="roundRect">
            <a:avLst>
              <a:gd name="adj" fmla="val 6190"/>
            </a:avLst>
          </a:prstGeom>
          <a:solidFill xmlns:a="http://schemas.openxmlformats.org/drawingml/2006/main">
            <a:srgbClr val="FFFFFF"/>
          </a:solidFill>
          <a:ln xmlns:a="http://schemas.openxmlformats.org/drawingml/2006/main" w="9525">
            <a:solidFill>
              <a:srgbClr val="2A4F7E"/>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4a27b82aad64cd7"/>
          <a:srcRect xmlns:a="http://schemas.openxmlformats.org/drawingml/2006/main" l="16471" t="0" r="16471" b="0"/>
          <a:stretch xmlns:a="http://schemas.openxmlformats.org/drawingml/2006/main">
            <a:fillRect l="0" t="0" r="0" b="0"/>
          </a:stretch>
        </p:blipFill>
        <p:spPr>
          <a:xfrm xmlns:a="http://schemas.openxmlformats.org/drawingml/2006/main">
            <a:off x="7486650" y="1266825"/>
            <a:ext cx="3924300" cy="3657600"/>
          </a:xfrm>
          <a:prstGeom xmlns:a="http://schemas.openxmlformats.org/drawingml/2006/main" prst="roundRect">
            <a:avLst>
              <a:gd name="adj" fmla="val 4688"/>
            </a:avLst>
          </a:prstGeom>
        </p:spPr>
      </p:pic>
      <p:sp>
        <p:nvSpPr>
          <p:cNvPr id="6" name="">
            <a:extLst xmlns:a="http://schemas.openxmlformats.org/drawingml/2006/main">
              <a:ext uri="{FF2B5EF4-FFF2-40B4-BE49-F238E27FC236}">
                <a16:creationId xmlns:a16="http://schemas.microsoft.com/office/drawing/2014/main" id="{CE3664CA-2E49-4014-BF2F-691577B7FADF}"/>
              </a:ext>
            </a:extLst>
          </p:cNvPr>
          <p:cNvSpPr>
            <a:spLocks xmlns:a="http://schemas.openxmlformats.org/drawingml/2006/main" noGrp="1"/>
          </p:cNvSpPr>
          <p:nvPr/>
        </p:nvSpPr>
        <p:spPr>
          <a:xfrm xmlns:a="http://schemas.openxmlformats.org/drawingml/2006/main">
            <a:off x="552450" y="552450"/>
            <a:ext cx="2381250" cy="285750"/>
          </a:xfrm>
          <a:prstGeom xmlns:a="http://schemas.openxmlformats.org/drawingml/2006/main" prst="roundRect">
            <a:avLst>
              <a:gd name="adj" fmla="val 50000"/>
            </a:avLst>
          </a:prstGeom>
          <a:solidFill xmlns:a="http://schemas.openxmlformats.org/drawingml/2006/main">
            <a:srgbClr val="12345D"/>
          </a:solidFill>
          <a:ln xmlns:a="http://schemas.openxmlformats.org/drawingml/2006/main" w="9525">
            <a:solidFill>
              <a:srgbClr val="285187"/>
            </a:solidFill>
            <a:prstDash val="solid"/>
          </a:ln>
        </p:spPr>
      </p:sp>
      <p:sp>
        <p:nvSpPr>
          <p:cNvPr id="7" name="">
            <a:extLst xmlns:a="http://schemas.openxmlformats.org/drawingml/2006/main">
              <a:ext uri="{FF2B5EF4-FFF2-40B4-BE49-F238E27FC236}">
                <a16:creationId xmlns:a16="http://schemas.microsoft.com/office/drawing/2014/main" id="{CECEAA5C-4C2A-4BDD-B52A-4B3A8EC85F95}"/>
              </a:ext>
            </a:extLst>
          </p:cNvPr>
          <p:cNvSpPr>
            <a:spLocks xmlns:a="http://schemas.openxmlformats.org/drawingml/2006/main" noGrp="1"/>
          </p:cNvSpPr>
          <p:nvPr/>
        </p:nvSpPr>
        <p:spPr>
          <a:xfrm xmlns:a="http://schemas.openxmlformats.org/drawingml/2006/main">
            <a:off x="628650" y="600075"/>
            <a:ext cx="2228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9FC1FF"/>
                </a:solidFill>
              </a:defRPr>
            </a:pPr>
            <a:r>
              <a:rPr sz="900" b="1">
                <a:solidFill>
                  <a:srgbClr val="9FC1FF"/>
                </a:solidFill>
              </a:rPr>
              <a:t>PRODUCT + SECURITY OVERVIEW</a:t>
            </a:r>
          </a:p>
        </p:txBody>
      </p:sp>
      <p:sp>
        <p:nvSpPr>
          <p:cNvPr id="8" name="">
            <a:extLst xmlns:a="http://schemas.openxmlformats.org/drawingml/2006/main">
              <a:ext uri="{FF2B5EF4-FFF2-40B4-BE49-F238E27FC236}">
                <a16:creationId xmlns:a16="http://schemas.microsoft.com/office/drawing/2014/main" id="{3E0F4E1A-2886-4856-A054-7D71436BE312}"/>
              </a:ext>
            </a:extLst>
          </p:cNvPr>
          <p:cNvSpPr>
            <a:spLocks xmlns:a="http://schemas.openxmlformats.org/drawingml/2006/main" noGrp="1"/>
          </p:cNvSpPr>
          <p:nvPr/>
        </p:nvSpPr>
        <p:spPr>
          <a:xfrm xmlns:a="http://schemas.openxmlformats.org/drawingml/2006/main">
            <a:off x="552450" y="1162050"/>
            <a:ext cx="6191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CareTranslate</a:t>
            </a:r>
          </a:p>
          <a:p xmlns:a="http://schemas.openxmlformats.org/drawingml/2006/main">
            <a:pPr algn="l">
              <a:defRPr sz="4350" b="1">
                <a:solidFill>
                  <a:srgbClr val="FFFFFF"/>
                </a:solidFill>
              </a:defRPr>
            </a:pPr>
            <a:r>
              <a:rPr sz="4350" b="1">
                <a:solidFill>
                  <a:srgbClr val="FFFFFF"/>
                </a:solidFill>
              </a:rPr>
              <a:t>Studio</a:t>
            </a:r>
          </a:p>
        </p:txBody>
      </p:sp>
      <p:sp>
        <p:nvSpPr>
          <p:cNvPr id="9" name="">
            <a:extLst xmlns:a="http://schemas.openxmlformats.org/drawingml/2006/main">
              <a:ext uri="{FF2B5EF4-FFF2-40B4-BE49-F238E27FC236}">
                <a16:creationId xmlns:a16="http://schemas.microsoft.com/office/drawing/2014/main" id="{EDF95098-DB00-4793-8B0E-31CF4FEB4CD1}"/>
              </a:ext>
            </a:extLst>
          </p:cNvPr>
          <p:cNvSpPr>
            <a:spLocks xmlns:a="http://schemas.openxmlformats.org/drawingml/2006/main" noGrp="1"/>
          </p:cNvSpPr>
          <p:nvPr/>
        </p:nvSpPr>
        <p:spPr>
          <a:xfrm xmlns:a="http://schemas.openxmlformats.org/drawingml/2006/main">
            <a:off x="552450" y="2619375"/>
            <a:ext cx="619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CCDAEA"/>
                </a:solidFill>
              </a:defRPr>
            </a:pPr>
            <a:r>
              <a:rPr sz="1875" b="0">
                <a:solidFill>
                  <a:srgbClr val="CCDAEA"/>
                </a:solidFill>
              </a:rPr>
              <a:t>Secure multilingual document intelligence</a:t>
            </a:r>
          </a:p>
          <a:p xmlns:a="http://schemas.openxmlformats.org/drawingml/2006/main">
            <a:pPr algn="l">
              <a:defRPr sz="1875" b="0">
                <a:solidFill>
                  <a:srgbClr val="CCDAEA"/>
                </a:solidFill>
              </a:defRPr>
            </a:pPr>
            <a:r>
              <a:rPr sz="1875" b="0">
                <a:solidFill>
                  <a:srgbClr val="CCDAEA"/>
                </a:solidFill>
              </a:rPr>
              <a:t>with human-controlled translation</a:t>
            </a:r>
          </a:p>
        </p:txBody>
      </p:sp>
      <p:sp>
        <p:nvSpPr>
          <p:cNvPr id="10" name="">
            <a:extLst xmlns:a="http://schemas.openxmlformats.org/drawingml/2006/main">
              <a:ext uri="{FF2B5EF4-FFF2-40B4-BE49-F238E27FC236}">
                <a16:creationId xmlns:a16="http://schemas.microsoft.com/office/drawing/2014/main" id="{6E3C2177-D8EF-46BE-A60C-AC7C4CCCD64F}"/>
              </a:ext>
            </a:extLst>
          </p:cNvPr>
          <p:cNvSpPr>
            <a:spLocks xmlns:a="http://schemas.openxmlformats.org/drawingml/2006/main" noGrp="1"/>
          </p:cNvSpPr>
          <p:nvPr/>
        </p:nvSpPr>
        <p:spPr>
          <a:xfrm xmlns:a="http://schemas.openxmlformats.org/drawingml/2006/main">
            <a:off x="552450" y="3609975"/>
            <a:ext cx="5619750" cy="0"/>
          </a:xfrm>
          <a:prstGeom xmlns:a="http://schemas.openxmlformats.org/drawingml/2006/main" prst="line">
            <a:avLst/>
          </a:prstGeom>
          <a:noFill xmlns:a="http://schemas.openxmlformats.org/drawingml/2006/main"/>
          <a:ln xmlns:a="http://schemas.openxmlformats.org/drawingml/2006/main" w="9525">
            <a:solidFill>
              <a:srgbClr val="2B5A91"/>
            </a:solidFill>
            <a:prstDash val="solid"/>
          </a:ln>
        </p:spPr>
      </p:sp>
      <p:sp>
        <p:nvSpPr>
          <p:cNvPr id="11" name="">
            <a:extLst xmlns:a="http://schemas.openxmlformats.org/drawingml/2006/main">
              <a:ext uri="{FF2B5EF4-FFF2-40B4-BE49-F238E27FC236}">
                <a16:creationId xmlns:a16="http://schemas.microsoft.com/office/drawing/2014/main" id="{05BC8C1F-96B2-44C8-85A3-96780D6331CF}"/>
              </a:ext>
            </a:extLst>
          </p:cNvPr>
          <p:cNvSpPr>
            <a:spLocks xmlns:a="http://schemas.openxmlformats.org/drawingml/2006/main" noGrp="1"/>
          </p:cNvSpPr>
          <p:nvPr/>
        </p:nvSpPr>
        <p:spPr>
          <a:xfrm xmlns:a="http://schemas.openxmlformats.org/drawingml/2006/main">
            <a:off x="552450" y="3933825"/>
            <a:ext cx="400050" cy="400050"/>
          </a:xfrm>
          <a:prstGeom xmlns:a="http://schemas.openxmlformats.org/drawingml/2006/main" prst="roundRect">
            <a:avLst>
              <a:gd name="adj" fmla="val 33333"/>
            </a:avLst>
          </a:prstGeom>
          <a:solidFill xmlns:a="http://schemas.openxmlformats.org/drawingml/2006/main">
            <a:srgbClr val="12345D"/>
          </a:solidFill>
          <a:ln xmlns:a="http://schemas.openxmlformats.org/drawingml/2006/main" w="0">
            <a:no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396f75a301dc43af">
            <a:extLst>
              <a:ext uri="{96DAC541-7B7A-43D3-8B79-37D633B846F1}">
                <asvg:svgBlip xmlns:asvg="http://schemas.microsoft.com/office/drawing/2016/SVG/main" r:embed="R7563587fb63642f1"/>
              </a:ext>
            </a:extLst>
          </a:blip>
          <a:stretch xmlns:a="http://schemas.openxmlformats.org/drawingml/2006/main"/>
        </p:blipFill>
        <p:spPr>
          <a:xfrm xmlns:a="http://schemas.openxmlformats.org/drawingml/2006/main">
            <a:off x="657225" y="4038600"/>
            <a:ext cx="190500" cy="1905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2AFB8BC-EA5E-4BD2-B09B-19FB4B0EFFF6}"/>
              </a:ext>
            </a:extLst>
          </p:cNvPr>
          <p:cNvSpPr>
            <a:spLocks xmlns:a="http://schemas.openxmlformats.org/drawingml/2006/main" noGrp="1"/>
          </p:cNvSpPr>
          <p:nvPr/>
        </p:nvSpPr>
        <p:spPr>
          <a:xfrm xmlns:a="http://schemas.openxmlformats.org/drawingml/2006/main">
            <a:off x="1066800" y="3943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FFFF"/>
                </a:solidFill>
              </a:defRPr>
            </a:pPr>
            <a:r>
              <a:rPr sz="1125" b="1">
                <a:solidFill>
                  <a:srgbClr val="FFFFFF"/>
                </a:solidFill>
              </a:rPr>
              <a:t>Runnable POC</a:t>
            </a:r>
          </a:p>
        </p:txBody>
      </p:sp>
      <p:sp>
        <p:nvSpPr>
          <p:cNvPr id="14" name="">
            <a:extLst xmlns:a="http://schemas.openxmlformats.org/drawingml/2006/main">
              <a:ext uri="{FF2B5EF4-FFF2-40B4-BE49-F238E27FC236}">
                <a16:creationId xmlns:a16="http://schemas.microsoft.com/office/drawing/2014/main" id="{88530AD6-344E-4C5F-9F2C-E16B773C8ADE}"/>
              </a:ext>
            </a:extLst>
          </p:cNvPr>
          <p:cNvSpPr>
            <a:spLocks xmlns:a="http://schemas.openxmlformats.org/drawingml/2006/main" noGrp="1"/>
          </p:cNvSpPr>
          <p:nvPr/>
        </p:nvSpPr>
        <p:spPr>
          <a:xfrm xmlns:a="http://schemas.openxmlformats.org/drawingml/2006/main">
            <a:off x="1066800" y="4171950"/>
            <a:ext cx="156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AFC0D5"/>
                </a:solidFill>
              </a:defRPr>
            </a:pPr>
            <a:r>
              <a:rPr sz="900" b="0">
                <a:solidFill>
                  <a:srgbClr val="AFC0D5"/>
                </a:solidFill>
              </a:rPr>
              <a:t>Working studio experience</a:t>
            </a:r>
          </a:p>
        </p:txBody>
      </p:sp>
      <p:sp>
        <p:nvSpPr>
          <p:cNvPr id="15" name="">
            <a:extLst xmlns:a="http://schemas.openxmlformats.org/drawingml/2006/main">
              <a:ext uri="{FF2B5EF4-FFF2-40B4-BE49-F238E27FC236}">
                <a16:creationId xmlns:a16="http://schemas.microsoft.com/office/drawing/2014/main" id="{B08F8C80-8485-4B86-966E-CFD607A509E7}"/>
              </a:ext>
            </a:extLst>
          </p:cNvPr>
          <p:cNvSpPr>
            <a:spLocks xmlns:a="http://schemas.openxmlformats.org/drawingml/2006/main" noGrp="1"/>
          </p:cNvSpPr>
          <p:nvPr/>
        </p:nvSpPr>
        <p:spPr>
          <a:xfrm xmlns:a="http://schemas.openxmlformats.org/drawingml/2006/main">
            <a:off x="2686050" y="3933825"/>
            <a:ext cx="400050" cy="400050"/>
          </a:xfrm>
          <a:prstGeom xmlns:a="http://schemas.openxmlformats.org/drawingml/2006/main" prst="roundRect">
            <a:avLst>
              <a:gd name="adj" fmla="val 33333"/>
            </a:avLst>
          </a:prstGeom>
          <a:solidFill xmlns:a="http://schemas.openxmlformats.org/drawingml/2006/main">
            <a:srgbClr val="12345D"/>
          </a:solidFill>
          <a:ln xmlns:a="http://schemas.openxmlformats.org/drawingml/2006/main" w="0">
            <a:no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a3899b46e1b4533">
            <a:extLst>
              <a:ext uri="{96DAC541-7B7A-43D3-8B79-37D633B846F1}">
                <asvg:svgBlip xmlns:asvg="http://schemas.microsoft.com/office/drawing/2016/SVG/main" r:embed="R024b661d73384fd3"/>
              </a:ext>
            </a:extLst>
          </a:blip>
          <a:stretch xmlns:a="http://schemas.openxmlformats.org/drawingml/2006/main"/>
        </p:blipFill>
        <p:spPr>
          <a:xfrm xmlns:a="http://schemas.openxmlformats.org/drawingml/2006/main">
            <a:off x="2790825" y="4038600"/>
            <a:ext cx="190500" cy="1905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81FC16A6-6F64-4281-A806-C3BD3001452E}"/>
              </a:ext>
            </a:extLst>
          </p:cNvPr>
          <p:cNvSpPr>
            <a:spLocks xmlns:a="http://schemas.openxmlformats.org/drawingml/2006/main" noGrp="1"/>
          </p:cNvSpPr>
          <p:nvPr/>
        </p:nvSpPr>
        <p:spPr>
          <a:xfrm xmlns:a="http://schemas.openxmlformats.org/drawingml/2006/main">
            <a:off x="3200400" y="3943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FFFF"/>
                </a:solidFill>
              </a:defRPr>
            </a:pPr>
            <a:r>
              <a:rPr sz="1125" b="1">
                <a:solidFill>
                  <a:srgbClr val="FFFFFF"/>
                </a:solidFill>
              </a:rPr>
              <a:t>Production path</a:t>
            </a:r>
          </a:p>
        </p:txBody>
      </p:sp>
      <p:sp>
        <p:nvSpPr>
          <p:cNvPr id="18" name="">
            <a:extLst xmlns:a="http://schemas.openxmlformats.org/drawingml/2006/main">
              <a:ext uri="{FF2B5EF4-FFF2-40B4-BE49-F238E27FC236}">
                <a16:creationId xmlns:a16="http://schemas.microsoft.com/office/drawing/2014/main" id="{00E1B806-9162-46DB-9D30-3C23D39CB863}"/>
              </a:ext>
            </a:extLst>
          </p:cNvPr>
          <p:cNvSpPr>
            <a:spLocks xmlns:a="http://schemas.openxmlformats.org/drawingml/2006/main" noGrp="1"/>
          </p:cNvSpPr>
          <p:nvPr/>
        </p:nvSpPr>
        <p:spPr>
          <a:xfrm xmlns:a="http://schemas.openxmlformats.org/drawingml/2006/main">
            <a:off x="3200400" y="4171950"/>
            <a:ext cx="156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AFC0D5"/>
                </a:solidFill>
              </a:defRPr>
            </a:pPr>
            <a:r>
              <a:rPr sz="900" b="0">
                <a:solidFill>
                  <a:srgbClr val="AFC0D5"/>
                </a:solidFill>
              </a:rPr>
              <a:t>Security gates documented</a:t>
            </a:r>
          </a:p>
        </p:txBody>
      </p:sp>
      <p:sp>
        <p:nvSpPr>
          <p:cNvPr id="19" name="">
            <a:extLst xmlns:a="http://schemas.openxmlformats.org/drawingml/2006/main">
              <a:ext uri="{FF2B5EF4-FFF2-40B4-BE49-F238E27FC236}">
                <a16:creationId xmlns:a16="http://schemas.microsoft.com/office/drawing/2014/main" id="{AD75FD26-6F9F-4149-B0F4-D1013156774C}"/>
              </a:ext>
            </a:extLst>
          </p:cNvPr>
          <p:cNvSpPr>
            <a:spLocks xmlns:a="http://schemas.openxmlformats.org/drawingml/2006/main" noGrp="1"/>
          </p:cNvSpPr>
          <p:nvPr/>
        </p:nvSpPr>
        <p:spPr>
          <a:xfrm xmlns:a="http://schemas.openxmlformats.org/drawingml/2006/main">
            <a:off x="4819650" y="3933825"/>
            <a:ext cx="400050" cy="400050"/>
          </a:xfrm>
          <a:prstGeom xmlns:a="http://schemas.openxmlformats.org/drawingml/2006/main" prst="roundRect">
            <a:avLst>
              <a:gd name="adj" fmla="val 33333"/>
            </a:avLst>
          </a:prstGeom>
          <a:solidFill xmlns:a="http://schemas.openxmlformats.org/drawingml/2006/main">
            <a:srgbClr val="12345D"/>
          </a:solidFill>
          <a:ln xmlns:a="http://schemas.openxmlformats.org/drawingml/2006/main" w="0">
            <a:noFill/>
            <a:prstDash val="solid"/>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1c87b5587fa4dd2">
            <a:extLst>
              <a:ext uri="{96DAC541-7B7A-43D3-8B79-37D633B846F1}">
                <asvg:svgBlip xmlns:asvg="http://schemas.microsoft.com/office/drawing/2016/SVG/main" r:embed="Rd95c86999cd44c79"/>
              </a:ext>
            </a:extLst>
          </a:blip>
          <a:stretch xmlns:a="http://schemas.openxmlformats.org/drawingml/2006/main"/>
        </p:blipFill>
        <p:spPr>
          <a:xfrm xmlns:a="http://schemas.openxmlformats.org/drawingml/2006/main">
            <a:off x="4924425" y="4038600"/>
            <a:ext cx="190500" cy="1905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D974B836-60F5-467B-907A-A50EBE6C0ED6}"/>
              </a:ext>
            </a:extLst>
          </p:cNvPr>
          <p:cNvSpPr>
            <a:spLocks xmlns:a="http://schemas.openxmlformats.org/drawingml/2006/main" noGrp="1"/>
          </p:cNvSpPr>
          <p:nvPr/>
        </p:nvSpPr>
        <p:spPr>
          <a:xfrm xmlns:a="http://schemas.openxmlformats.org/drawingml/2006/main">
            <a:off x="5334000" y="3943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FFFF"/>
                </a:solidFill>
              </a:defRPr>
            </a:pPr>
            <a:r>
              <a:rPr sz="1125" b="1">
                <a:solidFill>
                  <a:srgbClr val="FFFFFF"/>
                </a:solidFill>
              </a:rPr>
              <a:t>Human control</a:t>
            </a:r>
          </a:p>
        </p:txBody>
      </p:sp>
      <p:sp>
        <p:nvSpPr>
          <p:cNvPr id="22" name="">
            <a:extLst xmlns:a="http://schemas.openxmlformats.org/drawingml/2006/main">
              <a:ext uri="{FF2B5EF4-FFF2-40B4-BE49-F238E27FC236}">
                <a16:creationId xmlns:a16="http://schemas.microsoft.com/office/drawing/2014/main" id="{5C7F4FF3-1D8D-44AE-9C6F-5D8BE5DFC38E}"/>
              </a:ext>
            </a:extLst>
          </p:cNvPr>
          <p:cNvSpPr>
            <a:spLocks xmlns:a="http://schemas.openxmlformats.org/drawingml/2006/main" noGrp="1"/>
          </p:cNvSpPr>
          <p:nvPr/>
        </p:nvSpPr>
        <p:spPr>
          <a:xfrm xmlns:a="http://schemas.openxmlformats.org/drawingml/2006/main">
            <a:off x="5334000" y="4171950"/>
            <a:ext cx="156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AFC0D5"/>
                </a:solidFill>
              </a:defRPr>
            </a:pPr>
            <a:r>
              <a:rPr sz="900" b="0">
                <a:solidFill>
                  <a:srgbClr val="AFC0D5"/>
                </a:solidFill>
              </a:rPr>
              <a:t>Review before downstream use</a:t>
            </a:r>
          </a:p>
        </p:txBody>
      </p:sp>
      <p:sp>
        <p:nvSpPr>
          <p:cNvPr id="23" name="">
            <a:extLst xmlns:a="http://schemas.openxmlformats.org/drawingml/2006/main">
              <a:ext uri="{FF2B5EF4-FFF2-40B4-BE49-F238E27FC236}">
                <a16:creationId xmlns:a16="http://schemas.microsoft.com/office/drawing/2014/main" id="{5C105062-AD50-4CDC-83A6-5EECBEF88B2E}"/>
              </a:ext>
            </a:extLst>
          </p:cNvPr>
          <p:cNvSpPr>
            <a:spLocks xmlns:a="http://schemas.openxmlformats.org/drawingml/2006/main" noGrp="1"/>
          </p:cNvSpPr>
          <p:nvPr/>
        </p:nvSpPr>
        <p:spPr>
          <a:xfrm xmlns:a="http://schemas.openxmlformats.org/drawingml/2006/main">
            <a:off x="552450" y="5819775"/>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9CB0C8"/>
                </a:solidFill>
              </a:defRPr>
            </a:pPr>
            <a:r>
              <a:rPr sz="1050" b="0">
                <a:solidFill>
                  <a:srgbClr val="9CB0C8"/>
                </a:solidFill>
              </a:rPr>
              <a:t>Arabic + Mandarin → English • Azure Document Intelligence • Azure OpenAI</a:t>
            </a:r>
          </a:p>
        </p:txBody>
      </p:sp>
      <p:sp>
        <p:nvSpPr>
          <p:cNvPr id="24" name="">
            <a:extLst xmlns:a="http://schemas.openxmlformats.org/drawingml/2006/main">
              <a:ext uri="{FF2B5EF4-FFF2-40B4-BE49-F238E27FC236}">
                <a16:creationId xmlns:a16="http://schemas.microsoft.com/office/drawing/2014/main" id="{87FE96F9-C63D-47F9-B10D-563B7174C87B}"/>
              </a:ext>
            </a:extLst>
          </p:cNvPr>
          <p:cNvSpPr>
            <a:spLocks xmlns:a="http://schemas.openxmlformats.org/drawingml/2006/main" noGrp="1"/>
          </p:cNvSpPr>
          <p:nvPr/>
        </p:nvSpPr>
        <p:spPr>
          <a:xfrm xmlns:a="http://schemas.openxmlformats.org/drawingml/2006/main">
            <a:off x="55245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A9B9CD"/>
                </a:solidFill>
              </a:defRPr>
            </a:pPr>
            <a:r>
              <a:rPr sz="750" b="1">
                <a:solidFill>
                  <a:srgbClr val="A9B9CD"/>
                </a:solidFill>
              </a:rPr>
              <a:t>CARETRANSLATE STUDIO</a:t>
            </a:r>
          </a:p>
        </p:txBody>
      </p:sp>
      <p:sp>
        <p:nvSpPr>
          <p:cNvPr id="25" name="">
            <a:extLst xmlns:a="http://schemas.openxmlformats.org/drawingml/2006/main">
              <a:ext uri="{FF2B5EF4-FFF2-40B4-BE49-F238E27FC236}">
                <a16:creationId xmlns:a16="http://schemas.microsoft.com/office/drawing/2014/main" id="{C5528312-42E2-4FCF-8C9E-6C0578EC0150}"/>
              </a:ext>
            </a:extLst>
          </p:cNvPr>
          <p:cNvSpPr>
            <a:spLocks xmlns:a="http://schemas.openxmlformats.org/drawingml/2006/main" noGrp="1"/>
          </p:cNvSpPr>
          <p:nvPr/>
        </p:nvSpPr>
        <p:spPr>
          <a:xfrm xmlns:a="http://schemas.openxmlformats.org/drawingml/2006/main">
            <a:off x="10477500" y="64389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A9B9CD"/>
                </a:solidFill>
              </a:defRPr>
            </a:pPr>
            <a:r>
              <a:rPr sz="750" b="1">
                <a:solidFill>
                  <a:srgbClr val="A9B9CD"/>
                </a:solidFill>
              </a:rPr>
              <a:t>01 / 07</a:t>
            </a:r>
          </a:p>
        </p:txBody>
      </p:sp>
    </p:spTree>
    <p:extLst>
      <p:ext uri="{BB962C8B-B14F-4D97-AF65-F5344CB8AC3E}">
        <p14:creationId xmlns:p14="http://schemas.microsoft.com/office/powerpoint/2010/main" val="686148163"/>
      </p:ext>
    </p:extLst>
  </p:cSld>
</p:sld>
</file>

<file path=ppt/slides/slide2.xml><?xml version="1.0" encoding="utf-8"?>
<p:sld xmlns:p="http://schemas.openxmlformats.org/presentationml/2006/main">
  <p:cSld>
    <p:bg>
      <p:bgPr>
        <a:solidFill xmlns:a="http://schemas.openxmlformats.org/drawingml/2006/main">
          <a:srgbClr val="F9FBFE"/>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E2D0B80D-6256-4D57-B6F0-52E48B04817C}"/>
              </a:ext>
            </a:extLst>
          </p:cNvPr>
          <p:cNvSpPr>
            <a:spLocks xmlns:a="http://schemas.openxmlformats.org/drawingml/2006/main" noGrp="1"/>
          </p:cNvSpPr>
          <p:nvPr/>
        </p:nvSpPr>
        <p:spPr>
          <a:xfrm xmlns:a="http://schemas.openxmlformats.org/drawingml/2006/main">
            <a:off x="552450" y="4191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THE PRODUCT</a:t>
            </a:r>
          </a:p>
        </p:txBody>
      </p:sp>
      <p:sp>
        <p:nvSpPr>
          <p:cNvPr id="2" name="">
            <a:extLst xmlns:a="http://schemas.openxmlformats.org/drawingml/2006/main">
              <a:ext uri="{FF2B5EF4-FFF2-40B4-BE49-F238E27FC236}">
                <a16:creationId xmlns:a16="http://schemas.microsoft.com/office/drawing/2014/main" id="{7085F8B7-C303-4835-9539-5D0B440BFBD9}"/>
              </a:ext>
            </a:extLst>
          </p:cNvPr>
          <p:cNvSpPr>
            <a:spLocks xmlns:a="http://schemas.openxmlformats.org/drawingml/2006/main" noGrp="1"/>
          </p:cNvSpPr>
          <p:nvPr/>
        </p:nvSpPr>
        <p:spPr>
          <a:xfrm xmlns:a="http://schemas.openxmlformats.org/drawingml/2006/main">
            <a:off x="552450" y="723900"/>
            <a:ext cx="11087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71A33"/>
                </a:solidFill>
              </a:defRPr>
            </a:pPr>
            <a:r>
              <a:rPr sz="2850" b="1">
                <a:solidFill>
                  <a:srgbClr val="071A33"/>
                </a:solidFill>
              </a:rPr>
              <a:t>One workspace closes the document-review gap</a:t>
            </a:r>
          </a:p>
        </p:txBody>
      </p:sp>
      <p:sp>
        <p:nvSpPr>
          <p:cNvPr id="3" name="">
            <a:extLst xmlns:a="http://schemas.openxmlformats.org/drawingml/2006/main">
              <a:ext uri="{FF2B5EF4-FFF2-40B4-BE49-F238E27FC236}">
                <a16:creationId xmlns:a16="http://schemas.microsoft.com/office/drawing/2014/main" id="{34BC6E65-448F-4A43-B4A1-554EAA189512}"/>
              </a:ext>
            </a:extLst>
          </p:cNvPr>
          <p:cNvSpPr>
            <a:spLocks xmlns:a="http://schemas.openxmlformats.org/drawingml/2006/main" noGrp="1"/>
          </p:cNvSpPr>
          <p:nvPr/>
        </p:nvSpPr>
        <p:spPr>
          <a:xfrm xmlns:a="http://schemas.openxmlformats.org/drawingml/2006/main">
            <a:off x="55245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F7088"/>
                </a:solidFill>
              </a:defRPr>
            </a:pPr>
            <a:r>
              <a:rPr sz="1275" b="0">
                <a:solidFill>
                  <a:srgbClr val="5F7088"/>
                </a:solidFill>
              </a:rPr>
              <a:t>From foreign-language files to structured, traceable English review—without losing page context.</a:t>
            </a:r>
          </a:p>
        </p:txBody>
      </p:sp>
      <p:sp>
        <p:nvSpPr>
          <p:cNvPr id="4" name="">
            <a:extLst xmlns:a="http://schemas.openxmlformats.org/drawingml/2006/main">
              <a:ext uri="{FF2B5EF4-FFF2-40B4-BE49-F238E27FC236}">
                <a16:creationId xmlns:a16="http://schemas.microsoft.com/office/drawing/2014/main" id="{6D6290BC-0891-4B32-93AD-21F7DEE0F745}"/>
              </a:ext>
            </a:extLst>
          </p:cNvPr>
          <p:cNvSpPr>
            <a:spLocks xmlns:a="http://schemas.openxmlformats.org/drawingml/2006/main" noGrp="1"/>
          </p:cNvSpPr>
          <p:nvPr/>
        </p:nvSpPr>
        <p:spPr>
          <a:xfrm xmlns:a="http://schemas.openxmlformats.org/drawingml/2006/main">
            <a:off x="55245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7D8CA1"/>
                </a:solidFill>
              </a:defRPr>
            </a:pPr>
            <a:r>
              <a:rPr sz="750" b="1">
                <a:solidFill>
                  <a:srgbClr val="7D8CA1"/>
                </a:solidFill>
              </a:rPr>
              <a:t>CARETRANSLATE STUDIO</a:t>
            </a:r>
          </a:p>
        </p:txBody>
      </p:sp>
      <p:sp>
        <p:nvSpPr>
          <p:cNvPr id="5" name="">
            <a:extLst xmlns:a="http://schemas.openxmlformats.org/drawingml/2006/main">
              <a:ext uri="{FF2B5EF4-FFF2-40B4-BE49-F238E27FC236}">
                <a16:creationId xmlns:a16="http://schemas.microsoft.com/office/drawing/2014/main" id="{99C1731B-05A3-4782-ADD5-D4CE3568BA8A}"/>
              </a:ext>
            </a:extLst>
          </p:cNvPr>
          <p:cNvSpPr>
            <a:spLocks xmlns:a="http://schemas.openxmlformats.org/drawingml/2006/main" noGrp="1"/>
          </p:cNvSpPr>
          <p:nvPr/>
        </p:nvSpPr>
        <p:spPr>
          <a:xfrm xmlns:a="http://schemas.openxmlformats.org/drawingml/2006/main">
            <a:off x="10477500" y="64389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7D8CA1"/>
                </a:solidFill>
              </a:defRPr>
            </a:pPr>
            <a:r>
              <a:rPr sz="750" b="1">
                <a:solidFill>
                  <a:srgbClr val="7D8CA1"/>
                </a:solidFill>
              </a:rPr>
              <a:t>02 / 07</a:t>
            </a:r>
          </a:p>
        </p:txBody>
      </p:sp>
      <p:sp>
        <p:nvSpPr>
          <p:cNvPr id="6" name="">
            <a:extLst xmlns:a="http://schemas.openxmlformats.org/drawingml/2006/main">
              <a:ext uri="{FF2B5EF4-FFF2-40B4-BE49-F238E27FC236}">
                <a16:creationId xmlns:a16="http://schemas.microsoft.com/office/drawing/2014/main" id="{4973015B-DD8D-4580-93FC-FDBE590ABA44}"/>
              </a:ext>
            </a:extLst>
          </p:cNvPr>
          <p:cNvSpPr>
            <a:spLocks xmlns:a="http://schemas.openxmlformats.org/drawingml/2006/main" noGrp="1"/>
          </p:cNvSpPr>
          <p:nvPr/>
        </p:nvSpPr>
        <p:spPr>
          <a:xfrm xmlns:a="http://schemas.openxmlformats.org/drawingml/2006/main">
            <a:off x="552450" y="1952625"/>
            <a:ext cx="4267200" cy="3905250"/>
          </a:xfrm>
          <a:prstGeom xmlns:a="http://schemas.openxmlformats.org/drawingml/2006/main" prst="roundRect">
            <a:avLst>
              <a:gd name="adj" fmla="val 5854"/>
            </a:avLst>
          </a:prstGeom>
          <a:solidFill xmlns:a="http://schemas.openxmlformats.org/drawingml/2006/main">
            <a:srgbClr val="071A3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B853E8D-F9FD-4A34-AE18-8BA7581892D1}"/>
              </a:ext>
            </a:extLst>
          </p:cNvPr>
          <p:cNvSpPr>
            <a:spLocks xmlns:a="http://schemas.openxmlformats.org/drawingml/2006/main" noGrp="1"/>
          </p:cNvSpPr>
          <p:nvPr/>
        </p:nvSpPr>
        <p:spPr>
          <a:xfrm xmlns:a="http://schemas.openxmlformats.org/drawingml/2006/main">
            <a:off x="838200" y="22479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EADFF"/>
                </a:solidFill>
              </a:defRPr>
            </a:pPr>
            <a:r>
              <a:rPr sz="1050" b="1">
                <a:solidFill>
                  <a:srgbClr val="7EADFF"/>
                </a:solidFill>
              </a:rPr>
              <a:t>The operational problem</a:t>
            </a:r>
          </a:p>
        </p:txBody>
      </p:sp>
      <p:sp>
        <p:nvSpPr>
          <p:cNvPr id="8" name="">
            <a:extLst xmlns:a="http://schemas.openxmlformats.org/drawingml/2006/main">
              <a:ext uri="{FF2B5EF4-FFF2-40B4-BE49-F238E27FC236}">
                <a16:creationId xmlns:a16="http://schemas.microsoft.com/office/drawing/2014/main" id="{4A412B71-23C3-44B9-8141-32897C92C169}"/>
              </a:ext>
            </a:extLst>
          </p:cNvPr>
          <p:cNvSpPr>
            <a:spLocks xmlns:a="http://schemas.openxmlformats.org/drawingml/2006/main" noGrp="1"/>
          </p:cNvSpPr>
          <p:nvPr/>
        </p:nvSpPr>
        <p:spPr>
          <a:xfrm xmlns:a="http://schemas.openxmlformats.org/drawingml/2006/main">
            <a:off x="838200" y="2657475"/>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a:solidFill>
                  <a:srgbClr val="FFFFFF"/>
                </a:solidFill>
              </a:defRPr>
            </a:pPr>
            <a:r>
              <a:rPr sz="2325" b="1">
                <a:solidFill>
                  <a:srgbClr val="FFFFFF"/>
                </a:solidFill>
              </a:rPr>
              <a:t>Reviewers must connect</a:t>
            </a:r>
          </a:p>
          <a:p xmlns:a="http://schemas.openxmlformats.org/drawingml/2006/main">
            <a:pPr algn="l">
              <a:defRPr sz="2325" b="1">
                <a:solidFill>
                  <a:srgbClr val="FFFFFF"/>
                </a:solidFill>
              </a:defRPr>
            </a:pPr>
            <a:r>
              <a:rPr sz="2325" b="1">
                <a:solidFill>
                  <a:srgbClr val="FFFFFF"/>
                </a:solidFill>
              </a:rPr>
              <a:t>three views at once</a:t>
            </a:r>
          </a:p>
        </p:txBody>
      </p:sp>
      <p:sp>
        <p:nvSpPr>
          <p:cNvPr id="9" name="">
            <a:extLst xmlns:a="http://schemas.openxmlformats.org/drawingml/2006/main">
              <a:ext uri="{FF2B5EF4-FFF2-40B4-BE49-F238E27FC236}">
                <a16:creationId xmlns:a16="http://schemas.microsoft.com/office/drawing/2014/main" id="{D34FAE8A-16AD-404B-BBE9-CD0E6C6E59BA}"/>
              </a:ext>
            </a:extLst>
          </p:cNvPr>
          <p:cNvSpPr>
            <a:spLocks xmlns:a="http://schemas.openxmlformats.org/drawingml/2006/main" noGrp="1"/>
          </p:cNvSpPr>
          <p:nvPr/>
        </p:nvSpPr>
        <p:spPr>
          <a:xfrm xmlns:a="http://schemas.openxmlformats.org/drawingml/2006/main">
            <a:off x="838200" y="3752850"/>
            <a:ext cx="400050" cy="400050"/>
          </a:xfrm>
          <a:prstGeom xmlns:a="http://schemas.openxmlformats.org/drawingml/2006/main" prst="roundRect">
            <a:avLst>
              <a:gd name="adj" fmla="val 33333"/>
            </a:avLst>
          </a:prstGeom>
          <a:solidFill xmlns:a="http://schemas.openxmlformats.org/drawingml/2006/main">
            <a:srgbClr val="143B67"/>
          </a:solidFill>
          <a:ln xmlns:a="http://schemas.openxmlformats.org/drawingml/2006/main" w="0">
            <a:no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581b39d367db463c">
            <a:extLst>
              <a:ext uri="{96DAC541-7B7A-43D3-8B79-37D633B846F1}">
                <asvg:svgBlip xmlns:asvg="http://schemas.microsoft.com/office/drawing/2016/SVG/main" r:embed="R342b808c9eba4409"/>
              </a:ext>
            </a:extLst>
          </a:blip>
          <a:stretch xmlns:a="http://schemas.openxmlformats.org/drawingml/2006/main"/>
        </p:blipFill>
        <p:spPr>
          <a:xfrm xmlns:a="http://schemas.openxmlformats.org/drawingml/2006/main">
            <a:off x="942975" y="3857625"/>
            <a:ext cx="190500" cy="1905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B24A6FE-C3A3-4233-8E3E-1DEB6D3C519B}"/>
              </a:ext>
            </a:extLst>
          </p:cNvPr>
          <p:cNvSpPr>
            <a:spLocks xmlns:a="http://schemas.openxmlformats.org/drawingml/2006/main" noGrp="1"/>
          </p:cNvSpPr>
          <p:nvPr/>
        </p:nvSpPr>
        <p:spPr>
          <a:xfrm xmlns:a="http://schemas.openxmlformats.org/drawingml/2006/main">
            <a:off x="1390650" y="3829050"/>
            <a:ext cx="2809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9E6F4"/>
                </a:solidFill>
              </a:defRPr>
            </a:pPr>
            <a:r>
              <a:rPr sz="1200" b="0">
                <a:solidFill>
                  <a:srgbClr val="D9E6F4"/>
                </a:solidFill>
              </a:rPr>
              <a:t>What the original page says</a:t>
            </a:r>
          </a:p>
        </p:txBody>
      </p:sp>
      <p:sp>
        <p:nvSpPr>
          <p:cNvPr id="12" name="">
            <a:extLst xmlns:a="http://schemas.openxmlformats.org/drawingml/2006/main">
              <a:ext uri="{FF2B5EF4-FFF2-40B4-BE49-F238E27FC236}">
                <a16:creationId xmlns:a16="http://schemas.microsoft.com/office/drawing/2014/main" id="{3F47C0D5-4DE0-4A2A-8C33-0D560D7BB5BA}"/>
              </a:ext>
            </a:extLst>
          </p:cNvPr>
          <p:cNvSpPr>
            <a:spLocks xmlns:a="http://schemas.openxmlformats.org/drawingml/2006/main" noGrp="1"/>
          </p:cNvSpPr>
          <p:nvPr/>
        </p:nvSpPr>
        <p:spPr>
          <a:xfrm xmlns:a="http://schemas.openxmlformats.org/drawingml/2006/main">
            <a:off x="838200" y="4333875"/>
            <a:ext cx="400050" cy="400050"/>
          </a:xfrm>
          <a:prstGeom xmlns:a="http://schemas.openxmlformats.org/drawingml/2006/main" prst="roundRect">
            <a:avLst>
              <a:gd name="adj" fmla="val 33333"/>
            </a:avLst>
          </a:prstGeom>
          <a:solidFill xmlns:a="http://schemas.openxmlformats.org/drawingml/2006/main">
            <a:srgbClr val="143B67"/>
          </a:solidFill>
          <a:ln xmlns:a="http://schemas.openxmlformats.org/drawingml/2006/main" w="0">
            <a:noFill/>
            <a:prstDash val="solid"/>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72f6b7dd051241b6">
            <a:extLst>
              <a:ext uri="{96DAC541-7B7A-43D3-8B79-37D633B846F1}">
                <asvg:svgBlip xmlns:asvg="http://schemas.microsoft.com/office/drawing/2016/SVG/main" r:embed="R5c360e48877d43e1"/>
              </a:ext>
            </a:extLst>
          </a:blip>
          <a:stretch xmlns:a="http://schemas.openxmlformats.org/drawingml/2006/main"/>
        </p:blipFill>
        <p:spPr>
          <a:xfrm xmlns:a="http://schemas.openxmlformats.org/drawingml/2006/main">
            <a:off x="942975" y="4438650"/>
            <a:ext cx="190500" cy="1905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E840B7A2-F0B2-45A4-9E9F-B25FDCB296D2}"/>
              </a:ext>
            </a:extLst>
          </p:cNvPr>
          <p:cNvSpPr>
            <a:spLocks xmlns:a="http://schemas.openxmlformats.org/drawingml/2006/main" noGrp="1"/>
          </p:cNvSpPr>
          <p:nvPr/>
        </p:nvSpPr>
        <p:spPr>
          <a:xfrm xmlns:a="http://schemas.openxmlformats.org/drawingml/2006/main">
            <a:off x="1390650" y="4410075"/>
            <a:ext cx="2809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9E6F4"/>
                </a:solidFill>
              </a:defRPr>
            </a:pPr>
            <a:r>
              <a:rPr sz="1200" b="0">
                <a:solidFill>
                  <a:srgbClr val="D9E6F4"/>
                </a:solidFill>
              </a:rPr>
              <a:t>How each region was translated</a:t>
            </a:r>
          </a:p>
        </p:txBody>
      </p:sp>
      <p:sp>
        <p:nvSpPr>
          <p:cNvPr id="15" name="">
            <a:extLst xmlns:a="http://schemas.openxmlformats.org/drawingml/2006/main">
              <a:ext uri="{FF2B5EF4-FFF2-40B4-BE49-F238E27FC236}">
                <a16:creationId xmlns:a16="http://schemas.microsoft.com/office/drawing/2014/main" id="{E133FF33-6DAB-48D6-AF23-59818220F5BE}"/>
              </a:ext>
            </a:extLst>
          </p:cNvPr>
          <p:cNvSpPr>
            <a:spLocks xmlns:a="http://schemas.openxmlformats.org/drawingml/2006/main" noGrp="1"/>
          </p:cNvSpPr>
          <p:nvPr/>
        </p:nvSpPr>
        <p:spPr>
          <a:xfrm xmlns:a="http://schemas.openxmlformats.org/drawingml/2006/main">
            <a:off x="838200" y="4914900"/>
            <a:ext cx="400050" cy="400050"/>
          </a:xfrm>
          <a:prstGeom xmlns:a="http://schemas.openxmlformats.org/drawingml/2006/main" prst="roundRect">
            <a:avLst>
              <a:gd name="adj" fmla="val 33333"/>
            </a:avLst>
          </a:prstGeom>
          <a:solidFill xmlns:a="http://schemas.openxmlformats.org/drawingml/2006/main">
            <a:srgbClr val="143B67"/>
          </a:solidFill>
          <a:ln xmlns:a="http://schemas.openxmlformats.org/drawingml/2006/main" w="0">
            <a:noFill/>
            <a:prstDash val="solid"/>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16922b1a4c214994">
            <a:extLst>
              <a:ext uri="{96DAC541-7B7A-43D3-8B79-37D633B846F1}">
                <asvg:svgBlip xmlns:asvg="http://schemas.microsoft.com/office/drawing/2016/SVG/main" r:embed="Rb2f188fd52ed4554"/>
              </a:ext>
            </a:extLst>
          </a:blip>
          <a:stretch xmlns:a="http://schemas.openxmlformats.org/drawingml/2006/main"/>
        </p:blipFill>
        <p:spPr>
          <a:xfrm xmlns:a="http://schemas.openxmlformats.org/drawingml/2006/main">
            <a:off x="942975" y="5019675"/>
            <a:ext cx="190500" cy="1905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97150ABC-B328-4809-BF89-7E26E9DA107C}"/>
              </a:ext>
            </a:extLst>
          </p:cNvPr>
          <p:cNvSpPr>
            <a:spLocks xmlns:a="http://schemas.openxmlformats.org/drawingml/2006/main" noGrp="1"/>
          </p:cNvSpPr>
          <p:nvPr/>
        </p:nvSpPr>
        <p:spPr>
          <a:xfrm xmlns:a="http://schemas.openxmlformats.org/drawingml/2006/main">
            <a:off x="1390650" y="4991100"/>
            <a:ext cx="2809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9E6F4"/>
                </a:solidFill>
              </a:defRPr>
            </a:pPr>
            <a:r>
              <a:rPr sz="1200" b="0">
                <a:solidFill>
                  <a:srgbClr val="D9E6F4"/>
                </a:solidFill>
              </a:rPr>
              <a:t>What structured data will be exported</a:t>
            </a:r>
          </a:p>
        </p:txBody>
      </p:sp>
      <p:sp>
        <p:nvSpPr>
          <p:cNvPr id="18" name="">
            <a:extLst xmlns:a="http://schemas.openxmlformats.org/drawingml/2006/main">
              <a:ext uri="{FF2B5EF4-FFF2-40B4-BE49-F238E27FC236}">
                <a16:creationId xmlns:a16="http://schemas.microsoft.com/office/drawing/2014/main" id="{F2A9AC88-0C20-4410-AEFC-CA0694801065}"/>
              </a:ext>
            </a:extLst>
          </p:cNvPr>
          <p:cNvSpPr>
            <a:spLocks xmlns:a="http://schemas.openxmlformats.org/drawingml/2006/main" noGrp="1"/>
          </p:cNvSpPr>
          <p:nvPr/>
        </p:nvSpPr>
        <p:spPr>
          <a:xfrm xmlns:a="http://schemas.openxmlformats.org/drawingml/2006/main">
            <a:off x="838200" y="54483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2A9D5"/>
                </a:solidFill>
              </a:defRPr>
            </a:pPr>
            <a:r>
              <a:rPr sz="975" b="1">
                <a:solidFill>
                  <a:srgbClr val="82A9D5"/>
                </a:solidFill>
              </a:rPr>
              <a:t>CONTEXT  •  TRACEABILITY  •  CONTROL</a:t>
            </a:r>
          </a:p>
        </p:txBody>
      </p:sp>
      <p:sp>
        <p:nvSpPr>
          <p:cNvPr id="19" name="">
            <a:extLst xmlns:a="http://schemas.openxmlformats.org/drawingml/2006/main">
              <a:ext uri="{FF2B5EF4-FFF2-40B4-BE49-F238E27FC236}">
                <a16:creationId xmlns:a16="http://schemas.microsoft.com/office/drawing/2014/main" id="{809BB4BB-C4DB-4578-A4C6-A327D0B8772C}"/>
              </a:ext>
            </a:extLst>
          </p:cNvPr>
          <p:cNvSpPr>
            <a:spLocks xmlns:a="http://schemas.openxmlformats.org/drawingml/2006/main" noGrp="1"/>
          </p:cNvSpPr>
          <p:nvPr/>
        </p:nvSpPr>
        <p:spPr>
          <a:xfrm xmlns:a="http://schemas.openxmlformats.org/drawingml/2006/main">
            <a:off x="5657850" y="3228975"/>
            <a:ext cx="4905375" cy="0"/>
          </a:xfrm>
          <a:prstGeom xmlns:a="http://schemas.openxmlformats.org/drawingml/2006/main" prst="line">
            <a:avLst/>
          </a:prstGeom>
          <a:noFill xmlns:a="http://schemas.openxmlformats.org/drawingml/2006/main"/>
          <a:ln xmlns:a="http://schemas.openxmlformats.org/drawingml/2006/main" w="57150">
            <a:solidFill>
              <a:srgbClr val="DBEAFE"/>
            </a:solidFill>
            <a:prstDash val="solid"/>
          </a:ln>
        </p:spPr>
      </p:sp>
      <p:sp>
        <p:nvSpPr>
          <p:cNvPr id="20" name="">
            <a:extLst xmlns:a="http://schemas.openxmlformats.org/drawingml/2006/main">
              <a:ext uri="{FF2B5EF4-FFF2-40B4-BE49-F238E27FC236}">
                <a16:creationId xmlns:a16="http://schemas.microsoft.com/office/drawing/2014/main" id="{1F1701C6-F6AC-48AA-9168-6DDDD8C231E6}"/>
              </a:ext>
            </a:extLst>
          </p:cNvPr>
          <p:cNvSpPr>
            <a:spLocks xmlns:a="http://schemas.openxmlformats.org/drawingml/2006/main" noGrp="1"/>
          </p:cNvSpPr>
          <p:nvPr/>
        </p:nvSpPr>
        <p:spPr>
          <a:xfrm xmlns:a="http://schemas.openxmlformats.org/drawingml/2006/main">
            <a:off x="5276850" y="2667000"/>
            <a:ext cx="990600" cy="1123950"/>
          </a:xfrm>
          <a:prstGeom xmlns:a="http://schemas.openxmlformats.org/drawingml/2006/main" prst="roundRect">
            <a:avLst>
              <a:gd name="adj" fmla="val 19231"/>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8A21E506-8750-4B31-BEDA-54BAB60A8DEE}"/>
              </a:ext>
            </a:extLst>
          </p:cNvPr>
          <p:cNvSpPr>
            <a:spLocks xmlns:a="http://schemas.openxmlformats.org/drawingml/2006/main" noGrp="1"/>
          </p:cNvSpPr>
          <p:nvPr/>
        </p:nvSpPr>
        <p:spPr>
          <a:xfrm xmlns:a="http://schemas.openxmlformats.org/drawingml/2006/main">
            <a:off x="5553075" y="2828925"/>
            <a:ext cx="438150" cy="438150"/>
          </a:xfrm>
          <a:prstGeom xmlns:a="http://schemas.openxmlformats.org/drawingml/2006/main" prst="roundRect">
            <a:avLst>
              <a:gd name="adj" fmla="val 30435"/>
            </a:avLst>
          </a:prstGeom>
          <a:solidFill xmlns:a="http://schemas.openxmlformats.org/drawingml/2006/main">
            <a:srgbClr val="EFF6FF"/>
          </a:solidFill>
          <a:ln xmlns:a="http://schemas.openxmlformats.org/drawingml/2006/main" w="0">
            <a:no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eeb6dcca3aa64f17">
            <a:extLst>
              <a:ext uri="{96DAC541-7B7A-43D3-8B79-37D633B846F1}">
                <asvg:svgBlip xmlns:asvg="http://schemas.microsoft.com/office/drawing/2016/SVG/main" r:embed="Rabfdfefd5a254d3a"/>
              </a:ext>
            </a:extLst>
          </a:blip>
          <a:stretch xmlns:a="http://schemas.openxmlformats.org/drawingml/2006/main"/>
        </p:blipFill>
        <p:spPr>
          <a:xfrm xmlns:a="http://schemas.openxmlformats.org/drawingml/2006/main">
            <a:off x="5657850" y="2933700"/>
            <a:ext cx="228600" cy="2286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C43B3F51-62DB-4B64-A916-97A081A28FD8}"/>
              </a:ext>
            </a:extLst>
          </p:cNvPr>
          <p:cNvSpPr>
            <a:spLocks xmlns:a="http://schemas.openxmlformats.org/drawingml/2006/main" noGrp="1"/>
          </p:cNvSpPr>
          <p:nvPr/>
        </p:nvSpPr>
        <p:spPr>
          <a:xfrm xmlns:a="http://schemas.openxmlformats.org/drawingml/2006/main">
            <a:off x="5353050" y="33528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3233A"/>
                </a:solidFill>
              </a:defRPr>
            </a:pPr>
            <a:r>
              <a:rPr sz="1125" b="1">
                <a:solidFill>
                  <a:srgbClr val="13233A"/>
                </a:solidFill>
              </a:rPr>
              <a:t>Upload</a:t>
            </a:r>
          </a:p>
        </p:txBody>
      </p:sp>
      <p:sp>
        <p:nvSpPr>
          <p:cNvPr id="24" name="">
            <a:extLst xmlns:a="http://schemas.openxmlformats.org/drawingml/2006/main">
              <a:ext uri="{FF2B5EF4-FFF2-40B4-BE49-F238E27FC236}">
                <a16:creationId xmlns:a16="http://schemas.microsoft.com/office/drawing/2014/main" id="{3D200A5C-0F75-4C4F-A76D-85EF36E66102}"/>
              </a:ext>
            </a:extLst>
          </p:cNvPr>
          <p:cNvSpPr>
            <a:spLocks xmlns:a="http://schemas.openxmlformats.org/drawingml/2006/main" noGrp="1"/>
          </p:cNvSpPr>
          <p:nvPr/>
        </p:nvSpPr>
        <p:spPr>
          <a:xfrm xmlns:a="http://schemas.openxmlformats.org/drawingml/2006/main">
            <a:off x="5343525" y="35623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0">
                <a:solidFill>
                  <a:srgbClr val="5F7088"/>
                </a:solidFill>
              </a:defRPr>
            </a:pPr>
            <a:r>
              <a:rPr sz="900" b="0">
                <a:solidFill>
                  <a:srgbClr val="5F7088"/>
                </a:solidFill>
              </a:rPr>
              <a:t>PDF or image</a:t>
            </a:r>
          </a:p>
        </p:txBody>
      </p:sp>
      <p:sp>
        <p:nvSpPr>
          <p:cNvPr id="25" name="">
            <a:extLst xmlns:a="http://schemas.openxmlformats.org/drawingml/2006/main">
              <a:ext uri="{FF2B5EF4-FFF2-40B4-BE49-F238E27FC236}">
                <a16:creationId xmlns:a16="http://schemas.microsoft.com/office/drawing/2014/main" id="{E7A63261-D346-4C58-9AE9-188B49CC9C85}"/>
              </a:ext>
            </a:extLst>
          </p:cNvPr>
          <p:cNvSpPr>
            <a:spLocks xmlns:a="http://schemas.openxmlformats.org/drawingml/2006/main" noGrp="1"/>
          </p:cNvSpPr>
          <p:nvPr/>
        </p:nvSpPr>
        <p:spPr>
          <a:xfrm xmlns:a="http://schemas.openxmlformats.org/drawingml/2006/main">
            <a:off x="6581775" y="2667000"/>
            <a:ext cx="990600" cy="1123950"/>
          </a:xfrm>
          <a:prstGeom xmlns:a="http://schemas.openxmlformats.org/drawingml/2006/main" prst="roundRect">
            <a:avLst>
              <a:gd name="adj" fmla="val 19231"/>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52A40E96-770D-4377-ABB7-56ACEE1B2177}"/>
              </a:ext>
            </a:extLst>
          </p:cNvPr>
          <p:cNvSpPr>
            <a:spLocks xmlns:a="http://schemas.openxmlformats.org/drawingml/2006/main" noGrp="1"/>
          </p:cNvSpPr>
          <p:nvPr/>
        </p:nvSpPr>
        <p:spPr>
          <a:xfrm xmlns:a="http://schemas.openxmlformats.org/drawingml/2006/main">
            <a:off x="6858000" y="2828925"/>
            <a:ext cx="438150" cy="438150"/>
          </a:xfrm>
          <a:prstGeom xmlns:a="http://schemas.openxmlformats.org/drawingml/2006/main" prst="roundRect">
            <a:avLst>
              <a:gd name="adj" fmla="val 30435"/>
            </a:avLst>
          </a:prstGeom>
          <a:solidFill xmlns:a="http://schemas.openxmlformats.org/drawingml/2006/main">
            <a:srgbClr val="EFF6FF"/>
          </a:solidFill>
          <a:ln xmlns:a="http://schemas.openxmlformats.org/drawingml/2006/main" w="0">
            <a:noFill/>
            <a:prstDash val="solid"/>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ed642e8fd075468b">
            <a:extLst>
              <a:ext uri="{96DAC541-7B7A-43D3-8B79-37D633B846F1}">
                <asvg:svgBlip xmlns:asvg="http://schemas.microsoft.com/office/drawing/2016/SVG/main" r:embed="R536022af9c5e475e"/>
              </a:ext>
            </a:extLst>
          </a:blip>
          <a:stretch xmlns:a="http://schemas.openxmlformats.org/drawingml/2006/main"/>
        </p:blipFill>
        <p:spPr>
          <a:xfrm xmlns:a="http://schemas.openxmlformats.org/drawingml/2006/main">
            <a:off x="6962775" y="2933700"/>
            <a:ext cx="228600" cy="2286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33C39354-86EA-4DB9-AD50-548D24EBB2FC}"/>
              </a:ext>
            </a:extLst>
          </p:cNvPr>
          <p:cNvSpPr>
            <a:spLocks xmlns:a="http://schemas.openxmlformats.org/drawingml/2006/main" noGrp="1"/>
          </p:cNvSpPr>
          <p:nvPr/>
        </p:nvSpPr>
        <p:spPr>
          <a:xfrm xmlns:a="http://schemas.openxmlformats.org/drawingml/2006/main">
            <a:off x="6657975" y="33528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3233A"/>
                </a:solidFill>
              </a:defRPr>
            </a:pPr>
            <a:r>
              <a:rPr sz="1125" b="1">
                <a:solidFill>
                  <a:srgbClr val="13233A"/>
                </a:solidFill>
              </a:rPr>
              <a:t>Extract</a:t>
            </a:r>
          </a:p>
        </p:txBody>
      </p:sp>
      <p:sp>
        <p:nvSpPr>
          <p:cNvPr id="29" name="">
            <a:extLst xmlns:a="http://schemas.openxmlformats.org/drawingml/2006/main">
              <a:ext uri="{FF2B5EF4-FFF2-40B4-BE49-F238E27FC236}">
                <a16:creationId xmlns:a16="http://schemas.microsoft.com/office/drawing/2014/main" id="{213B51BB-1BE4-4040-BE69-0ADD010361A6}"/>
              </a:ext>
            </a:extLst>
          </p:cNvPr>
          <p:cNvSpPr>
            <a:spLocks xmlns:a="http://schemas.openxmlformats.org/drawingml/2006/main" noGrp="1"/>
          </p:cNvSpPr>
          <p:nvPr/>
        </p:nvSpPr>
        <p:spPr>
          <a:xfrm xmlns:a="http://schemas.openxmlformats.org/drawingml/2006/main">
            <a:off x="6648450" y="35623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0">
                <a:solidFill>
                  <a:srgbClr val="5F7088"/>
                </a:solidFill>
              </a:defRPr>
            </a:pPr>
            <a:r>
              <a:rPr sz="900" b="0">
                <a:solidFill>
                  <a:srgbClr val="5F7088"/>
                </a:solidFill>
              </a:rPr>
              <a:t>Layout + regions</a:t>
            </a:r>
          </a:p>
        </p:txBody>
      </p:sp>
      <p:sp>
        <p:nvSpPr>
          <p:cNvPr id="30" name="">
            <a:extLst xmlns:a="http://schemas.openxmlformats.org/drawingml/2006/main">
              <a:ext uri="{FF2B5EF4-FFF2-40B4-BE49-F238E27FC236}">
                <a16:creationId xmlns:a16="http://schemas.microsoft.com/office/drawing/2014/main" id="{DF58C68B-3EFC-418D-A838-1DF6FA466826}"/>
              </a:ext>
            </a:extLst>
          </p:cNvPr>
          <p:cNvSpPr>
            <a:spLocks xmlns:a="http://schemas.openxmlformats.org/drawingml/2006/main" noGrp="1"/>
          </p:cNvSpPr>
          <p:nvPr/>
        </p:nvSpPr>
        <p:spPr>
          <a:xfrm xmlns:a="http://schemas.openxmlformats.org/drawingml/2006/main">
            <a:off x="7886700" y="2667000"/>
            <a:ext cx="990600" cy="1123950"/>
          </a:xfrm>
          <a:prstGeom xmlns:a="http://schemas.openxmlformats.org/drawingml/2006/main" prst="roundRect">
            <a:avLst>
              <a:gd name="adj" fmla="val 19231"/>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2D40C4E1-CF14-4399-BEB1-CFC7C26FAA41}"/>
              </a:ext>
            </a:extLst>
          </p:cNvPr>
          <p:cNvSpPr>
            <a:spLocks xmlns:a="http://schemas.openxmlformats.org/drawingml/2006/main" noGrp="1"/>
          </p:cNvSpPr>
          <p:nvPr/>
        </p:nvSpPr>
        <p:spPr>
          <a:xfrm xmlns:a="http://schemas.openxmlformats.org/drawingml/2006/main">
            <a:off x="8162925" y="2828925"/>
            <a:ext cx="438150" cy="438150"/>
          </a:xfrm>
          <a:prstGeom xmlns:a="http://schemas.openxmlformats.org/drawingml/2006/main" prst="roundRect">
            <a:avLst>
              <a:gd name="adj" fmla="val 30435"/>
            </a:avLst>
          </a:prstGeom>
          <a:solidFill xmlns:a="http://schemas.openxmlformats.org/drawingml/2006/main">
            <a:srgbClr val="EFF6FF"/>
          </a:solidFill>
          <a:ln xmlns:a="http://schemas.openxmlformats.org/drawingml/2006/main" w="0">
            <a:noFill/>
            <a:prstDash val="solid"/>
          </a:ln>
        </p:spPr>
      </p:sp>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71d3d52f50724776">
            <a:extLst>
              <a:ext uri="{96DAC541-7B7A-43D3-8B79-37D633B846F1}">
                <asvg:svgBlip xmlns:asvg="http://schemas.microsoft.com/office/drawing/2016/SVG/main" r:embed="R86ec8c78ceff4489"/>
              </a:ext>
            </a:extLst>
          </a:blip>
          <a:stretch xmlns:a="http://schemas.openxmlformats.org/drawingml/2006/main"/>
        </p:blipFill>
        <p:spPr>
          <a:xfrm xmlns:a="http://schemas.openxmlformats.org/drawingml/2006/main">
            <a:off x="8267700" y="2933700"/>
            <a:ext cx="228600" cy="22860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9F7D52C3-EB95-4335-9B10-7546073728AB}"/>
              </a:ext>
            </a:extLst>
          </p:cNvPr>
          <p:cNvSpPr>
            <a:spLocks xmlns:a="http://schemas.openxmlformats.org/drawingml/2006/main" noGrp="1"/>
          </p:cNvSpPr>
          <p:nvPr/>
        </p:nvSpPr>
        <p:spPr>
          <a:xfrm xmlns:a="http://schemas.openxmlformats.org/drawingml/2006/main">
            <a:off x="7962900" y="33528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3233A"/>
                </a:solidFill>
              </a:defRPr>
            </a:pPr>
            <a:r>
              <a:rPr sz="1125" b="1">
                <a:solidFill>
                  <a:srgbClr val="13233A"/>
                </a:solidFill>
              </a:rPr>
              <a:t>Translate</a:t>
            </a:r>
          </a:p>
        </p:txBody>
      </p:sp>
      <p:sp>
        <p:nvSpPr>
          <p:cNvPr id="34" name="">
            <a:extLst xmlns:a="http://schemas.openxmlformats.org/drawingml/2006/main">
              <a:ext uri="{FF2B5EF4-FFF2-40B4-BE49-F238E27FC236}">
                <a16:creationId xmlns:a16="http://schemas.microsoft.com/office/drawing/2014/main" id="{5121FBAD-0C8C-45B7-B02C-992974167C7F}"/>
              </a:ext>
            </a:extLst>
          </p:cNvPr>
          <p:cNvSpPr>
            <a:spLocks xmlns:a="http://schemas.openxmlformats.org/drawingml/2006/main" noGrp="1"/>
          </p:cNvSpPr>
          <p:nvPr/>
        </p:nvSpPr>
        <p:spPr>
          <a:xfrm xmlns:a="http://schemas.openxmlformats.org/drawingml/2006/main">
            <a:off x="7953375" y="35623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0">
                <a:solidFill>
                  <a:srgbClr val="5F7088"/>
                </a:solidFill>
              </a:defRPr>
            </a:pPr>
            <a:r>
              <a:rPr sz="900" b="0">
                <a:solidFill>
                  <a:srgbClr val="5F7088"/>
                </a:solidFill>
              </a:rPr>
              <a:t>Approved route</a:t>
            </a:r>
          </a:p>
        </p:txBody>
      </p:sp>
      <p:sp>
        <p:nvSpPr>
          <p:cNvPr id="35" name="">
            <a:extLst xmlns:a="http://schemas.openxmlformats.org/drawingml/2006/main">
              <a:ext uri="{FF2B5EF4-FFF2-40B4-BE49-F238E27FC236}">
                <a16:creationId xmlns:a16="http://schemas.microsoft.com/office/drawing/2014/main" id="{321D503B-A491-4374-8842-4640CBAD53D1}"/>
              </a:ext>
            </a:extLst>
          </p:cNvPr>
          <p:cNvSpPr>
            <a:spLocks xmlns:a="http://schemas.openxmlformats.org/drawingml/2006/main" noGrp="1"/>
          </p:cNvSpPr>
          <p:nvPr/>
        </p:nvSpPr>
        <p:spPr>
          <a:xfrm xmlns:a="http://schemas.openxmlformats.org/drawingml/2006/main">
            <a:off x="9191625" y="2667000"/>
            <a:ext cx="990600" cy="1123950"/>
          </a:xfrm>
          <a:prstGeom xmlns:a="http://schemas.openxmlformats.org/drawingml/2006/main" prst="roundRect">
            <a:avLst>
              <a:gd name="adj" fmla="val 19231"/>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E62C7BFB-538F-4C56-955C-F341E9EDEFC7}"/>
              </a:ext>
            </a:extLst>
          </p:cNvPr>
          <p:cNvSpPr>
            <a:spLocks xmlns:a="http://schemas.openxmlformats.org/drawingml/2006/main" noGrp="1"/>
          </p:cNvSpPr>
          <p:nvPr/>
        </p:nvSpPr>
        <p:spPr>
          <a:xfrm xmlns:a="http://schemas.openxmlformats.org/drawingml/2006/main">
            <a:off x="9467850" y="2828925"/>
            <a:ext cx="438150" cy="438150"/>
          </a:xfrm>
          <a:prstGeom xmlns:a="http://schemas.openxmlformats.org/drawingml/2006/main" prst="roundRect">
            <a:avLst>
              <a:gd name="adj" fmla="val 30435"/>
            </a:avLst>
          </a:prstGeom>
          <a:solidFill xmlns:a="http://schemas.openxmlformats.org/drawingml/2006/main">
            <a:srgbClr val="EFF6FF"/>
          </a:solidFill>
          <a:ln xmlns:a="http://schemas.openxmlformats.org/drawingml/2006/main" w="0">
            <a:noFill/>
            <a:prstDash val="solid"/>
          </a:ln>
        </p:spPr>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92a28f11999d44f8">
            <a:extLst>
              <a:ext uri="{96DAC541-7B7A-43D3-8B79-37D633B846F1}">
                <asvg:svgBlip xmlns:asvg="http://schemas.microsoft.com/office/drawing/2016/SVG/main" r:embed="R1cad3655bf024ca5"/>
              </a:ext>
            </a:extLst>
          </a:blip>
          <a:stretch xmlns:a="http://schemas.openxmlformats.org/drawingml/2006/main"/>
        </p:blipFill>
        <p:spPr>
          <a:xfrm xmlns:a="http://schemas.openxmlformats.org/drawingml/2006/main">
            <a:off x="9572625" y="2933700"/>
            <a:ext cx="228600" cy="228600"/>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E87E9DD4-87CF-4AF1-A2DA-FB4FBF97235C}"/>
              </a:ext>
            </a:extLst>
          </p:cNvPr>
          <p:cNvSpPr>
            <a:spLocks xmlns:a="http://schemas.openxmlformats.org/drawingml/2006/main" noGrp="1"/>
          </p:cNvSpPr>
          <p:nvPr/>
        </p:nvSpPr>
        <p:spPr>
          <a:xfrm xmlns:a="http://schemas.openxmlformats.org/drawingml/2006/main">
            <a:off x="9267825" y="33528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3233A"/>
                </a:solidFill>
              </a:defRPr>
            </a:pPr>
            <a:r>
              <a:rPr sz="1125" b="1">
                <a:solidFill>
                  <a:srgbClr val="13233A"/>
                </a:solidFill>
              </a:rPr>
              <a:t>Trace</a:t>
            </a:r>
          </a:p>
        </p:txBody>
      </p:sp>
      <p:sp>
        <p:nvSpPr>
          <p:cNvPr id="39" name="">
            <a:extLst xmlns:a="http://schemas.openxmlformats.org/drawingml/2006/main">
              <a:ext uri="{FF2B5EF4-FFF2-40B4-BE49-F238E27FC236}">
                <a16:creationId xmlns:a16="http://schemas.microsoft.com/office/drawing/2014/main" id="{B3FB361B-EE17-417E-8AFF-1FFD1F0F700B}"/>
              </a:ext>
            </a:extLst>
          </p:cNvPr>
          <p:cNvSpPr>
            <a:spLocks xmlns:a="http://schemas.openxmlformats.org/drawingml/2006/main" noGrp="1"/>
          </p:cNvSpPr>
          <p:nvPr/>
        </p:nvSpPr>
        <p:spPr>
          <a:xfrm xmlns:a="http://schemas.openxmlformats.org/drawingml/2006/main">
            <a:off x="9258300" y="35623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0">
                <a:solidFill>
                  <a:srgbClr val="5F7088"/>
                </a:solidFill>
              </a:defRPr>
            </a:pPr>
            <a:r>
              <a:rPr sz="900" b="0">
                <a:solidFill>
                  <a:srgbClr val="5F7088"/>
                </a:solidFill>
              </a:rPr>
              <a:t>Page-wise JSON</a:t>
            </a:r>
          </a:p>
        </p:txBody>
      </p:sp>
      <p:sp>
        <p:nvSpPr>
          <p:cNvPr id="40" name="">
            <a:extLst xmlns:a="http://schemas.openxmlformats.org/drawingml/2006/main">
              <a:ext uri="{FF2B5EF4-FFF2-40B4-BE49-F238E27FC236}">
                <a16:creationId xmlns:a16="http://schemas.microsoft.com/office/drawing/2014/main" id="{818D6D28-CC0C-4F5F-BF99-2488ABF7CC55}"/>
              </a:ext>
            </a:extLst>
          </p:cNvPr>
          <p:cNvSpPr>
            <a:spLocks xmlns:a="http://schemas.openxmlformats.org/drawingml/2006/main" noGrp="1"/>
          </p:cNvSpPr>
          <p:nvPr/>
        </p:nvSpPr>
        <p:spPr>
          <a:xfrm xmlns:a="http://schemas.openxmlformats.org/drawingml/2006/main">
            <a:off x="10496550" y="2667000"/>
            <a:ext cx="990600" cy="1123950"/>
          </a:xfrm>
          <a:prstGeom xmlns:a="http://schemas.openxmlformats.org/drawingml/2006/main" prst="roundRect">
            <a:avLst>
              <a:gd name="adj" fmla="val 19231"/>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1C11B1C7-5577-4A28-8700-68A54779761A}"/>
              </a:ext>
            </a:extLst>
          </p:cNvPr>
          <p:cNvSpPr>
            <a:spLocks xmlns:a="http://schemas.openxmlformats.org/drawingml/2006/main" noGrp="1"/>
          </p:cNvSpPr>
          <p:nvPr/>
        </p:nvSpPr>
        <p:spPr>
          <a:xfrm xmlns:a="http://schemas.openxmlformats.org/drawingml/2006/main">
            <a:off x="10772775" y="2828925"/>
            <a:ext cx="438150" cy="438150"/>
          </a:xfrm>
          <a:prstGeom xmlns:a="http://schemas.openxmlformats.org/drawingml/2006/main" prst="roundRect">
            <a:avLst>
              <a:gd name="adj" fmla="val 30435"/>
            </a:avLst>
          </a:prstGeom>
          <a:solidFill xmlns:a="http://schemas.openxmlformats.org/drawingml/2006/main">
            <a:srgbClr val="ECFDF9"/>
          </a:solidFill>
          <a:ln xmlns:a="http://schemas.openxmlformats.org/drawingml/2006/main" w="0">
            <a:noFill/>
            <a:prstDash val="solid"/>
          </a:ln>
        </p:spPr>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0edaedbc77c543e2">
            <a:extLst>
              <a:ext uri="{96DAC541-7B7A-43D3-8B79-37D633B846F1}">
                <asvg:svgBlip xmlns:asvg="http://schemas.microsoft.com/office/drawing/2016/SVG/main" r:embed="R9dac4390f61046a2"/>
              </a:ext>
            </a:extLst>
          </a:blip>
          <a:stretch xmlns:a="http://schemas.openxmlformats.org/drawingml/2006/main"/>
        </p:blipFill>
        <p:spPr>
          <a:xfrm xmlns:a="http://schemas.openxmlformats.org/drawingml/2006/main">
            <a:off x="10877550" y="2933700"/>
            <a:ext cx="228600" cy="22860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F8083C92-6D09-4779-9FC3-1647923C5F55}"/>
              </a:ext>
            </a:extLst>
          </p:cNvPr>
          <p:cNvSpPr>
            <a:spLocks xmlns:a="http://schemas.openxmlformats.org/drawingml/2006/main" noGrp="1"/>
          </p:cNvSpPr>
          <p:nvPr/>
        </p:nvSpPr>
        <p:spPr>
          <a:xfrm xmlns:a="http://schemas.openxmlformats.org/drawingml/2006/main">
            <a:off x="10572750" y="33528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3233A"/>
                </a:solidFill>
              </a:defRPr>
            </a:pPr>
            <a:r>
              <a:rPr sz="1125" b="1">
                <a:solidFill>
                  <a:srgbClr val="13233A"/>
                </a:solidFill>
              </a:rPr>
              <a:t>Review</a:t>
            </a:r>
          </a:p>
        </p:txBody>
      </p:sp>
      <p:sp>
        <p:nvSpPr>
          <p:cNvPr id="44" name="">
            <a:extLst xmlns:a="http://schemas.openxmlformats.org/drawingml/2006/main">
              <a:ext uri="{FF2B5EF4-FFF2-40B4-BE49-F238E27FC236}">
                <a16:creationId xmlns:a16="http://schemas.microsoft.com/office/drawing/2014/main" id="{4B4D9D84-1B1B-42CB-95D5-A0807AE3CEBB}"/>
              </a:ext>
            </a:extLst>
          </p:cNvPr>
          <p:cNvSpPr>
            <a:spLocks xmlns:a="http://schemas.openxmlformats.org/drawingml/2006/main" noGrp="1"/>
          </p:cNvSpPr>
          <p:nvPr/>
        </p:nvSpPr>
        <p:spPr>
          <a:xfrm xmlns:a="http://schemas.openxmlformats.org/drawingml/2006/main">
            <a:off x="10563225" y="35623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0">
                <a:solidFill>
                  <a:srgbClr val="5F7088"/>
                </a:solidFill>
              </a:defRPr>
            </a:pPr>
            <a:r>
              <a:rPr sz="900" b="0">
                <a:solidFill>
                  <a:srgbClr val="5F7088"/>
                </a:solidFill>
              </a:rPr>
              <a:t>Human decision</a:t>
            </a:r>
          </a:p>
        </p:txBody>
      </p:sp>
      <p:sp>
        <p:nvSpPr>
          <p:cNvPr id="45" name="">
            <a:extLst xmlns:a="http://schemas.openxmlformats.org/drawingml/2006/main">
              <a:ext uri="{FF2B5EF4-FFF2-40B4-BE49-F238E27FC236}">
                <a16:creationId xmlns:a16="http://schemas.microsoft.com/office/drawing/2014/main" id="{A07AE4A6-7BA4-4824-987F-0D39349F1BB8}"/>
              </a:ext>
            </a:extLst>
          </p:cNvPr>
          <p:cNvSpPr>
            <a:spLocks xmlns:a="http://schemas.openxmlformats.org/drawingml/2006/main" noGrp="1"/>
          </p:cNvSpPr>
          <p:nvPr/>
        </p:nvSpPr>
        <p:spPr>
          <a:xfrm xmlns:a="http://schemas.openxmlformats.org/drawingml/2006/main">
            <a:off x="5276850" y="4219575"/>
            <a:ext cx="6210300" cy="1352550"/>
          </a:xfrm>
          <a:prstGeom xmlns:a="http://schemas.openxmlformats.org/drawingml/2006/main" prst="roundRect">
            <a:avLst>
              <a:gd name="adj" fmla="val 15493"/>
            </a:avLst>
          </a:prstGeom>
          <a:solidFill xmlns:a="http://schemas.openxmlformats.org/drawingml/2006/main">
            <a:srgbClr val="FFFFFF"/>
          </a:solidFill>
          <a:ln xmlns:a="http://schemas.openxmlformats.org/drawingml/2006/main" w="9525">
            <a:solidFill>
              <a:srgbClr val="D9E3F0"/>
            </a:solidFill>
            <a:prstDash val="solid"/>
          </a:ln>
        </p:spPr>
      </p:sp>
      <p:sp>
        <p:nvSpPr>
          <p:cNvPr id="46" name="">
            <a:extLst xmlns:a="http://schemas.openxmlformats.org/drawingml/2006/main">
              <a:ext uri="{FF2B5EF4-FFF2-40B4-BE49-F238E27FC236}">
                <a16:creationId xmlns:a16="http://schemas.microsoft.com/office/drawing/2014/main" id="{337E61A2-319A-44CF-9F0A-89A6B3D0651B}"/>
              </a:ext>
            </a:extLst>
          </p:cNvPr>
          <p:cNvSpPr>
            <a:spLocks xmlns:a="http://schemas.openxmlformats.org/drawingml/2006/main" noGrp="1"/>
          </p:cNvSpPr>
          <p:nvPr/>
        </p:nvSpPr>
        <p:spPr>
          <a:xfrm xmlns:a="http://schemas.openxmlformats.org/drawingml/2006/main">
            <a:off x="5543550" y="4533900"/>
            <a:ext cx="476250" cy="476250"/>
          </a:xfrm>
          <a:prstGeom xmlns:a="http://schemas.openxmlformats.org/drawingml/2006/main" prst="roundRect">
            <a:avLst>
              <a:gd name="adj" fmla="val 28000"/>
            </a:avLst>
          </a:prstGeom>
          <a:solidFill xmlns:a="http://schemas.openxmlformats.org/drawingml/2006/main">
            <a:srgbClr val="ECFDF9"/>
          </a:solidFill>
          <a:ln xmlns:a="http://schemas.openxmlformats.org/drawingml/2006/main" w="0">
            <a:noFill/>
            <a:prstDash val="solid"/>
          </a:ln>
        </p:spPr>
      </p:sp>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733e9bcf21e7474c">
            <a:extLst>
              <a:ext uri="{96DAC541-7B7A-43D3-8B79-37D633B846F1}">
                <asvg:svgBlip xmlns:asvg="http://schemas.microsoft.com/office/drawing/2016/SVG/main" r:embed="R37a8a34b2fd4469f"/>
              </a:ext>
            </a:extLst>
          </a:blip>
          <a:stretch xmlns:a="http://schemas.openxmlformats.org/drawingml/2006/main"/>
        </p:blipFill>
        <p:spPr>
          <a:xfrm xmlns:a="http://schemas.openxmlformats.org/drawingml/2006/main">
            <a:off x="5648325" y="4638675"/>
            <a:ext cx="266700" cy="266700"/>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9D969D6F-EC24-472C-934A-F7C6931CA8C8}"/>
              </a:ext>
            </a:extLst>
          </p:cNvPr>
          <p:cNvSpPr>
            <a:spLocks xmlns:a="http://schemas.openxmlformats.org/drawingml/2006/main" noGrp="1"/>
          </p:cNvSpPr>
          <p:nvPr/>
        </p:nvSpPr>
        <p:spPr>
          <a:xfrm xmlns:a="http://schemas.openxmlformats.org/drawingml/2006/main">
            <a:off x="6229350" y="44672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9D8A"/>
                </a:solidFill>
              </a:defRPr>
            </a:pPr>
            <a:r>
              <a:rPr sz="975" b="1">
                <a:solidFill>
                  <a:srgbClr val="0F9D8A"/>
                </a:solidFill>
              </a:rPr>
              <a:t>Product promise</a:t>
            </a:r>
          </a:p>
        </p:txBody>
      </p:sp>
      <p:sp>
        <p:nvSpPr>
          <p:cNvPr id="49" name="">
            <a:extLst xmlns:a="http://schemas.openxmlformats.org/drawingml/2006/main">
              <a:ext uri="{FF2B5EF4-FFF2-40B4-BE49-F238E27FC236}">
                <a16:creationId xmlns:a16="http://schemas.microsoft.com/office/drawing/2014/main" id="{5C39BB2E-079D-4274-AF76-F94F320E711C}"/>
              </a:ext>
            </a:extLst>
          </p:cNvPr>
          <p:cNvSpPr>
            <a:spLocks xmlns:a="http://schemas.openxmlformats.org/drawingml/2006/main" noGrp="1"/>
          </p:cNvSpPr>
          <p:nvPr/>
        </p:nvSpPr>
        <p:spPr>
          <a:xfrm xmlns:a="http://schemas.openxmlformats.org/drawingml/2006/main">
            <a:off x="6229350" y="4743450"/>
            <a:ext cx="4838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71A33"/>
                </a:solidFill>
              </a:defRPr>
            </a:pPr>
            <a:r>
              <a:rPr sz="1650" b="1">
                <a:solidFill>
                  <a:srgbClr val="071A33"/>
                </a:solidFill>
              </a:rPr>
              <a:t>Every translated block remains connected to its source page, geometry and export record.</a:t>
            </a:r>
          </a:p>
        </p:txBody>
      </p:sp>
    </p:spTree>
    <p:extLst>
      <p:ext uri="{BB962C8B-B14F-4D97-AF65-F5344CB8AC3E}">
        <p14:creationId xmlns:p14="http://schemas.microsoft.com/office/powerpoint/2010/main" val="1602979282"/>
      </p:ext>
    </p:extLst>
  </p:cSld>
</p:sld>
</file>

<file path=ppt/slides/slide3.xml><?xml version="1.0" encoding="utf-8"?>
<p:sld xmlns:p="http://schemas.openxmlformats.org/presentationml/2006/main">
  <p:cSld>
    <p:bg>
      <p:bgPr>
        <a:solidFill xmlns:a="http://schemas.openxmlformats.org/drawingml/2006/main">
          <a:srgbClr val="F9FBFE"/>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FFC1162-06DD-41BE-909F-6335AFC6891D}"/>
              </a:ext>
            </a:extLst>
          </p:cNvPr>
          <p:cNvSpPr>
            <a:spLocks xmlns:a="http://schemas.openxmlformats.org/drawingml/2006/main" noGrp="1"/>
          </p:cNvSpPr>
          <p:nvPr/>
        </p:nvSpPr>
        <p:spPr>
          <a:xfrm xmlns:a="http://schemas.openxmlformats.org/drawingml/2006/main">
            <a:off x="552450" y="4191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CURRENT STATE</a:t>
            </a:r>
          </a:p>
        </p:txBody>
      </p:sp>
      <p:sp>
        <p:nvSpPr>
          <p:cNvPr id="2" name="">
            <a:extLst xmlns:a="http://schemas.openxmlformats.org/drawingml/2006/main">
              <a:ext uri="{FF2B5EF4-FFF2-40B4-BE49-F238E27FC236}">
                <a16:creationId xmlns:a16="http://schemas.microsoft.com/office/drawing/2014/main" id="{7BFBD58C-42D3-4FE2-A560-68C342CBF795}"/>
              </a:ext>
            </a:extLst>
          </p:cNvPr>
          <p:cNvSpPr>
            <a:spLocks xmlns:a="http://schemas.openxmlformats.org/drawingml/2006/main" noGrp="1"/>
          </p:cNvSpPr>
          <p:nvPr/>
        </p:nvSpPr>
        <p:spPr>
          <a:xfrm xmlns:a="http://schemas.openxmlformats.org/drawingml/2006/main">
            <a:off x="552450" y="723900"/>
            <a:ext cx="11087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71A33"/>
                </a:solidFill>
              </a:defRPr>
            </a:pPr>
            <a:r>
              <a:rPr sz="2850" b="1">
                <a:solidFill>
                  <a:srgbClr val="071A33"/>
                </a:solidFill>
              </a:rPr>
              <a:t>The POC already proves the core review experience</a:t>
            </a:r>
          </a:p>
        </p:txBody>
      </p:sp>
      <p:sp>
        <p:nvSpPr>
          <p:cNvPr id="3" name="">
            <a:extLst xmlns:a="http://schemas.openxmlformats.org/drawingml/2006/main">
              <a:ext uri="{FF2B5EF4-FFF2-40B4-BE49-F238E27FC236}">
                <a16:creationId xmlns:a16="http://schemas.microsoft.com/office/drawing/2014/main" id="{4C3B9835-CEF8-4D6D-A98F-4EA059E269C3}"/>
              </a:ext>
            </a:extLst>
          </p:cNvPr>
          <p:cNvSpPr>
            <a:spLocks xmlns:a="http://schemas.openxmlformats.org/drawingml/2006/main" noGrp="1"/>
          </p:cNvSpPr>
          <p:nvPr/>
        </p:nvSpPr>
        <p:spPr>
          <a:xfrm xmlns:a="http://schemas.openxmlformats.org/drawingml/2006/main">
            <a:off x="55245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F7088"/>
                </a:solidFill>
              </a:defRPr>
            </a:pPr>
            <a:r>
              <a:rPr sz="1275" b="0">
                <a:solidFill>
                  <a:srgbClr val="5F7088"/>
                </a:solidFill>
              </a:rPr>
              <a:t>A complete three-page demo works without Azure credentials; provider-backed processing is available when configured.</a:t>
            </a:r>
          </a:p>
        </p:txBody>
      </p:sp>
      <p:sp>
        <p:nvSpPr>
          <p:cNvPr id="4" name="">
            <a:extLst xmlns:a="http://schemas.openxmlformats.org/drawingml/2006/main">
              <a:ext uri="{FF2B5EF4-FFF2-40B4-BE49-F238E27FC236}">
                <a16:creationId xmlns:a16="http://schemas.microsoft.com/office/drawing/2014/main" id="{E3031D37-53D8-4E80-8340-7149D1906034}"/>
              </a:ext>
            </a:extLst>
          </p:cNvPr>
          <p:cNvSpPr>
            <a:spLocks xmlns:a="http://schemas.openxmlformats.org/drawingml/2006/main" noGrp="1"/>
          </p:cNvSpPr>
          <p:nvPr/>
        </p:nvSpPr>
        <p:spPr>
          <a:xfrm xmlns:a="http://schemas.openxmlformats.org/drawingml/2006/main">
            <a:off x="55245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7D8CA1"/>
                </a:solidFill>
              </a:defRPr>
            </a:pPr>
            <a:r>
              <a:rPr sz="750" b="1">
                <a:solidFill>
                  <a:srgbClr val="7D8CA1"/>
                </a:solidFill>
              </a:rPr>
              <a:t>CARETRANSLATE STUDIO</a:t>
            </a:r>
          </a:p>
        </p:txBody>
      </p:sp>
      <p:sp>
        <p:nvSpPr>
          <p:cNvPr id="5" name="">
            <a:extLst xmlns:a="http://schemas.openxmlformats.org/drawingml/2006/main">
              <a:ext uri="{FF2B5EF4-FFF2-40B4-BE49-F238E27FC236}">
                <a16:creationId xmlns:a16="http://schemas.microsoft.com/office/drawing/2014/main" id="{FC6C86B1-B655-4DC8-BD98-D889C1AE6C55}"/>
              </a:ext>
            </a:extLst>
          </p:cNvPr>
          <p:cNvSpPr>
            <a:spLocks xmlns:a="http://schemas.openxmlformats.org/drawingml/2006/main" noGrp="1"/>
          </p:cNvSpPr>
          <p:nvPr/>
        </p:nvSpPr>
        <p:spPr>
          <a:xfrm xmlns:a="http://schemas.openxmlformats.org/drawingml/2006/main">
            <a:off x="10477500" y="64389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7D8CA1"/>
                </a:solidFill>
              </a:defRPr>
            </a:pPr>
            <a:r>
              <a:rPr sz="750" b="1">
                <a:solidFill>
                  <a:srgbClr val="7D8CA1"/>
                </a:solidFill>
              </a:rPr>
              <a:t>03 / 07</a:t>
            </a:r>
          </a:p>
        </p:txBody>
      </p:sp>
      <p:sp>
        <p:nvSpPr>
          <p:cNvPr id="6" name="">
            <a:extLst xmlns:a="http://schemas.openxmlformats.org/drawingml/2006/main">
              <a:ext uri="{FF2B5EF4-FFF2-40B4-BE49-F238E27FC236}">
                <a16:creationId xmlns:a16="http://schemas.microsoft.com/office/drawing/2014/main" id="{3424A511-67A9-4728-84E9-753D3C1FFD44}"/>
              </a:ext>
            </a:extLst>
          </p:cNvPr>
          <p:cNvSpPr>
            <a:spLocks xmlns:a="http://schemas.openxmlformats.org/drawingml/2006/main" noGrp="1"/>
          </p:cNvSpPr>
          <p:nvPr/>
        </p:nvSpPr>
        <p:spPr>
          <a:xfrm xmlns:a="http://schemas.openxmlformats.org/drawingml/2006/main">
            <a:off x="9925050" y="457200"/>
            <a:ext cx="1600200" cy="285750"/>
          </a:xfrm>
          <a:prstGeom xmlns:a="http://schemas.openxmlformats.org/drawingml/2006/main" prst="roundRect">
            <a:avLst>
              <a:gd name="adj" fmla="val 50000"/>
            </a:avLst>
          </a:prstGeom>
          <a:solidFill xmlns:a="http://schemas.openxmlformats.org/drawingml/2006/main">
            <a:srgbClr val="ECFDF9"/>
          </a:solidFill>
          <a:ln xmlns:a="http://schemas.openxmlformats.org/drawingml/2006/main" w="9525">
            <a:solidFill>
              <a:srgbClr val="B8E8DF"/>
            </a:solidFill>
            <a:prstDash val="solid"/>
          </a:ln>
        </p:spPr>
      </p:sp>
      <p:sp>
        <p:nvSpPr>
          <p:cNvPr id="7" name="">
            <a:extLst xmlns:a="http://schemas.openxmlformats.org/drawingml/2006/main">
              <a:ext uri="{FF2B5EF4-FFF2-40B4-BE49-F238E27FC236}">
                <a16:creationId xmlns:a16="http://schemas.microsoft.com/office/drawing/2014/main" id="{8DE39EC9-E9AE-4F52-87E1-3450BBC70C10}"/>
              </a:ext>
            </a:extLst>
          </p:cNvPr>
          <p:cNvSpPr>
            <a:spLocks xmlns:a="http://schemas.openxmlformats.org/drawingml/2006/main" noGrp="1"/>
          </p:cNvSpPr>
          <p:nvPr/>
        </p:nvSpPr>
        <p:spPr>
          <a:xfrm xmlns:a="http://schemas.openxmlformats.org/drawingml/2006/main">
            <a:off x="10001250" y="504825"/>
            <a:ext cx="1447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0F9D8A"/>
                </a:solidFill>
              </a:defRPr>
            </a:pPr>
            <a:r>
              <a:rPr sz="900" b="1">
                <a:solidFill>
                  <a:srgbClr val="0F9D8A"/>
                </a:solidFill>
              </a:rPr>
              <a:t>CURRENT POC</a:t>
            </a:r>
          </a:p>
        </p:txBody>
      </p:sp>
      <p:sp>
        <p:nvSpPr>
          <p:cNvPr id="8" name="">
            <a:extLst xmlns:a="http://schemas.openxmlformats.org/drawingml/2006/main">
              <a:ext uri="{FF2B5EF4-FFF2-40B4-BE49-F238E27FC236}">
                <a16:creationId xmlns:a16="http://schemas.microsoft.com/office/drawing/2014/main" id="{9FB98BC7-842C-43ED-B973-42B8DE926F84}"/>
              </a:ext>
            </a:extLst>
          </p:cNvPr>
          <p:cNvSpPr>
            <a:spLocks xmlns:a="http://schemas.openxmlformats.org/drawingml/2006/main" noGrp="1"/>
          </p:cNvSpPr>
          <p:nvPr/>
        </p:nvSpPr>
        <p:spPr>
          <a:xfrm xmlns:a="http://schemas.openxmlformats.org/drawingml/2006/main">
            <a:off x="552450" y="1885950"/>
            <a:ext cx="7810500" cy="4114800"/>
          </a:xfrm>
          <a:prstGeom xmlns:a="http://schemas.openxmlformats.org/drawingml/2006/main" prst="roundRect">
            <a:avLst>
              <a:gd name="adj" fmla="val 5093"/>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8dd14dfc1a4d49a9"/>
          <a:srcRect xmlns:a="http://schemas.openxmlformats.org/drawingml/2006/main" l="0" t="8995" r="0" b="8995"/>
          <a:stretch xmlns:a="http://schemas.openxmlformats.org/drawingml/2006/main">
            <a:fillRect l="0" t="0" r="0" b="0"/>
          </a:stretch>
        </p:blipFill>
        <p:spPr>
          <a:xfrm xmlns:a="http://schemas.openxmlformats.org/drawingml/2006/main">
            <a:off x="666750" y="2000250"/>
            <a:ext cx="7581900" cy="3886200"/>
          </a:xfrm>
          <a:prstGeom xmlns:a="http://schemas.openxmlformats.org/drawingml/2006/main" prst="roundRect">
            <a:avLst>
              <a:gd name="adj" fmla="val 3922"/>
            </a:avLst>
          </a:prstGeom>
        </p:spPr>
      </p:pic>
      <p:sp>
        <p:nvSpPr>
          <p:cNvPr id="10" name="">
            <a:extLst xmlns:a="http://schemas.openxmlformats.org/drawingml/2006/main">
              <a:ext uri="{FF2B5EF4-FFF2-40B4-BE49-F238E27FC236}">
                <a16:creationId xmlns:a16="http://schemas.microsoft.com/office/drawing/2014/main" id="{B99E6E29-E38A-46D2-AAD0-E9A90F9E2142}"/>
              </a:ext>
            </a:extLst>
          </p:cNvPr>
          <p:cNvSpPr>
            <a:spLocks xmlns:a="http://schemas.openxmlformats.org/drawingml/2006/main" noGrp="1"/>
          </p:cNvSpPr>
          <p:nvPr/>
        </p:nvSpPr>
        <p:spPr>
          <a:xfrm xmlns:a="http://schemas.openxmlformats.org/drawingml/2006/main">
            <a:off x="819150" y="56388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2563EB"/>
                </a:solidFill>
              </a:defRPr>
            </a:pPr>
            <a:r>
              <a:rPr sz="750" b="1">
                <a:solidFill>
                  <a:srgbClr val="2563EB"/>
                </a:solidFill>
              </a:rPr>
              <a:t>LIVE STUDIO CAPTURE</a:t>
            </a:r>
          </a:p>
        </p:txBody>
      </p:sp>
      <p:sp>
        <p:nvSpPr>
          <p:cNvPr id="11" name="">
            <a:extLst xmlns:a="http://schemas.openxmlformats.org/drawingml/2006/main">
              <a:ext uri="{FF2B5EF4-FFF2-40B4-BE49-F238E27FC236}">
                <a16:creationId xmlns:a16="http://schemas.microsoft.com/office/drawing/2014/main" id="{802C4D24-3964-4837-AD4F-5B86FA36AFD6}"/>
              </a:ext>
            </a:extLst>
          </p:cNvPr>
          <p:cNvSpPr>
            <a:spLocks xmlns:a="http://schemas.openxmlformats.org/drawingml/2006/main" noGrp="1"/>
          </p:cNvSpPr>
          <p:nvPr/>
        </p:nvSpPr>
        <p:spPr>
          <a:xfrm xmlns:a="http://schemas.openxmlformats.org/drawingml/2006/main">
            <a:off x="8705850" y="2038350"/>
            <a:ext cx="419100" cy="419100"/>
          </a:xfrm>
          <a:prstGeom xmlns:a="http://schemas.openxmlformats.org/drawingml/2006/main" prst="roundRect">
            <a:avLst>
              <a:gd name="adj" fmla="val 31818"/>
            </a:avLst>
          </a:prstGeom>
          <a:solidFill xmlns:a="http://schemas.openxmlformats.org/drawingml/2006/main">
            <a:srgbClr val="EFF6FF"/>
          </a:solidFill>
          <a:ln xmlns:a="http://schemas.openxmlformats.org/drawingml/2006/main" w="0">
            <a:no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910b8c7a1e4d44c7">
            <a:extLst>
              <a:ext uri="{96DAC541-7B7A-43D3-8B79-37D633B846F1}">
                <asvg:svgBlip xmlns:asvg="http://schemas.microsoft.com/office/drawing/2016/SVG/main" r:embed="R1edab1bd65bc4deb"/>
              </a:ext>
            </a:extLst>
          </a:blip>
          <a:stretch xmlns:a="http://schemas.openxmlformats.org/drawingml/2006/main"/>
        </p:blipFill>
        <p:spPr>
          <a:xfrm xmlns:a="http://schemas.openxmlformats.org/drawingml/2006/main">
            <a:off x="8810625" y="2143125"/>
            <a:ext cx="209550" cy="2095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B36BACD-60CF-4B29-BD71-C0DC9FC81CA3}"/>
              </a:ext>
            </a:extLst>
          </p:cNvPr>
          <p:cNvSpPr>
            <a:spLocks xmlns:a="http://schemas.openxmlformats.org/drawingml/2006/main" noGrp="1"/>
          </p:cNvSpPr>
          <p:nvPr/>
        </p:nvSpPr>
        <p:spPr>
          <a:xfrm xmlns:a="http://schemas.openxmlformats.org/drawingml/2006/main">
            <a:off x="9277350" y="20574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Structure extraction</a:t>
            </a:r>
          </a:p>
        </p:txBody>
      </p:sp>
      <p:sp>
        <p:nvSpPr>
          <p:cNvPr id="14" name="">
            <a:extLst xmlns:a="http://schemas.openxmlformats.org/drawingml/2006/main">
              <a:ext uri="{FF2B5EF4-FFF2-40B4-BE49-F238E27FC236}">
                <a16:creationId xmlns:a16="http://schemas.microsoft.com/office/drawing/2014/main" id="{920F8337-6848-4C43-A53F-74FDC2A6A3B1}"/>
              </a:ext>
            </a:extLst>
          </p:cNvPr>
          <p:cNvSpPr>
            <a:spLocks xmlns:a="http://schemas.openxmlformats.org/drawingml/2006/main" noGrp="1"/>
          </p:cNvSpPr>
          <p:nvPr/>
        </p:nvSpPr>
        <p:spPr>
          <a:xfrm xmlns:a="http://schemas.openxmlformats.org/drawingml/2006/main">
            <a:off x="9277350" y="2295525"/>
            <a:ext cx="2266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Pages, blocks, tables and geometry</a:t>
            </a:r>
          </a:p>
        </p:txBody>
      </p:sp>
      <p:sp>
        <p:nvSpPr>
          <p:cNvPr id="15" name="">
            <a:extLst xmlns:a="http://schemas.openxmlformats.org/drawingml/2006/main">
              <a:ext uri="{FF2B5EF4-FFF2-40B4-BE49-F238E27FC236}">
                <a16:creationId xmlns:a16="http://schemas.microsoft.com/office/drawing/2014/main" id="{0982D6A1-D59E-41F0-86C9-1080ADE0C103}"/>
              </a:ext>
            </a:extLst>
          </p:cNvPr>
          <p:cNvSpPr>
            <a:spLocks xmlns:a="http://schemas.openxmlformats.org/drawingml/2006/main" noGrp="1"/>
          </p:cNvSpPr>
          <p:nvPr/>
        </p:nvSpPr>
        <p:spPr>
          <a:xfrm xmlns:a="http://schemas.openxmlformats.org/drawingml/2006/main">
            <a:off x="8705850" y="2790825"/>
            <a:ext cx="419100" cy="419100"/>
          </a:xfrm>
          <a:prstGeom xmlns:a="http://schemas.openxmlformats.org/drawingml/2006/main" prst="roundRect">
            <a:avLst>
              <a:gd name="adj" fmla="val 31818"/>
            </a:avLst>
          </a:prstGeom>
          <a:solidFill xmlns:a="http://schemas.openxmlformats.org/drawingml/2006/main">
            <a:srgbClr val="EFF6FF"/>
          </a:solidFill>
          <a:ln xmlns:a="http://schemas.openxmlformats.org/drawingml/2006/main" w="0">
            <a:no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4739fe0639f6491b">
            <a:extLst>
              <a:ext uri="{96DAC541-7B7A-43D3-8B79-37D633B846F1}">
                <asvg:svgBlip xmlns:asvg="http://schemas.microsoft.com/office/drawing/2016/SVG/main" r:embed="R4090008e3dd04783"/>
              </a:ext>
            </a:extLst>
          </a:blip>
          <a:stretch xmlns:a="http://schemas.openxmlformats.org/drawingml/2006/main"/>
        </p:blipFill>
        <p:spPr>
          <a:xfrm xmlns:a="http://schemas.openxmlformats.org/drawingml/2006/main">
            <a:off x="8810625" y="2895600"/>
            <a:ext cx="209550" cy="2095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423C23CD-4440-4E5C-B8AF-6CBD666D6D4E}"/>
              </a:ext>
            </a:extLst>
          </p:cNvPr>
          <p:cNvSpPr>
            <a:spLocks xmlns:a="http://schemas.openxmlformats.org/drawingml/2006/main" noGrp="1"/>
          </p:cNvSpPr>
          <p:nvPr/>
        </p:nvSpPr>
        <p:spPr>
          <a:xfrm xmlns:a="http://schemas.openxmlformats.org/drawingml/2006/main">
            <a:off x="9277350" y="2809875"/>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Structured translation</a:t>
            </a:r>
          </a:p>
        </p:txBody>
      </p:sp>
      <p:sp>
        <p:nvSpPr>
          <p:cNvPr id="18" name="">
            <a:extLst xmlns:a="http://schemas.openxmlformats.org/drawingml/2006/main">
              <a:ext uri="{FF2B5EF4-FFF2-40B4-BE49-F238E27FC236}">
                <a16:creationId xmlns:a16="http://schemas.microsoft.com/office/drawing/2014/main" id="{DF96F368-E3AC-4243-BC29-96122C431AA3}"/>
              </a:ext>
            </a:extLst>
          </p:cNvPr>
          <p:cNvSpPr>
            <a:spLocks xmlns:a="http://schemas.openxmlformats.org/drawingml/2006/main" noGrp="1"/>
          </p:cNvSpPr>
          <p:nvPr/>
        </p:nvSpPr>
        <p:spPr>
          <a:xfrm xmlns:a="http://schemas.openxmlformats.org/drawingml/2006/main">
            <a:off x="9277350" y="3048000"/>
            <a:ext cx="2266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Arabic / Mandarin → English</a:t>
            </a:r>
          </a:p>
        </p:txBody>
      </p:sp>
      <p:sp>
        <p:nvSpPr>
          <p:cNvPr id="19" name="">
            <a:extLst xmlns:a="http://schemas.openxmlformats.org/drawingml/2006/main">
              <a:ext uri="{FF2B5EF4-FFF2-40B4-BE49-F238E27FC236}">
                <a16:creationId xmlns:a16="http://schemas.microsoft.com/office/drawing/2014/main" id="{E7F247C4-EBD0-41B2-87F6-07037871D9F2}"/>
              </a:ext>
            </a:extLst>
          </p:cNvPr>
          <p:cNvSpPr>
            <a:spLocks xmlns:a="http://schemas.openxmlformats.org/drawingml/2006/main" noGrp="1"/>
          </p:cNvSpPr>
          <p:nvPr/>
        </p:nvSpPr>
        <p:spPr>
          <a:xfrm xmlns:a="http://schemas.openxmlformats.org/drawingml/2006/main">
            <a:off x="8705850" y="3543300"/>
            <a:ext cx="419100" cy="419100"/>
          </a:xfrm>
          <a:prstGeom xmlns:a="http://schemas.openxmlformats.org/drawingml/2006/main" prst="roundRect">
            <a:avLst>
              <a:gd name="adj" fmla="val 31818"/>
            </a:avLst>
          </a:prstGeom>
          <a:solidFill xmlns:a="http://schemas.openxmlformats.org/drawingml/2006/main">
            <a:srgbClr val="EFF6FF"/>
          </a:solidFill>
          <a:ln xmlns:a="http://schemas.openxmlformats.org/drawingml/2006/main" w="0">
            <a:no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9279fbfe822041b7">
            <a:extLst>
              <a:ext uri="{96DAC541-7B7A-43D3-8B79-37D633B846F1}">
                <asvg:svgBlip xmlns:asvg="http://schemas.microsoft.com/office/drawing/2016/SVG/main" r:embed="Re39ce292414d4798"/>
              </a:ext>
            </a:extLst>
          </a:blip>
          <a:stretch xmlns:a="http://schemas.openxmlformats.org/drawingml/2006/main"/>
        </p:blipFill>
        <p:spPr>
          <a:xfrm xmlns:a="http://schemas.openxmlformats.org/drawingml/2006/main">
            <a:off x="8810625" y="3648075"/>
            <a:ext cx="209550" cy="2095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B8BB6CF3-BDE6-44D9-BBF1-B4FE259A11D3}"/>
              </a:ext>
            </a:extLst>
          </p:cNvPr>
          <p:cNvSpPr>
            <a:spLocks xmlns:a="http://schemas.openxmlformats.org/drawingml/2006/main" noGrp="1"/>
          </p:cNvSpPr>
          <p:nvPr/>
        </p:nvSpPr>
        <p:spPr>
          <a:xfrm xmlns:a="http://schemas.openxmlformats.org/drawingml/2006/main">
            <a:off x="9277350" y="35623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Synchronized review</a:t>
            </a:r>
          </a:p>
        </p:txBody>
      </p:sp>
      <p:sp>
        <p:nvSpPr>
          <p:cNvPr id="22" name="">
            <a:extLst xmlns:a="http://schemas.openxmlformats.org/drawingml/2006/main">
              <a:ext uri="{FF2B5EF4-FFF2-40B4-BE49-F238E27FC236}">
                <a16:creationId xmlns:a16="http://schemas.microsoft.com/office/drawing/2014/main" id="{69EDB129-5D16-42D8-A47C-48A43C13BC29}"/>
              </a:ext>
            </a:extLst>
          </p:cNvPr>
          <p:cNvSpPr>
            <a:spLocks xmlns:a="http://schemas.openxmlformats.org/drawingml/2006/main" noGrp="1"/>
          </p:cNvSpPr>
          <p:nvPr/>
        </p:nvSpPr>
        <p:spPr>
          <a:xfrm xmlns:a="http://schemas.openxmlformats.org/drawingml/2006/main">
            <a:off x="9277350" y="3800475"/>
            <a:ext cx="2266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Thumbnails, overlays and result cards</a:t>
            </a:r>
          </a:p>
        </p:txBody>
      </p:sp>
      <p:sp>
        <p:nvSpPr>
          <p:cNvPr id="23" name="">
            <a:extLst xmlns:a="http://schemas.openxmlformats.org/drawingml/2006/main">
              <a:ext uri="{FF2B5EF4-FFF2-40B4-BE49-F238E27FC236}">
                <a16:creationId xmlns:a16="http://schemas.microsoft.com/office/drawing/2014/main" id="{EDA0810C-5F97-4C6D-B2EC-2C2991B596E9}"/>
              </a:ext>
            </a:extLst>
          </p:cNvPr>
          <p:cNvSpPr>
            <a:spLocks xmlns:a="http://schemas.openxmlformats.org/drawingml/2006/main" noGrp="1"/>
          </p:cNvSpPr>
          <p:nvPr/>
        </p:nvSpPr>
        <p:spPr>
          <a:xfrm xmlns:a="http://schemas.openxmlformats.org/drawingml/2006/main">
            <a:off x="8705850" y="4295775"/>
            <a:ext cx="419100" cy="419100"/>
          </a:xfrm>
          <a:prstGeom xmlns:a="http://schemas.openxmlformats.org/drawingml/2006/main" prst="roundRect">
            <a:avLst>
              <a:gd name="adj" fmla="val 31818"/>
            </a:avLst>
          </a:prstGeom>
          <a:solidFill xmlns:a="http://schemas.openxmlformats.org/drawingml/2006/main">
            <a:srgbClr val="EFF6FF"/>
          </a:solidFill>
          <a:ln xmlns:a="http://schemas.openxmlformats.org/drawingml/2006/main" w="0">
            <a:no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c38d3cd8250748c2">
            <a:extLst>
              <a:ext uri="{96DAC541-7B7A-43D3-8B79-37D633B846F1}">
                <asvg:svgBlip xmlns:asvg="http://schemas.microsoft.com/office/drawing/2016/SVG/main" r:embed="R6d4a1e4923f54159"/>
              </a:ext>
            </a:extLst>
          </a:blip>
          <a:stretch xmlns:a="http://schemas.openxmlformats.org/drawingml/2006/main"/>
        </p:blipFill>
        <p:spPr>
          <a:xfrm xmlns:a="http://schemas.openxmlformats.org/drawingml/2006/main">
            <a:off x="8810625" y="4400550"/>
            <a:ext cx="209550" cy="20955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FBB70B3C-B02F-4675-BC59-125E9EA36C8F}"/>
              </a:ext>
            </a:extLst>
          </p:cNvPr>
          <p:cNvSpPr>
            <a:spLocks xmlns:a="http://schemas.openxmlformats.org/drawingml/2006/main" noGrp="1"/>
          </p:cNvSpPr>
          <p:nvPr/>
        </p:nvSpPr>
        <p:spPr>
          <a:xfrm xmlns:a="http://schemas.openxmlformats.org/drawingml/2006/main">
            <a:off x="9277350" y="4314825"/>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Traceable exports</a:t>
            </a:r>
          </a:p>
        </p:txBody>
      </p:sp>
      <p:sp>
        <p:nvSpPr>
          <p:cNvPr id="26" name="">
            <a:extLst xmlns:a="http://schemas.openxmlformats.org/drawingml/2006/main">
              <a:ext uri="{FF2B5EF4-FFF2-40B4-BE49-F238E27FC236}">
                <a16:creationId xmlns:a16="http://schemas.microsoft.com/office/drawing/2014/main" id="{67AD1161-9ECD-4B09-A2BA-5A28D221772C}"/>
              </a:ext>
            </a:extLst>
          </p:cNvPr>
          <p:cNvSpPr>
            <a:spLocks xmlns:a="http://schemas.openxmlformats.org/drawingml/2006/main" noGrp="1"/>
          </p:cNvSpPr>
          <p:nvPr/>
        </p:nvSpPr>
        <p:spPr>
          <a:xfrm xmlns:a="http://schemas.openxmlformats.org/drawingml/2006/main">
            <a:off x="9277350" y="4552950"/>
            <a:ext cx="2266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Page JSON + bilingual artifact</a:t>
            </a:r>
          </a:p>
        </p:txBody>
      </p:sp>
      <p:sp>
        <p:nvSpPr>
          <p:cNvPr id="27" name="">
            <a:extLst xmlns:a="http://schemas.openxmlformats.org/drawingml/2006/main">
              <a:ext uri="{FF2B5EF4-FFF2-40B4-BE49-F238E27FC236}">
                <a16:creationId xmlns:a16="http://schemas.microsoft.com/office/drawing/2014/main" id="{41876126-FF81-439F-B797-7CA9A8AE6297}"/>
              </a:ext>
            </a:extLst>
          </p:cNvPr>
          <p:cNvSpPr>
            <a:spLocks xmlns:a="http://schemas.openxmlformats.org/drawingml/2006/main" noGrp="1"/>
          </p:cNvSpPr>
          <p:nvPr/>
        </p:nvSpPr>
        <p:spPr>
          <a:xfrm xmlns:a="http://schemas.openxmlformats.org/drawingml/2006/main">
            <a:off x="8705850" y="5048250"/>
            <a:ext cx="419100" cy="419100"/>
          </a:xfrm>
          <a:prstGeom xmlns:a="http://schemas.openxmlformats.org/drawingml/2006/main" prst="roundRect">
            <a:avLst>
              <a:gd name="adj" fmla="val 31818"/>
            </a:avLst>
          </a:prstGeom>
          <a:solidFill xmlns:a="http://schemas.openxmlformats.org/drawingml/2006/main">
            <a:srgbClr val="FFF7E6"/>
          </a:solidFill>
          <a:ln xmlns:a="http://schemas.openxmlformats.org/drawingml/2006/main" w="0">
            <a:no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f333a0273b7d460e">
            <a:extLst>
              <a:ext uri="{96DAC541-7B7A-43D3-8B79-37D633B846F1}">
                <asvg:svgBlip xmlns:asvg="http://schemas.microsoft.com/office/drawing/2016/SVG/main" r:embed="R78f48b4c9c6b456b"/>
              </a:ext>
            </a:extLst>
          </a:blip>
          <a:stretch xmlns:a="http://schemas.openxmlformats.org/drawingml/2006/main"/>
        </p:blipFill>
        <p:spPr>
          <a:xfrm xmlns:a="http://schemas.openxmlformats.org/drawingml/2006/main">
            <a:off x="8810625" y="5153025"/>
            <a:ext cx="209550" cy="2095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879F625A-D5B3-4C17-8537-A82082588804}"/>
              </a:ext>
            </a:extLst>
          </p:cNvPr>
          <p:cNvSpPr>
            <a:spLocks xmlns:a="http://schemas.openxmlformats.org/drawingml/2006/main" noGrp="1"/>
          </p:cNvSpPr>
          <p:nvPr/>
        </p:nvSpPr>
        <p:spPr>
          <a:xfrm xmlns:a="http://schemas.openxmlformats.org/drawingml/2006/main">
            <a:off x="9277350" y="5067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POC boundary</a:t>
            </a:r>
          </a:p>
        </p:txBody>
      </p:sp>
      <p:sp>
        <p:nvSpPr>
          <p:cNvPr id="30" name="">
            <a:extLst xmlns:a="http://schemas.openxmlformats.org/drawingml/2006/main">
              <a:ext uri="{FF2B5EF4-FFF2-40B4-BE49-F238E27FC236}">
                <a16:creationId xmlns:a16="http://schemas.microsoft.com/office/drawing/2014/main" id="{A788E1D3-DDDA-41F9-AEB1-8D1E16C64067}"/>
              </a:ext>
            </a:extLst>
          </p:cNvPr>
          <p:cNvSpPr>
            <a:spLocks xmlns:a="http://schemas.openxmlformats.org/drawingml/2006/main" noGrp="1"/>
          </p:cNvSpPr>
          <p:nvPr/>
        </p:nvSpPr>
        <p:spPr>
          <a:xfrm xmlns:a="http://schemas.openxmlformats.org/drawingml/2006/main">
            <a:off x="9277350" y="5305425"/>
            <a:ext cx="2266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Synthetic or approved de-identified data only</a:t>
            </a:r>
          </a:p>
        </p:txBody>
      </p:sp>
      <p:sp>
        <p:nvSpPr>
          <p:cNvPr id="31" name="">
            <a:extLst xmlns:a="http://schemas.openxmlformats.org/drawingml/2006/main">
              <a:ext uri="{FF2B5EF4-FFF2-40B4-BE49-F238E27FC236}">
                <a16:creationId xmlns:a16="http://schemas.microsoft.com/office/drawing/2014/main" id="{3A1C7E32-584C-43FA-B2CD-925D068CF805}"/>
              </a:ext>
            </a:extLst>
          </p:cNvPr>
          <p:cNvSpPr>
            <a:spLocks xmlns:a="http://schemas.openxmlformats.org/drawingml/2006/main" noGrp="1"/>
          </p:cNvSpPr>
          <p:nvPr/>
        </p:nvSpPr>
        <p:spPr>
          <a:xfrm xmlns:a="http://schemas.openxmlformats.org/drawingml/2006/main">
            <a:off x="8705850" y="5810250"/>
            <a:ext cx="2819400" cy="38100"/>
          </a:xfrm>
          <a:prstGeom xmlns:a="http://schemas.openxmlformats.org/drawingml/2006/main" prst="roundRect">
            <a:avLst>
              <a:gd name="adj" fmla="val 50000"/>
            </a:avLst>
          </a:prstGeom>
          <a:solidFill xmlns:a="http://schemas.openxmlformats.org/drawingml/2006/main">
            <a:srgbClr val="0F9D8A"/>
          </a:solidFill>
          <a:ln xmlns:a="http://schemas.openxmlformats.org/drawingml/2006/main" w="0">
            <a:noFill/>
            <a:prstDash val="solid"/>
          </a:ln>
        </p:spPr>
      </p:sp>
    </p:spTree>
    <p:extLst>
      <p:ext uri="{BB962C8B-B14F-4D97-AF65-F5344CB8AC3E}">
        <p14:creationId xmlns:p14="http://schemas.microsoft.com/office/powerpoint/2010/main" val="1518525787"/>
      </p:ext>
    </p:extLst>
  </p:cSld>
</p:sld>
</file>

<file path=ppt/slides/slide4.xml><?xml version="1.0" encoding="utf-8"?>
<p:sld xmlns:p="http://schemas.openxmlformats.org/presentationml/2006/main">
  <p:cSld>
    <p:bg>
      <p:bgPr>
        <a:solidFill xmlns:a="http://schemas.openxmlformats.org/drawingml/2006/main">
          <a:srgbClr val="F9FBFE"/>
        </a:solidFill>
      </p:bgPr>
    </p:bg>
    <p:spTree>
      <p:nvGrpSpPr>
        <p:cNvPr id="1" name=""/>
        <p:cNvGrpSpPr/>
        <p:nvPr/>
      </p:nvGrpSpPr>
      <p:grpSpPr>
        <a:xfrm xmlns:a="http://schemas.openxmlformats.org/drawingml/2006/main"/>
      </p:grpSpPr>
      <p:sp>
        <p:nvSpPr>
          <p:cNvPr id="74" name="">
            <a:extLst xmlns:a="http://schemas.openxmlformats.org/drawingml/2006/main">
              <a:ext uri="{FF2B5EF4-FFF2-40B4-BE49-F238E27FC236}">
                <a16:creationId xmlns:a16="http://schemas.microsoft.com/office/drawing/2014/main" id="{3B7CE6C2-73C9-4302-A810-2DAF4379AFDB}"/>
              </a:ext>
            </a:extLst>
          </p:cNvPr>
          <p:cNvSpPr>
            <a:spLocks xmlns:a="http://schemas.openxmlformats.org/drawingml/2006/main" noGrp="1"/>
          </p:cNvSpPr>
          <p:nvPr/>
        </p:nvSpPr>
        <p:spPr>
          <a:xfrm xmlns:a="http://schemas.openxmlformats.org/drawingml/2006/main">
            <a:off x="552450" y="4191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END-TO-END WORKFLOW</a:t>
            </a:r>
          </a:p>
        </p:txBody>
      </p:sp>
      <p:sp>
        <p:nvSpPr>
          <p:cNvPr id="2" name="">
            <a:extLst xmlns:a="http://schemas.openxmlformats.org/drawingml/2006/main">
              <a:ext uri="{FF2B5EF4-FFF2-40B4-BE49-F238E27FC236}">
                <a16:creationId xmlns:a16="http://schemas.microsoft.com/office/drawing/2014/main" id="{231CE4A6-0342-46E3-86BC-BB547F0E161E}"/>
              </a:ext>
            </a:extLst>
          </p:cNvPr>
          <p:cNvSpPr>
            <a:spLocks xmlns:a="http://schemas.openxmlformats.org/drawingml/2006/main" noGrp="1"/>
          </p:cNvSpPr>
          <p:nvPr/>
        </p:nvSpPr>
        <p:spPr>
          <a:xfrm xmlns:a="http://schemas.openxmlformats.org/drawingml/2006/main">
            <a:off x="552450" y="723900"/>
            <a:ext cx="11087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71A33"/>
                </a:solidFill>
              </a:defRPr>
            </a:pPr>
            <a:r>
              <a:rPr sz="2850" b="1">
                <a:solidFill>
                  <a:srgbClr val="071A33"/>
                </a:solidFill>
              </a:rPr>
              <a:t>Security and human review are part of the processing flow</a:t>
            </a:r>
          </a:p>
        </p:txBody>
      </p:sp>
      <p:sp>
        <p:nvSpPr>
          <p:cNvPr id="3" name="">
            <a:extLst xmlns:a="http://schemas.openxmlformats.org/drawingml/2006/main">
              <a:ext uri="{FF2B5EF4-FFF2-40B4-BE49-F238E27FC236}">
                <a16:creationId xmlns:a16="http://schemas.microsoft.com/office/drawing/2014/main" id="{52989C7C-2FCF-4E99-A1EA-3D8CEA02CEEB}"/>
              </a:ext>
            </a:extLst>
          </p:cNvPr>
          <p:cNvSpPr>
            <a:spLocks xmlns:a="http://schemas.openxmlformats.org/drawingml/2006/main" noGrp="1"/>
          </p:cNvSpPr>
          <p:nvPr/>
        </p:nvSpPr>
        <p:spPr>
          <a:xfrm xmlns:a="http://schemas.openxmlformats.org/drawingml/2006/main">
            <a:off x="55245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F7088"/>
                </a:solidFill>
              </a:defRPr>
            </a:pPr>
            <a:r>
              <a:rPr sz="1275" b="0">
                <a:solidFill>
                  <a:srgbClr val="5F7088"/>
                </a:solidFill>
              </a:rPr>
              <a:t>The production path adds policy decisions before any generative-AI request.</a:t>
            </a:r>
          </a:p>
        </p:txBody>
      </p:sp>
      <p:sp>
        <p:nvSpPr>
          <p:cNvPr id="4" name="">
            <a:extLst xmlns:a="http://schemas.openxmlformats.org/drawingml/2006/main">
              <a:ext uri="{FF2B5EF4-FFF2-40B4-BE49-F238E27FC236}">
                <a16:creationId xmlns:a16="http://schemas.microsoft.com/office/drawing/2014/main" id="{014845B0-94E7-4E37-8ED5-02CEC05A1DFD}"/>
              </a:ext>
            </a:extLst>
          </p:cNvPr>
          <p:cNvSpPr>
            <a:spLocks xmlns:a="http://schemas.openxmlformats.org/drawingml/2006/main" noGrp="1"/>
          </p:cNvSpPr>
          <p:nvPr/>
        </p:nvSpPr>
        <p:spPr>
          <a:xfrm xmlns:a="http://schemas.openxmlformats.org/drawingml/2006/main">
            <a:off x="55245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7D8CA1"/>
                </a:solidFill>
              </a:defRPr>
            </a:pPr>
            <a:r>
              <a:rPr sz="750" b="1">
                <a:solidFill>
                  <a:srgbClr val="7D8CA1"/>
                </a:solidFill>
              </a:rPr>
              <a:t>CARETRANSLATE STUDIO</a:t>
            </a:r>
          </a:p>
        </p:txBody>
      </p:sp>
      <p:sp>
        <p:nvSpPr>
          <p:cNvPr id="5" name="">
            <a:extLst xmlns:a="http://schemas.openxmlformats.org/drawingml/2006/main">
              <a:ext uri="{FF2B5EF4-FFF2-40B4-BE49-F238E27FC236}">
                <a16:creationId xmlns:a16="http://schemas.microsoft.com/office/drawing/2014/main" id="{C1B6140C-516E-4036-AE9A-4EAA3E7448DB}"/>
              </a:ext>
            </a:extLst>
          </p:cNvPr>
          <p:cNvSpPr>
            <a:spLocks xmlns:a="http://schemas.openxmlformats.org/drawingml/2006/main" noGrp="1"/>
          </p:cNvSpPr>
          <p:nvPr/>
        </p:nvSpPr>
        <p:spPr>
          <a:xfrm xmlns:a="http://schemas.openxmlformats.org/drawingml/2006/main">
            <a:off x="10477500" y="64389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7D8CA1"/>
                </a:solidFill>
              </a:defRPr>
            </a:pPr>
            <a:r>
              <a:rPr sz="750" b="1">
                <a:solidFill>
                  <a:srgbClr val="7D8CA1"/>
                </a:solidFill>
              </a:rPr>
              <a:t>04 / 07</a:t>
            </a:r>
          </a:p>
        </p:txBody>
      </p:sp>
      <p:sp>
        <p:nvSpPr>
          <p:cNvPr id="6" name="">
            <a:extLst xmlns:a="http://schemas.openxmlformats.org/drawingml/2006/main">
              <a:ext uri="{FF2B5EF4-FFF2-40B4-BE49-F238E27FC236}">
                <a16:creationId xmlns:a16="http://schemas.microsoft.com/office/drawing/2014/main" id="{0F905082-FC62-4D2B-9C7C-A76A5F875707}"/>
              </a:ext>
            </a:extLst>
          </p:cNvPr>
          <p:cNvSpPr>
            <a:spLocks xmlns:a="http://schemas.openxmlformats.org/drawingml/2006/main" noGrp="1"/>
          </p:cNvSpPr>
          <p:nvPr/>
        </p:nvSpPr>
        <p:spPr>
          <a:xfrm xmlns:a="http://schemas.openxmlformats.org/drawingml/2006/main">
            <a:off x="9525000" y="457200"/>
            <a:ext cx="2000250" cy="2857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DBEAFE"/>
            </a:solidFill>
            <a:prstDash val="solid"/>
          </a:ln>
        </p:spPr>
      </p:sp>
      <p:sp>
        <p:nvSpPr>
          <p:cNvPr id="7" name="">
            <a:extLst xmlns:a="http://schemas.openxmlformats.org/drawingml/2006/main">
              <a:ext uri="{FF2B5EF4-FFF2-40B4-BE49-F238E27FC236}">
                <a16:creationId xmlns:a16="http://schemas.microsoft.com/office/drawing/2014/main" id="{4765A24C-0BCE-4695-A34D-2F9490667C0E}"/>
              </a:ext>
            </a:extLst>
          </p:cNvPr>
          <p:cNvSpPr>
            <a:spLocks xmlns:a="http://schemas.openxmlformats.org/drawingml/2006/main" noGrp="1"/>
          </p:cNvSpPr>
          <p:nvPr/>
        </p:nvSpPr>
        <p:spPr>
          <a:xfrm xmlns:a="http://schemas.openxmlformats.org/drawingml/2006/main">
            <a:off x="9601200" y="504825"/>
            <a:ext cx="1847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2563EB"/>
                </a:solidFill>
              </a:defRPr>
            </a:pPr>
            <a:r>
              <a:rPr sz="900" b="1">
                <a:solidFill>
                  <a:srgbClr val="2563EB"/>
                </a:solidFill>
              </a:rPr>
              <a:t>PRODUCTION TARGET</a:t>
            </a:r>
          </a:p>
        </p:txBody>
      </p:sp>
      <p:sp>
        <p:nvSpPr>
          <p:cNvPr id="8" name="">
            <a:extLst xmlns:a="http://schemas.openxmlformats.org/drawingml/2006/main">
              <a:ext uri="{FF2B5EF4-FFF2-40B4-BE49-F238E27FC236}">
                <a16:creationId xmlns:a16="http://schemas.microsoft.com/office/drawing/2014/main" id="{B9DE4784-860F-4035-BFA7-ABBD52463688}"/>
              </a:ext>
            </a:extLst>
          </p:cNvPr>
          <p:cNvSpPr>
            <a:spLocks xmlns:a="http://schemas.openxmlformats.org/drawingml/2006/main" noGrp="1"/>
          </p:cNvSpPr>
          <p:nvPr/>
        </p:nvSpPr>
        <p:spPr>
          <a:xfrm xmlns:a="http://schemas.openxmlformats.org/drawingml/2006/main">
            <a:off x="552450" y="2095500"/>
            <a:ext cx="2381250" cy="1181100"/>
          </a:xfrm>
          <a:prstGeom xmlns:a="http://schemas.openxmlformats.org/drawingml/2006/main" prst="roundRect">
            <a:avLst>
              <a:gd name="adj" fmla="val 16129"/>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20691C3-AD67-4CD4-A246-AB3824400272}"/>
              </a:ext>
            </a:extLst>
          </p:cNvPr>
          <p:cNvSpPr>
            <a:spLocks xmlns:a="http://schemas.openxmlformats.org/drawingml/2006/main" noGrp="1"/>
          </p:cNvSpPr>
          <p:nvPr/>
        </p:nvSpPr>
        <p:spPr>
          <a:xfrm xmlns:a="http://schemas.openxmlformats.org/drawingml/2006/main">
            <a:off x="704850" y="2238375"/>
            <a:ext cx="304800" cy="2857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B67939-23BE-49B6-9CD2-F183CA434D8D}"/>
              </a:ext>
            </a:extLst>
          </p:cNvPr>
          <p:cNvSpPr>
            <a:spLocks xmlns:a="http://schemas.openxmlformats.org/drawingml/2006/main" noGrp="1"/>
          </p:cNvSpPr>
          <p:nvPr/>
        </p:nvSpPr>
        <p:spPr>
          <a:xfrm xmlns:a="http://schemas.openxmlformats.org/drawingml/2006/main">
            <a:off x="781050" y="22860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2563EB"/>
                </a:solidFill>
              </a:defRPr>
            </a:pPr>
            <a:r>
              <a:rPr sz="900" b="1">
                <a:solidFill>
                  <a:srgbClr val="2563EB"/>
                </a:solidFill>
              </a:rPr>
              <a:t>1</a:t>
            </a:r>
          </a:p>
        </p:txBody>
      </p:sp>
      <p:sp>
        <p:nvSpPr>
          <p:cNvPr id="11" name="">
            <a:extLst xmlns:a="http://schemas.openxmlformats.org/drawingml/2006/main">
              <a:ext uri="{FF2B5EF4-FFF2-40B4-BE49-F238E27FC236}">
                <a16:creationId xmlns:a16="http://schemas.microsoft.com/office/drawing/2014/main" id="{0DF2876C-BD99-43EE-8771-A873ECEC78DA}"/>
              </a:ext>
            </a:extLst>
          </p:cNvPr>
          <p:cNvSpPr>
            <a:spLocks xmlns:a="http://schemas.openxmlformats.org/drawingml/2006/main" noGrp="1"/>
          </p:cNvSpPr>
          <p:nvPr/>
        </p:nvSpPr>
        <p:spPr>
          <a:xfrm xmlns:a="http://schemas.openxmlformats.org/drawingml/2006/main">
            <a:off x="2305050" y="2238375"/>
            <a:ext cx="457200" cy="457200"/>
          </a:xfrm>
          <a:prstGeom xmlns:a="http://schemas.openxmlformats.org/drawingml/2006/main" prst="roundRect">
            <a:avLst>
              <a:gd name="adj" fmla="val 29167"/>
            </a:avLst>
          </a:prstGeom>
          <a:solidFill xmlns:a="http://schemas.openxmlformats.org/drawingml/2006/main">
            <a:srgbClr val="EFF6FF"/>
          </a:solidFill>
          <a:ln xmlns:a="http://schemas.openxmlformats.org/drawingml/2006/main" w="0">
            <a:noFill/>
            <a:prstDash val="solid"/>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ff48f7724e744461">
            <a:extLst>
              <a:ext uri="{96DAC541-7B7A-43D3-8B79-37D633B846F1}">
                <asvg:svgBlip xmlns:asvg="http://schemas.microsoft.com/office/drawing/2016/SVG/main" r:embed="Rf0e97c80f7f245f5"/>
              </a:ext>
            </a:extLst>
          </a:blip>
          <a:stretch xmlns:a="http://schemas.openxmlformats.org/drawingml/2006/main"/>
        </p:blipFill>
        <p:spPr>
          <a:xfrm xmlns:a="http://schemas.openxmlformats.org/drawingml/2006/main">
            <a:off x="2409825" y="2343150"/>
            <a:ext cx="247650" cy="2476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1C58804-CA0B-4532-BAB3-2D632A4CD223}"/>
              </a:ext>
            </a:extLst>
          </p:cNvPr>
          <p:cNvSpPr>
            <a:spLocks xmlns:a="http://schemas.openxmlformats.org/drawingml/2006/main" noGrp="1"/>
          </p:cNvSpPr>
          <p:nvPr/>
        </p:nvSpPr>
        <p:spPr>
          <a:xfrm xmlns:a="http://schemas.openxmlformats.org/drawingml/2006/main">
            <a:off x="723900" y="26670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Authenticate</a:t>
            </a:r>
          </a:p>
        </p:txBody>
      </p:sp>
      <p:sp>
        <p:nvSpPr>
          <p:cNvPr id="14" name="">
            <a:extLst xmlns:a="http://schemas.openxmlformats.org/drawingml/2006/main">
              <a:ext uri="{FF2B5EF4-FFF2-40B4-BE49-F238E27FC236}">
                <a16:creationId xmlns:a16="http://schemas.microsoft.com/office/drawing/2014/main" id="{866B408E-DF19-44FF-B951-11CF586AD22F}"/>
              </a:ext>
            </a:extLst>
          </p:cNvPr>
          <p:cNvSpPr>
            <a:spLocks xmlns:a="http://schemas.openxmlformats.org/drawingml/2006/main" noGrp="1"/>
          </p:cNvSpPr>
          <p:nvPr/>
        </p:nvSpPr>
        <p:spPr>
          <a:xfrm xmlns:a="http://schemas.openxmlformats.org/drawingml/2006/main">
            <a:off x="723900" y="29337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Entra ID + APIM</a:t>
            </a:r>
          </a:p>
        </p:txBody>
      </p:sp>
      <p:sp>
        <p:nvSpPr>
          <p:cNvPr id="15" name="">
            <a:extLst xmlns:a="http://schemas.openxmlformats.org/drawingml/2006/main">
              <a:ext uri="{FF2B5EF4-FFF2-40B4-BE49-F238E27FC236}">
                <a16:creationId xmlns:a16="http://schemas.microsoft.com/office/drawing/2014/main" id="{08685F77-9FC2-4209-8F3D-455DCC6175D9}"/>
              </a:ext>
            </a:extLst>
          </p:cNvPr>
          <p:cNvSpPr>
            <a:spLocks xmlns:a="http://schemas.openxmlformats.org/drawingml/2006/main" noGrp="1"/>
          </p:cNvSpPr>
          <p:nvPr/>
        </p:nvSpPr>
        <p:spPr>
          <a:xfrm xmlns:a="http://schemas.openxmlformats.org/drawingml/2006/main">
            <a:off x="3333750" y="2095500"/>
            <a:ext cx="2381250" cy="1181100"/>
          </a:xfrm>
          <a:prstGeom xmlns:a="http://schemas.openxmlformats.org/drawingml/2006/main" prst="roundRect">
            <a:avLst>
              <a:gd name="adj" fmla="val 16129"/>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900C9301-C951-404B-A50E-83E09536B018}"/>
              </a:ext>
            </a:extLst>
          </p:cNvPr>
          <p:cNvSpPr>
            <a:spLocks xmlns:a="http://schemas.openxmlformats.org/drawingml/2006/main" noGrp="1"/>
          </p:cNvSpPr>
          <p:nvPr/>
        </p:nvSpPr>
        <p:spPr>
          <a:xfrm xmlns:a="http://schemas.openxmlformats.org/drawingml/2006/main">
            <a:off x="3486150" y="2238375"/>
            <a:ext cx="304800" cy="2857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2D2054B-2B76-44FE-973B-228CFC82D7A4}"/>
              </a:ext>
            </a:extLst>
          </p:cNvPr>
          <p:cNvSpPr>
            <a:spLocks xmlns:a="http://schemas.openxmlformats.org/drawingml/2006/main" noGrp="1"/>
          </p:cNvSpPr>
          <p:nvPr/>
        </p:nvSpPr>
        <p:spPr>
          <a:xfrm xmlns:a="http://schemas.openxmlformats.org/drawingml/2006/main">
            <a:off x="3562350" y="22860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2563EB"/>
                </a:solidFill>
              </a:defRPr>
            </a:pPr>
            <a:r>
              <a:rPr sz="900" b="1">
                <a:solidFill>
                  <a:srgbClr val="2563EB"/>
                </a:solidFill>
              </a:rPr>
              <a:t>2</a:t>
            </a:r>
          </a:p>
        </p:txBody>
      </p:sp>
      <p:sp>
        <p:nvSpPr>
          <p:cNvPr id="18" name="">
            <a:extLst xmlns:a="http://schemas.openxmlformats.org/drawingml/2006/main">
              <a:ext uri="{FF2B5EF4-FFF2-40B4-BE49-F238E27FC236}">
                <a16:creationId xmlns:a16="http://schemas.microsoft.com/office/drawing/2014/main" id="{6A286BAE-EC20-4A9A-9E35-C55C921EA265}"/>
              </a:ext>
            </a:extLst>
          </p:cNvPr>
          <p:cNvSpPr>
            <a:spLocks xmlns:a="http://schemas.openxmlformats.org/drawingml/2006/main" noGrp="1"/>
          </p:cNvSpPr>
          <p:nvPr/>
        </p:nvSpPr>
        <p:spPr>
          <a:xfrm xmlns:a="http://schemas.openxmlformats.org/drawingml/2006/main">
            <a:off x="5086350" y="2238375"/>
            <a:ext cx="457200" cy="457200"/>
          </a:xfrm>
          <a:prstGeom xmlns:a="http://schemas.openxmlformats.org/drawingml/2006/main" prst="roundRect">
            <a:avLst>
              <a:gd name="adj" fmla="val 29167"/>
            </a:avLst>
          </a:prstGeom>
          <a:solidFill xmlns:a="http://schemas.openxmlformats.org/drawingml/2006/main">
            <a:srgbClr val="EFF6FF"/>
          </a:solidFill>
          <a:ln xmlns:a="http://schemas.openxmlformats.org/drawingml/2006/main" w="0">
            <a:noFill/>
            <a:prstDash val="solid"/>
          </a:ln>
        </p:spPr>
      </p:sp>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dd24029f0c2a4888">
            <a:extLst>
              <a:ext uri="{96DAC541-7B7A-43D3-8B79-37D633B846F1}">
                <asvg:svgBlip xmlns:asvg="http://schemas.microsoft.com/office/drawing/2016/SVG/main" r:embed="Rd8540ce9f1554468"/>
              </a:ext>
            </a:extLst>
          </a:blip>
          <a:stretch xmlns:a="http://schemas.openxmlformats.org/drawingml/2006/main"/>
        </p:blipFill>
        <p:spPr>
          <a:xfrm xmlns:a="http://schemas.openxmlformats.org/drawingml/2006/main">
            <a:off x="5191125" y="2343150"/>
            <a:ext cx="247650" cy="2476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440DA55F-5FCB-4F86-8A35-1FBF4F677638}"/>
              </a:ext>
            </a:extLst>
          </p:cNvPr>
          <p:cNvSpPr>
            <a:spLocks xmlns:a="http://schemas.openxmlformats.org/drawingml/2006/main" noGrp="1"/>
          </p:cNvSpPr>
          <p:nvPr/>
        </p:nvSpPr>
        <p:spPr>
          <a:xfrm xmlns:a="http://schemas.openxmlformats.org/drawingml/2006/main">
            <a:off x="3505200" y="26670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Quarantine</a:t>
            </a:r>
          </a:p>
        </p:txBody>
      </p:sp>
      <p:sp>
        <p:nvSpPr>
          <p:cNvPr id="21" name="">
            <a:extLst xmlns:a="http://schemas.openxmlformats.org/drawingml/2006/main">
              <a:ext uri="{FF2B5EF4-FFF2-40B4-BE49-F238E27FC236}">
                <a16:creationId xmlns:a16="http://schemas.microsoft.com/office/drawing/2014/main" id="{F8DB011C-D9E6-4D26-A48D-26CD065E6A73}"/>
              </a:ext>
            </a:extLst>
          </p:cNvPr>
          <p:cNvSpPr>
            <a:spLocks xmlns:a="http://schemas.openxmlformats.org/drawingml/2006/main" noGrp="1"/>
          </p:cNvSpPr>
          <p:nvPr/>
        </p:nvSpPr>
        <p:spPr>
          <a:xfrm xmlns:a="http://schemas.openxmlformats.org/drawingml/2006/main">
            <a:off x="3505200" y="29337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Validate + scan</a:t>
            </a:r>
          </a:p>
        </p:txBody>
      </p:sp>
      <p:sp>
        <p:nvSpPr>
          <p:cNvPr id="22" name="">
            <a:extLst xmlns:a="http://schemas.openxmlformats.org/drawingml/2006/main">
              <a:ext uri="{FF2B5EF4-FFF2-40B4-BE49-F238E27FC236}">
                <a16:creationId xmlns:a16="http://schemas.microsoft.com/office/drawing/2014/main" id="{DE45DBF1-C1CF-4CEB-BCC9-BF684D50416B}"/>
              </a:ext>
            </a:extLst>
          </p:cNvPr>
          <p:cNvSpPr>
            <a:spLocks xmlns:a="http://schemas.openxmlformats.org/drawingml/2006/main" noGrp="1"/>
          </p:cNvSpPr>
          <p:nvPr/>
        </p:nvSpPr>
        <p:spPr>
          <a:xfrm xmlns:a="http://schemas.openxmlformats.org/drawingml/2006/main">
            <a:off x="6115050" y="2095500"/>
            <a:ext cx="2381250" cy="1181100"/>
          </a:xfrm>
          <a:prstGeom xmlns:a="http://schemas.openxmlformats.org/drawingml/2006/main" prst="roundRect">
            <a:avLst>
              <a:gd name="adj" fmla="val 16129"/>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FF4B3578-5430-4CA7-AC2E-80ED6EE9A06C}"/>
              </a:ext>
            </a:extLst>
          </p:cNvPr>
          <p:cNvSpPr>
            <a:spLocks xmlns:a="http://schemas.openxmlformats.org/drawingml/2006/main" noGrp="1"/>
          </p:cNvSpPr>
          <p:nvPr/>
        </p:nvSpPr>
        <p:spPr>
          <a:xfrm xmlns:a="http://schemas.openxmlformats.org/drawingml/2006/main">
            <a:off x="6267450" y="2238375"/>
            <a:ext cx="304800" cy="2857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70AFF89-7135-418D-AB11-EAB8559C1D33}"/>
              </a:ext>
            </a:extLst>
          </p:cNvPr>
          <p:cNvSpPr>
            <a:spLocks xmlns:a="http://schemas.openxmlformats.org/drawingml/2006/main" noGrp="1"/>
          </p:cNvSpPr>
          <p:nvPr/>
        </p:nvSpPr>
        <p:spPr>
          <a:xfrm xmlns:a="http://schemas.openxmlformats.org/drawingml/2006/main">
            <a:off x="6343650" y="22860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2563EB"/>
                </a:solidFill>
              </a:defRPr>
            </a:pPr>
            <a:r>
              <a:rPr sz="900" b="1">
                <a:solidFill>
                  <a:srgbClr val="2563EB"/>
                </a:solidFill>
              </a:rPr>
              <a:t>3</a:t>
            </a:r>
          </a:p>
        </p:txBody>
      </p:sp>
      <p:sp>
        <p:nvSpPr>
          <p:cNvPr id="25" name="">
            <a:extLst xmlns:a="http://schemas.openxmlformats.org/drawingml/2006/main">
              <a:ext uri="{FF2B5EF4-FFF2-40B4-BE49-F238E27FC236}">
                <a16:creationId xmlns:a16="http://schemas.microsoft.com/office/drawing/2014/main" id="{AD1664A7-3418-4F39-8A9A-F6DC57082337}"/>
              </a:ext>
            </a:extLst>
          </p:cNvPr>
          <p:cNvSpPr>
            <a:spLocks xmlns:a="http://schemas.openxmlformats.org/drawingml/2006/main" noGrp="1"/>
          </p:cNvSpPr>
          <p:nvPr/>
        </p:nvSpPr>
        <p:spPr>
          <a:xfrm xmlns:a="http://schemas.openxmlformats.org/drawingml/2006/main">
            <a:off x="7867650" y="2238375"/>
            <a:ext cx="457200" cy="457200"/>
          </a:xfrm>
          <a:prstGeom xmlns:a="http://schemas.openxmlformats.org/drawingml/2006/main" prst="roundRect">
            <a:avLst>
              <a:gd name="adj" fmla="val 29167"/>
            </a:avLst>
          </a:prstGeom>
          <a:solidFill xmlns:a="http://schemas.openxmlformats.org/drawingml/2006/main">
            <a:srgbClr val="EFF6FF"/>
          </a:solidFill>
          <a:ln xmlns:a="http://schemas.openxmlformats.org/drawingml/2006/main" w="0">
            <a:noFill/>
            <a:prstDash val="solid"/>
          </a:ln>
        </p:spPr>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0d7c261bed8b44d6">
            <a:extLst>
              <a:ext uri="{96DAC541-7B7A-43D3-8B79-37D633B846F1}">
                <asvg:svgBlip xmlns:asvg="http://schemas.microsoft.com/office/drawing/2016/SVG/main" r:embed="R592ceeb80fa0480a"/>
              </a:ext>
            </a:extLst>
          </a:blip>
          <a:stretch xmlns:a="http://schemas.openxmlformats.org/drawingml/2006/main"/>
        </p:blipFill>
        <p:spPr>
          <a:xfrm xmlns:a="http://schemas.openxmlformats.org/drawingml/2006/main">
            <a:off x="7972425" y="2343150"/>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72C05784-D97E-4953-B093-A2483AF59923}"/>
              </a:ext>
            </a:extLst>
          </p:cNvPr>
          <p:cNvSpPr>
            <a:spLocks xmlns:a="http://schemas.openxmlformats.org/drawingml/2006/main" noGrp="1"/>
          </p:cNvSpPr>
          <p:nvPr/>
        </p:nvSpPr>
        <p:spPr>
          <a:xfrm xmlns:a="http://schemas.openxmlformats.org/drawingml/2006/main">
            <a:off x="6286500" y="26670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Extract</a:t>
            </a:r>
          </a:p>
        </p:txBody>
      </p:sp>
      <p:sp>
        <p:nvSpPr>
          <p:cNvPr id="28" name="">
            <a:extLst xmlns:a="http://schemas.openxmlformats.org/drawingml/2006/main">
              <a:ext uri="{FF2B5EF4-FFF2-40B4-BE49-F238E27FC236}">
                <a16:creationId xmlns:a16="http://schemas.microsoft.com/office/drawing/2014/main" id="{263831C6-0AFA-430B-A398-56BDEEE18740}"/>
              </a:ext>
            </a:extLst>
          </p:cNvPr>
          <p:cNvSpPr>
            <a:spLocks xmlns:a="http://schemas.openxmlformats.org/drawingml/2006/main" noGrp="1"/>
          </p:cNvSpPr>
          <p:nvPr/>
        </p:nvSpPr>
        <p:spPr>
          <a:xfrm xmlns:a="http://schemas.openxmlformats.org/drawingml/2006/main">
            <a:off x="6286500" y="29337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Document Intelligence</a:t>
            </a:r>
          </a:p>
        </p:txBody>
      </p:sp>
      <p:sp>
        <p:nvSpPr>
          <p:cNvPr id="29" name="">
            <a:extLst xmlns:a="http://schemas.openxmlformats.org/drawingml/2006/main">
              <a:ext uri="{FF2B5EF4-FFF2-40B4-BE49-F238E27FC236}">
                <a16:creationId xmlns:a16="http://schemas.microsoft.com/office/drawing/2014/main" id="{405CE5A9-A65F-44EC-9ACB-C8FE694048A5}"/>
              </a:ext>
            </a:extLst>
          </p:cNvPr>
          <p:cNvSpPr>
            <a:spLocks xmlns:a="http://schemas.openxmlformats.org/drawingml/2006/main" noGrp="1"/>
          </p:cNvSpPr>
          <p:nvPr/>
        </p:nvSpPr>
        <p:spPr>
          <a:xfrm xmlns:a="http://schemas.openxmlformats.org/drawingml/2006/main">
            <a:off x="8896350" y="2095500"/>
            <a:ext cx="2381250" cy="1181100"/>
          </a:xfrm>
          <a:prstGeom xmlns:a="http://schemas.openxmlformats.org/drawingml/2006/main" prst="roundRect">
            <a:avLst>
              <a:gd name="adj" fmla="val 16129"/>
            </a:avLst>
          </a:prstGeom>
          <a:solidFill xmlns:a="http://schemas.openxmlformats.org/drawingml/2006/main">
            <a:srgbClr val="FFFFFF"/>
          </a:solidFill>
          <a:ln xmlns:a="http://schemas.openxmlformats.org/drawingml/2006/main" w="9525">
            <a:solidFill>
              <a:srgbClr val="A5DCC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2ED4C758-DF47-4745-ABC3-CA0D57D65BA6}"/>
              </a:ext>
            </a:extLst>
          </p:cNvPr>
          <p:cNvSpPr>
            <a:spLocks xmlns:a="http://schemas.openxmlformats.org/drawingml/2006/main" noGrp="1"/>
          </p:cNvSpPr>
          <p:nvPr/>
        </p:nvSpPr>
        <p:spPr>
          <a:xfrm xmlns:a="http://schemas.openxmlformats.org/drawingml/2006/main">
            <a:off x="9048750" y="2238375"/>
            <a:ext cx="304800" cy="285750"/>
          </a:xfrm>
          <a:prstGeom xmlns:a="http://schemas.openxmlformats.org/drawingml/2006/main" prst="roundRect">
            <a:avLst>
              <a:gd name="adj" fmla="val 50000"/>
            </a:avLst>
          </a:prstGeom>
          <a:solidFill xmlns:a="http://schemas.openxmlformats.org/drawingml/2006/main">
            <a:srgbClr val="ECFDF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5FD8932-F81E-46F5-A5CB-6B6A46C3AD3F}"/>
              </a:ext>
            </a:extLst>
          </p:cNvPr>
          <p:cNvSpPr>
            <a:spLocks xmlns:a="http://schemas.openxmlformats.org/drawingml/2006/main" noGrp="1"/>
          </p:cNvSpPr>
          <p:nvPr/>
        </p:nvSpPr>
        <p:spPr>
          <a:xfrm xmlns:a="http://schemas.openxmlformats.org/drawingml/2006/main">
            <a:off x="9124950" y="22860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0F9D8A"/>
                </a:solidFill>
              </a:defRPr>
            </a:pPr>
            <a:r>
              <a:rPr sz="900" b="1">
                <a:solidFill>
                  <a:srgbClr val="0F9D8A"/>
                </a:solidFill>
              </a:rPr>
              <a:t>4</a:t>
            </a:r>
          </a:p>
        </p:txBody>
      </p:sp>
      <p:sp>
        <p:nvSpPr>
          <p:cNvPr id="32" name="">
            <a:extLst xmlns:a="http://schemas.openxmlformats.org/drawingml/2006/main">
              <a:ext uri="{FF2B5EF4-FFF2-40B4-BE49-F238E27FC236}">
                <a16:creationId xmlns:a16="http://schemas.microsoft.com/office/drawing/2014/main" id="{36466E04-6541-4170-8440-A88E67AE95D9}"/>
              </a:ext>
            </a:extLst>
          </p:cNvPr>
          <p:cNvSpPr>
            <a:spLocks xmlns:a="http://schemas.openxmlformats.org/drawingml/2006/main" noGrp="1"/>
          </p:cNvSpPr>
          <p:nvPr/>
        </p:nvSpPr>
        <p:spPr>
          <a:xfrm xmlns:a="http://schemas.openxmlformats.org/drawingml/2006/main">
            <a:off x="10648950" y="2238375"/>
            <a:ext cx="457200" cy="457200"/>
          </a:xfrm>
          <a:prstGeom xmlns:a="http://schemas.openxmlformats.org/drawingml/2006/main" prst="roundRect">
            <a:avLst>
              <a:gd name="adj" fmla="val 29167"/>
            </a:avLst>
          </a:prstGeom>
          <a:solidFill xmlns:a="http://schemas.openxmlformats.org/drawingml/2006/main">
            <a:srgbClr val="ECFDF9"/>
          </a:solidFill>
          <a:ln xmlns:a="http://schemas.openxmlformats.org/drawingml/2006/main" w="0">
            <a:noFill/>
            <a:prstDash val="solid"/>
          </a:ln>
        </p:spPr>
      </p:sp>
      <p:pic>
        <p:nvPicPr>
          <p:cNvPr id="106" name=""/>
          <p:cNvPicPr>
            <a:picLocks xmlns:a="http://schemas.openxmlformats.org/drawingml/2006/main" noChangeAspect="1"/>
          </p:cNvPicPr>
          <p:nvPr/>
        </p:nvPicPr>
        <p:blipFill>
          <a:blip xmlns:r="http://schemas.openxmlformats.org/officeDocument/2006/relationships" xmlns:a="http://schemas.openxmlformats.org/drawingml/2006/main" r:embed="R2486f64409db40de">
            <a:extLst>
              <a:ext uri="{96DAC541-7B7A-43D3-8B79-37D633B846F1}">
                <asvg:svgBlip xmlns:asvg="http://schemas.microsoft.com/office/drawing/2016/SVG/main" r:embed="R05cd67dca02b45bb"/>
              </a:ext>
            </a:extLst>
          </a:blip>
          <a:stretch xmlns:a="http://schemas.openxmlformats.org/drawingml/2006/main"/>
        </p:blipFill>
        <p:spPr>
          <a:xfrm xmlns:a="http://schemas.openxmlformats.org/drawingml/2006/main">
            <a:off x="10753725" y="2343150"/>
            <a:ext cx="247650" cy="247650"/>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19C7E94F-AB20-44FE-9DA8-B9CAA3F73974}"/>
              </a:ext>
            </a:extLst>
          </p:cNvPr>
          <p:cNvSpPr>
            <a:spLocks xmlns:a="http://schemas.openxmlformats.org/drawingml/2006/main" noGrp="1"/>
          </p:cNvSpPr>
          <p:nvPr/>
        </p:nvSpPr>
        <p:spPr>
          <a:xfrm xmlns:a="http://schemas.openxmlformats.org/drawingml/2006/main">
            <a:off x="9067800" y="26670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Policy gateway</a:t>
            </a:r>
          </a:p>
        </p:txBody>
      </p:sp>
      <p:sp>
        <p:nvSpPr>
          <p:cNvPr id="35" name="">
            <a:extLst xmlns:a="http://schemas.openxmlformats.org/drawingml/2006/main">
              <a:ext uri="{FF2B5EF4-FFF2-40B4-BE49-F238E27FC236}">
                <a16:creationId xmlns:a16="http://schemas.microsoft.com/office/drawing/2014/main" id="{6ECB1E02-8E2E-43C1-BC08-49927E700DF1}"/>
              </a:ext>
            </a:extLst>
          </p:cNvPr>
          <p:cNvSpPr>
            <a:spLocks xmlns:a="http://schemas.openxmlformats.org/drawingml/2006/main" noGrp="1"/>
          </p:cNvSpPr>
          <p:nvPr/>
        </p:nvSpPr>
        <p:spPr>
          <a:xfrm xmlns:a="http://schemas.openxmlformats.org/drawingml/2006/main">
            <a:off x="9067800" y="29337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Classify + minimize</a:t>
            </a:r>
          </a:p>
        </p:txBody>
      </p:sp>
      <p:sp>
        <p:nvSpPr>
          <p:cNvPr id="36" name="">
            <a:extLst xmlns:a="http://schemas.openxmlformats.org/drawingml/2006/main">
              <a:ext uri="{FF2B5EF4-FFF2-40B4-BE49-F238E27FC236}">
                <a16:creationId xmlns:a16="http://schemas.microsoft.com/office/drawing/2014/main" id="{A6247775-8A12-4C5E-A1FA-FD331122A03B}"/>
              </a:ext>
            </a:extLst>
          </p:cNvPr>
          <p:cNvSpPr>
            <a:spLocks xmlns:a="http://schemas.openxmlformats.org/drawingml/2006/main" noGrp="1"/>
          </p:cNvSpPr>
          <p:nvPr/>
        </p:nvSpPr>
        <p:spPr>
          <a:xfrm xmlns:a="http://schemas.openxmlformats.org/drawingml/2006/main">
            <a:off x="8896350" y="4381500"/>
            <a:ext cx="2381250" cy="1181100"/>
          </a:xfrm>
          <a:prstGeom xmlns:a="http://schemas.openxmlformats.org/drawingml/2006/main" prst="roundRect">
            <a:avLst>
              <a:gd name="adj" fmla="val 16129"/>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
            <a:extLst xmlns:a="http://schemas.openxmlformats.org/drawingml/2006/main">
              <a:ext uri="{FF2B5EF4-FFF2-40B4-BE49-F238E27FC236}">
                <a16:creationId xmlns:a16="http://schemas.microsoft.com/office/drawing/2014/main" id="{97B12203-2FB8-4BE1-9B07-A6D96AF74FAD}"/>
              </a:ext>
            </a:extLst>
          </p:cNvPr>
          <p:cNvSpPr>
            <a:spLocks xmlns:a="http://schemas.openxmlformats.org/drawingml/2006/main" noGrp="1"/>
          </p:cNvSpPr>
          <p:nvPr/>
        </p:nvSpPr>
        <p:spPr>
          <a:xfrm xmlns:a="http://schemas.openxmlformats.org/drawingml/2006/main">
            <a:off x="9048750" y="4524375"/>
            <a:ext cx="304800" cy="2857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9CB46FB-5720-44EA-B3C8-0FDB5C10FEB9}"/>
              </a:ext>
            </a:extLst>
          </p:cNvPr>
          <p:cNvSpPr>
            <a:spLocks xmlns:a="http://schemas.openxmlformats.org/drawingml/2006/main" noGrp="1"/>
          </p:cNvSpPr>
          <p:nvPr/>
        </p:nvSpPr>
        <p:spPr>
          <a:xfrm xmlns:a="http://schemas.openxmlformats.org/drawingml/2006/main">
            <a:off x="9124950" y="45720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2563EB"/>
                </a:solidFill>
              </a:defRPr>
            </a:pPr>
            <a:r>
              <a:rPr sz="900" b="1">
                <a:solidFill>
                  <a:srgbClr val="2563EB"/>
                </a:solidFill>
              </a:rPr>
              <a:t>5</a:t>
            </a:r>
          </a:p>
        </p:txBody>
      </p:sp>
      <p:sp>
        <p:nvSpPr>
          <p:cNvPr id="39" name="">
            <a:extLst xmlns:a="http://schemas.openxmlformats.org/drawingml/2006/main">
              <a:ext uri="{FF2B5EF4-FFF2-40B4-BE49-F238E27FC236}">
                <a16:creationId xmlns:a16="http://schemas.microsoft.com/office/drawing/2014/main" id="{BDEB0B02-6DB6-41AF-A317-5E1F7C54314A}"/>
              </a:ext>
            </a:extLst>
          </p:cNvPr>
          <p:cNvSpPr>
            <a:spLocks xmlns:a="http://schemas.openxmlformats.org/drawingml/2006/main" noGrp="1"/>
          </p:cNvSpPr>
          <p:nvPr/>
        </p:nvSpPr>
        <p:spPr>
          <a:xfrm xmlns:a="http://schemas.openxmlformats.org/drawingml/2006/main">
            <a:off x="10648950" y="4524375"/>
            <a:ext cx="457200" cy="457200"/>
          </a:xfrm>
          <a:prstGeom xmlns:a="http://schemas.openxmlformats.org/drawingml/2006/main" prst="roundRect">
            <a:avLst>
              <a:gd name="adj" fmla="val 29167"/>
            </a:avLst>
          </a:prstGeom>
          <a:solidFill xmlns:a="http://schemas.openxmlformats.org/drawingml/2006/main">
            <a:srgbClr val="EFF6FF"/>
          </a:solidFill>
          <a:ln xmlns:a="http://schemas.openxmlformats.org/drawingml/2006/main" w="0">
            <a:noFill/>
            <a:prstDash val="solid"/>
          </a:ln>
        </p:spPr>
      </p:sp>
      <p:pic>
        <p:nvPicPr>
          <p:cNvPr id="113" name=""/>
          <p:cNvPicPr>
            <a:picLocks xmlns:a="http://schemas.openxmlformats.org/drawingml/2006/main" noChangeAspect="1"/>
          </p:cNvPicPr>
          <p:nvPr/>
        </p:nvPicPr>
        <p:blipFill>
          <a:blip xmlns:r="http://schemas.openxmlformats.org/officeDocument/2006/relationships" xmlns:a="http://schemas.openxmlformats.org/drawingml/2006/main" r:embed="R42f47e868257423a">
            <a:extLst>
              <a:ext uri="{96DAC541-7B7A-43D3-8B79-37D633B846F1}">
                <asvg:svgBlip xmlns:asvg="http://schemas.microsoft.com/office/drawing/2016/SVG/main" r:embed="R6f2e8c79b3d14cc9"/>
              </a:ext>
            </a:extLst>
          </a:blip>
          <a:stretch xmlns:a="http://schemas.openxmlformats.org/drawingml/2006/main"/>
        </p:blipFill>
        <p:spPr>
          <a:xfrm xmlns:a="http://schemas.openxmlformats.org/drawingml/2006/main">
            <a:off x="10753725" y="4629150"/>
            <a:ext cx="247650" cy="247650"/>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E9D9CF09-074D-4BAF-AD6D-FEED55C5E951}"/>
              </a:ext>
            </a:extLst>
          </p:cNvPr>
          <p:cNvSpPr>
            <a:spLocks xmlns:a="http://schemas.openxmlformats.org/drawingml/2006/main" noGrp="1"/>
          </p:cNvSpPr>
          <p:nvPr/>
        </p:nvSpPr>
        <p:spPr>
          <a:xfrm xmlns:a="http://schemas.openxmlformats.org/drawingml/2006/main">
            <a:off x="9067800" y="49530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Translate</a:t>
            </a:r>
          </a:p>
        </p:txBody>
      </p:sp>
      <p:sp>
        <p:nvSpPr>
          <p:cNvPr id="42" name="">
            <a:extLst xmlns:a="http://schemas.openxmlformats.org/drawingml/2006/main">
              <a:ext uri="{FF2B5EF4-FFF2-40B4-BE49-F238E27FC236}">
                <a16:creationId xmlns:a16="http://schemas.microsoft.com/office/drawing/2014/main" id="{22699316-5DC4-4C7E-A841-69DBC24444E7}"/>
              </a:ext>
            </a:extLst>
          </p:cNvPr>
          <p:cNvSpPr>
            <a:spLocks xmlns:a="http://schemas.openxmlformats.org/drawingml/2006/main" noGrp="1"/>
          </p:cNvSpPr>
          <p:nvPr/>
        </p:nvSpPr>
        <p:spPr>
          <a:xfrm xmlns:a="http://schemas.openxmlformats.org/drawingml/2006/main">
            <a:off x="9067800" y="52197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Approved route only</a:t>
            </a:r>
          </a:p>
        </p:txBody>
      </p:sp>
      <p:sp>
        <p:nvSpPr>
          <p:cNvPr id="43" name="">
            <a:extLst xmlns:a="http://schemas.openxmlformats.org/drawingml/2006/main">
              <a:ext uri="{FF2B5EF4-FFF2-40B4-BE49-F238E27FC236}">
                <a16:creationId xmlns:a16="http://schemas.microsoft.com/office/drawing/2014/main" id="{8640B163-5485-4844-802D-F6FEC6BF17E0}"/>
              </a:ext>
            </a:extLst>
          </p:cNvPr>
          <p:cNvSpPr>
            <a:spLocks xmlns:a="http://schemas.openxmlformats.org/drawingml/2006/main" noGrp="1"/>
          </p:cNvSpPr>
          <p:nvPr/>
        </p:nvSpPr>
        <p:spPr>
          <a:xfrm xmlns:a="http://schemas.openxmlformats.org/drawingml/2006/main">
            <a:off x="6115050" y="4381500"/>
            <a:ext cx="2381250" cy="1181100"/>
          </a:xfrm>
          <a:prstGeom xmlns:a="http://schemas.openxmlformats.org/drawingml/2006/main" prst="roundRect">
            <a:avLst>
              <a:gd name="adj" fmla="val 16129"/>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4" name="">
            <a:extLst xmlns:a="http://schemas.openxmlformats.org/drawingml/2006/main">
              <a:ext uri="{FF2B5EF4-FFF2-40B4-BE49-F238E27FC236}">
                <a16:creationId xmlns:a16="http://schemas.microsoft.com/office/drawing/2014/main" id="{CCF384B1-4D1A-471D-A143-E77245965376}"/>
              </a:ext>
            </a:extLst>
          </p:cNvPr>
          <p:cNvSpPr>
            <a:spLocks xmlns:a="http://schemas.openxmlformats.org/drawingml/2006/main" noGrp="1"/>
          </p:cNvSpPr>
          <p:nvPr/>
        </p:nvSpPr>
        <p:spPr>
          <a:xfrm xmlns:a="http://schemas.openxmlformats.org/drawingml/2006/main">
            <a:off x="6267450" y="4524375"/>
            <a:ext cx="304800" cy="2857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444C0EE1-1C8F-4FBC-BAA4-4C3BEBF16FFE}"/>
              </a:ext>
            </a:extLst>
          </p:cNvPr>
          <p:cNvSpPr>
            <a:spLocks xmlns:a="http://schemas.openxmlformats.org/drawingml/2006/main" noGrp="1"/>
          </p:cNvSpPr>
          <p:nvPr/>
        </p:nvSpPr>
        <p:spPr>
          <a:xfrm xmlns:a="http://schemas.openxmlformats.org/drawingml/2006/main">
            <a:off x="6343650" y="45720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2563EB"/>
                </a:solidFill>
              </a:defRPr>
            </a:pPr>
            <a:r>
              <a:rPr sz="900" b="1">
                <a:solidFill>
                  <a:srgbClr val="2563EB"/>
                </a:solidFill>
              </a:rPr>
              <a:t>6</a:t>
            </a:r>
          </a:p>
        </p:txBody>
      </p:sp>
      <p:sp>
        <p:nvSpPr>
          <p:cNvPr id="46" name="">
            <a:extLst xmlns:a="http://schemas.openxmlformats.org/drawingml/2006/main">
              <a:ext uri="{FF2B5EF4-FFF2-40B4-BE49-F238E27FC236}">
                <a16:creationId xmlns:a16="http://schemas.microsoft.com/office/drawing/2014/main" id="{CF915EC8-ED19-4C37-AB73-964B612EE208}"/>
              </a:ext>
            </a:extLst>
          </p:cNvPr>
          <p:cNvSpPr>
            <a:spLocks xmlns:a="http://schemas.openxmlformats.org/drawingml/2006/main" noGrp="1"/>
          </p:cNvSpPr>
          <p:nvPr/>
        </p:nvSpPr>
        <p:spPr>
          <a:xfrm xmlns:a="http://schemas.openxmlformats.org/drawingml/2006/main">
            <a:off x="7867650" y="4524375"/>
            <a:ext cx="457200" cy="457200"/>
          </a:xfrm>
          <a:prstGeom xmlns:a="http://schemas.openxmlformats.org/drawingml/2006/main" prst="roundRect">
            <a:avLst>
              <a:gd name="adj" fmla="val 29167"/>
            </a:avLst>
          </a:prstGeom>
          <a:solidFill xmlns:a="http://schemas.openxmlformats.org/drawingml/2006/main">
            <a:srgbClr val="EFF6FF"/>
          </a:solidFill>
          <a:ln xmlns:a="http://schemas.openxmlformats.org/drawingml/2006/main" w="0">
            <a:noFill/>
            <a:prstDash val="solid"/>
          </a:ln>
        </p:spPr>
      </p:sp>
      <p:pic>
        <p:nvPicPr>
          <p:cNvPr id="120" name=""/>
          <p:cNvPicPr>
            <a:picLocks xmlns:a="http://schemas.openxmlformats.org/drawingml/2006/main" noChangeAspect="1"/>
          </p:cNvPicPr>
          <p:nvPr/>
        </p:nvPicPr>
        <p:blipFill>
          <a:blip xmlns:r="http://schemas.openxmlformats.org/officeDocument/2006/relationships" xmlns:a="http://schemas.openxmlformats.org/drawingml/2006/main" r:embed="R0157cc5243584334">
            <a:extLst>
              <a:ext uri="{96DAC541-7B7A-43D3-8B79-37D633B846F1}">
                <asvg:svgBlip xmlns:asvg="http://schemas.microsoft.com/office/drawing/2016/SVG/main" r:embed="Rfde4328a508d4e42"/>
              </a:ext>
            </a:extLst>
          </a:blip>
          <a:stretch xmlns:a="http://schemas.openxmlformats.org/drawingml/2006/main"/>
        </p:blipFill>
        <p:spPr>
          <a:xfrm xmlns:a="http://schemas.openxmlformats.org/drawingml/2006/main">
            <a:off x="7972425" y="4629150"/>
            <a:ext cx="247650" cy="247650"/>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EA6E950F-783B-49D5-867F-3B8509731EEB}"/>
              </a:ext>
            </a:extLst>
          </p:cNvPr>
          <p:cNvSpPr>
            <a:spLocks xmlns:a="http://schemas.openxmlformats.org/drawingml/2006/main" noGrp="1"/>
          </p:cNvSpPr>
          <p:nvPr/>
        </p:nvSpPr>
        <p:spPr>
          <a:xfrm xmlns:a="http://schemas.openxmlformats.org/drawingml/2006/main">
            <a:off x="6286500" y="49530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Validate</a:t>
            </a:r>
          </a:p>
        </p:txBody>
      </p:sp>
      <p:sp>
        <p:nvSpPr>
          <p:cNvPr id="49" name="">
            <a:extLst xmlns:a="http://schemas.openxmlformats.org/drawingml/2006/main">
              <a:ext uri="{FF2B5EF4-FFF2-40B4-BE49-F238E27FC236}">
                <a16:creationId xmlns:a16="http://schemas.microsoft.com/office/drawing/2014/main" id="{48AA96B2-F9B4-4BF7-8ADF-BC2205C4CB63}"/>
              </a:ext>
            </a:extLst>
          </p:cNvPr>
          <p:cNvSpPr>
            <a:spLocks xmlns:a="http://schemas.openxmlformats.org/drawingml/2006/main" noGrp="1"/>
          </p:cNvSpPr>
          <p:nvPr/>
        </p:nvSpPr>
        <p:spPr>
          <a:xfrm xmlns:a="http://schemas.openxmlformats.org/drawingml/2006/main">
            <a:off x="6286500" y="52197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IDs + protected tokens</a:t>
            </a:r>
          </a:p>
        </p:txBody>
      </p:sp>
      <p:sp>
        <p:nvSpPr>
          <p:cNvPr id="50" name="">
            <a:extLst xmlns:a="http://schemas.openxmlformats.org/drawingml/2006/main">
              <a:ext uri="{FF2B5EF4-FFF2-40B4-BE49-F238E27FC236}">
                <a16:creationId xmlns:a16="http://schemas.microsoft.com/office/drawing/2014/main" id="{01C35CA3-6E3A-4FC7-86D3-262D903F1234}"/>
              </a:ext>
            </a:extLst>
          </p:cNvPr>
          <p:cNvSpPr>
            <a:spLocks xmlns:a="http://schemas.openxmlformats.org/drawingml/2006/main" noGrp="1"/>
          </p:cNvSpPr>
          <p:nvPr/>
        </p:nvSpPr>
        <p:spPr>
          <a:xfrm xmlns:a="http://schemas.openxmlformats.org/drawingml/2006/main">
            <a:off x="3333750" y="4381500"/>
            <a:ext cx="2381250" cy="1181100"/>
          </a:xfrm>
          <a:prstGeom xmlns:a="http://schemas.openxmlformats.org/drawingml/2006/main" prst="roundRect">
            <a:avLst>
              <a:gd name="adj" fmla="val 16129"/>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1" name="">
            <a:extLst xmlns:a="http://schemas.openxmlformats.org/drawingml/2006/main">
              <a:ext uri="{FF2B5EF4-FFF2-40B4-BE49-F238E27FC236}">
                <a16:creationId xmlns:a16="http://schemas.microsoft.com/office/drawing/2014/main" id="{79DAFC77-DCDF-404D-A409-9A5242BEA809}"/>
              </a:ext>
            </a:extLst>
          </p:cNvPr>
          <p:cNvSpPr>
            <a:spLocks xmlns:a="http://schemas.openxmlformats.org/drawingml/2006/main" noGrp="1"/>
          </p:cNvSpPr>
          <p:nvPr/>
        </p:nvSpPr>
        <p:spPr>
          <a:xfrm xmlns:a="http://schemas.openxmlformats.org/drawingml/2006/main">
            <a:off x="3486150" y="4524375"/>
            <a:ext cx="304800" cy="2857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74EFF21-11EC-462C-931B-CDA0DB471460}"/>
              </a:ext>
            </a:extLst>
          </p:cNvPr>
          <p:cNvSpPr>
            <a:spLocks xmlns:a="http://schemas.openxmlformats.org/drawingml/2006/main" noGrp="1"/>
          </p:cNvSpPr>
          <p:nvPr/>
        </p:nvSpPr>
        <p:spPr>
          <a:xfrm xmlns:a="http://schemas.openxmlformats.org/drawingml/2006/main">
            <a:off x="3562350" y="45720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2563EB"/>
                </a:solidFill>
              </a:defRPr>
            </a:pPr>
            <a:r>
              <a:rPr sz="900" b="1">
                <a:solidFill>
                  <a:srgbClr val="2563EB"/>
                </a:solidFill>
              </a:rPr>
              <a:t>7</a:t>
            </a:r>
          </a:p>
        </p:txBody>
      </p:sp>
      <p:sp>
        <p:nvSpPr>
          <p:cNvPr id="53" name="">
            <a:extLst xmlns:a="http://schemas.openxmlformats.org/drawingml/2006/main">
              <a:ext uri="{FF2B5EF4-FFF2-40B4-BE49-F238E27FC236}">
                <a16:creationId xmlns:a16="http://schemas.microsoft.com/office/drawing/2014/main" id="{15FB7C16-EA99-43C6-92C3-5B12DA62EBA8}"/>
              </a:ext>
            </a:extLst>
          </p:cNvPr>
          <p:cNvSpPr>
            <a:spLocks xmlns:a="http://schemas.openxmlformats.org/drawingml/2006/main" noGrp="1"/>
          </p:cNvSpPr>
          <p:nvPr/>
        </p:nvSpPr>
        <p:spPr>
          <a:xfrm xmlns:a="http://schemas.openxmlformats.org/drawingml/2006/main">
            <a:off x="5086350" y="4524375"/>
            <a:ext cx="457200" cy="457200"/>
          </a:xfrm>
          <a:prstGeom xmlns:a="http://schemas.openxmlformats.org/drawingml/2006/main" prst="roundRect">
            <a:avLst>
              <a:gd name="adj" fmla="val 29167"/>
            </a:avLst>
          </a:prstGeom>
          <a:solidFill xmlns:a="http://schemas.openxmlformats.org/drawingml/2006/main">
            <a:srgbClr val="EFF6FF"/>
          </a:solidFill>
          <a:ln xmlns:a="http://schemas.openxmlformats.org/drawingml/2006/main" w="0">
            <a:noFill/>
            <a:prstDash val="solid"/>
          </a:ln>
        </p:spPr>
      </p:sp>
      <p:pic>
        <p:nvPicPr>
          <p:cNvPr id="127" name=""/>
          <p:cNvPicPr>
            <a:picLocks xmlns:a="http://schemas.openxmlformats.org/drawingml/2006/main" noChangeAspect="1"/>
          </p:cNvPicPr>
          <p:nvPr/>
        </p:nvPicPr>
        <p:blipFill>
          <a:blip xmlns:r="http://schemas.openxmlformats.org/officeDocument/2006/relationships" xmlns:a="http://schemas.openxmlformats.org/drawingml/2006/main" r:embed="Rc70a77162ec34523">
            <a:extLst>
              <a:ext uri="{96DAC541-7B7A-43D3-8B79-37D633B846F1}">
                <asvg:svgBlip xmlns:asvg="http://schemas.microsoft.com/office/drawing/2016/SVG/main" r:embed="Rd41fd4e1f77144b4"/>
              </a:ext>
            </a:extLst>
          </a:blip>
          <a:stretch xmlns:a="http://schemas.openxmlformats.org/drawingml/2006/main"/>
        </p:blipFill>
        <p:spPr>
          <a:xfrm xmlns:a="http://schemas.openxmlformats.org/drawingml/2006/main">
            <a:off x="5191125" y="4629150"/>
            <a:ext cx="247650" cy="247650"/>
          </a:xfrm>
          <a:prstGeom xmlns:a="http://schemas.openxmlformats.org/drawingml/2006/main" prst="rect">
            <a:avLst/>
          </a:prstGeom>
        </p:spPr>
      </p:pic>
      <p:sp>
        <p:nvSpPr>
          <p:cNvPr id="55" name="">
            <a:extLst xmlns:a="http://schemas.openxmlformats.org/drawingml/2006/main">
              <a:ext uri="{FF2B5EF4-FFF2-40B4-BE49-F238E27FC236}">
                <a16:creationId xmlns:a16="http://schemas.microsoft.com/office/drawing/2014/main" id="{939AC8A9-8FCF-4435-8CBC-1D499F5479AA}"/>
              </a:ext>
            </a:extLst>
          </p:cNvPr>
          <p:cNvSpPr>
            <a:spLocks xmlns:a="http://schemas.openxmlformats.org/drawingml/2006/main" noGrp="1"/>
          </p:cNvSpPr>
          <p:nvPr/>
        </p:nvSpPr>
        <p:spPr>
          <a:xfrm xmlns:a="http://schemas.openxmlformats.org/drawingml/2006/main">
            <a:off x="3505200" y="49530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Human review</a:t>
            </a:r>
          </a:p>
        </p:txBody>
      </p:sp>
      <p:sp>
        <p:nvSpPr>
          <p:cNvPr id="56" name="">
            <a:extLst xmlns:a="http://schemas.openxmlformats.org/drawingml/2006/main">
              <a:ext uri="{FF2B5EF4-FFF2-40B4-BE49-F238E27FC236}">
                <a16:creationId xmlns:a16="http://schemas.microsoft.com/office/drawing/2014/main" id="{ABC2B3A5-95D6-4B91-A5BD-CB33D94CF831}"/>
              </a:ext>
            </a:extLst>
          </p:cNvPr>
          <p:cNvSpPr>
            <a:spLocks xmlns:a="http://schemas.openxmlformats.org/drawingml/2006/main" noGrp="1"/>
          </p:cNvSpPr>
          <p:nvPr/>
        </p:nvSpPr>
        <p:spPr>
          <a:xfrm xmlns:a="http://schemas.openxmlformats.org/drawingml/2006/main">
            <a:off x="3505200" y="52197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Approve / correct</a:t>
            </a:r>
          </a:p>
        </p:txBody>
      </p:sp>
      <p:sp>
        <p:nvSpPr>
          <p:cNvPr id="57" name="">
            <a:extLst xmlns:a="http://schemas.openxmlformats.org/drawingml/2006/main">
              <a:ext uri="{FF2B5EF4-FFF2-40B4-BE49-F238E27FC236}">
                <a16:creationId xmlns:a16="http://schemas.microsoft.com/office/drawing/2014/main" id="{6EE04F61-C790-42B1-A166-115252E72AA5}"/>
              </a:ext>
            </a:extLst>
          </p:cNvPr>
          <p:cNvSpPr>
            <a:spLocks xmlns:a="http://schemas.openxmlformats.org/drawingml/2006/main" noGrp="1"/>
          </p:cNvSpPr>
          <p:nvPr/>
        </p:nvSpPr>
        <p:spPr>
          <a:xfrm xmlns:a="http://schemas.openxmlformats.org/drawingml/2006/main">
            <a:off x="552450" y="4381500"/>
            <a:ext cx="2381250" cy="1181100"/>
          </a:xfrm>
          <a:prstGeom xmlns:a="http://schemas.openxmlformats.org/drawingml/2006/main" prst="roundRect">
            <a:avLst>
              <a:gd name="adj" fmla="val 16129"/>
            </a:avLst>
          </a:prstGeom>
          <a:solidFill xmlns:a="http://schemas.openxmlformats.org/drawingml/2006/main">
            <a:srgbClr val="FFFFFF"/>
          </a:solidFill>
          <a:ln xmlns:a="http://schemas.openxmlformats.org/drawingml/2006/main" w="9525">
            <a:solidFill>
              <a:srgbClr val="D9E3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8" name="">
            <a:extLst xmlns:a="http://schemas.openxmlformats.org/drawingml/2006/main">
              <a:ext uri="{FF2B5EF4-FFF2-40B4-BE49-F238E27FC236}">
                <a16:creationId xmlns:a16="http://schemas.microsoft.com/office/drawing/2014/main" id="{5B67AB28-3CEA-456F-B816-97C0B8600FB1}"/>
              </a:ext>
            </a:extLst>
          </p:cNvPr>
          <p:cNvSpPr>
            <a:spLocks xmlns:a="http://schemas.openxmlformats.org/drawingml/2006/main" noGrp="1"/>
          </p:cNvSpPr>
          <p:nvPr/>
        </p:nvSpPr>
        <p:spPr>
          <a:xfrm xmlns:a="http://schemas.openxmlformats.org/drawingml/2006/main">
            <a:off x="704850" y="4524375"/>
            <a:ext cx="304800" cy="2857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B28406F0-542F-4C6D-B3DD-7142CF4C3898}"/>
              </a:ext>
            </a:extLst>
          </p:cNvPr>
          <p:cNvSpPr>
            <a:spLocks xmlns:a="http://schemas.openxmlformats.org/drawingml/2006/main" noGrp="1"/>
          </p:cNvSpPr>
          <p:nvPr/>
        </p:nvSpPr>
        <p:spPr>
          <a:xfrm xmlns:a="http://schemas.openxmlformats.org/drawingml/2006/main">
            <a:off x="781050" y="4572000"/>
            <a:ext cx="15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2563EB"/>
                </a:solidFill>
              </a:defRPr>
            </a:pPr>
            <a:r>
              <a:rPr sz="900" b="1">
                <a:solidFill>
                  <a:srgbClr val="2563EB"/>
                </a:solidFill>
              </a:rPr>
              <a:t>8</a:t>
            </a:r>
          </a:p>
        </p:txBody>
      </p:sp>
      <p:sp>
        <p:nvSpPr>
          <p:cNvPr id="60" name="">
            <a:extLst xmlns:a="http://schemas.openxmlformats.org/drawingml/2006/main">
              <a:ext uri="{FF2B5EF4-FFF2-40B4-BE49-F238E27FC236}">
                <a16:creationId xmlns:a16="http://schemas.microsoft.com/office/drawing/2014/main" id="{16FCF65E-DC32-4362-B782-618FA79F1770}"/>
              </a:ext>
            </a:extLst>
          </p:cNvPr>
          <p:cNvSpPr>
            <a:spLocks xmlns:a="http://schemas.openxmlformats.org/drawingml/2006/main" noGrp="1"/>
          </p:cNvSpPr>
          <p:nvPr/>
        </p:nvSpPr>
        <p:spPr>
          <a:xfrm xmlns:a="http://schemas.openxmlformats.org/drawingml/2006/main">
            <a:off x="2305050" y="4524375"/>
            <a:ext cx="457200" cy="457200"/>
          </a:xfrm>
          <a:prstGeom xmlns:a="http://schemas.openxmlformats.org/drawingml/2006/main" prst="roundRect">
            <a:avLst>
              <a:gd name="adj" fmla="val 29167"/>
            </a:avLst>
          </a:prstGeom>
          <a:solidFill xmlns:a="http://schemas.openxmlformats.org/drawingml/2006/main">
            <a:srgbClr val="EFF6FF"/>
          </a:solidFill>
          <a:ln xmlns:a="http://schemas.openxmlformats.org/drawingml/2006/main" w="0">
            <a:noFill/>
            <a:prstDash val="solid"/>
          </a:ln>
        </p:spPr>
      </p:sp>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31aaa4ec68504ecd">
            <a:extLst>
              <a:ext uri="{96DAC541-7B7A-43D3-8B79-37D633B846F1}">
                <asvg:svgBlip xmlns:asvg="http://schemas.microsoft.com/office/drawing/2016/SVG/main" r:embed="Ree572d61d20e4cdf"/>
              </a:ext>
            </a:extLst>
          </a:blip>
          <a:stretch xmlns:a="http://schemas.openxmlformats.org/drawingml/2006/main"/>
        </p:blipFill>
        <p:spPr>
          <a:xfrm xmlns:a="http://schemas.openxmlformats.org/drawingml/2006/main">
            <a:off x="2409825" y="4629150"/>
            <a:ext cx="247650" cy="247650"/>
          </a:xfrm>
          <a:prstGeom xmlns:a="http://schemas.openxmlformats.org/drawingml/2006/main" prst="rect">
            <a:avLst/>
          </a:prstGeom>
        </p:spPr>
      </p:pic>
      <p:sp>
        <p:nvSpPr>
          <p:cNvPr id="62" name="">
            <a:extLst xmlns:a="http://schemas.openxmlformats.org/drawingml/2006/main">
              <a:ext uri="{FF2B5EF4-FFF2-40B4-BE49-F238E27FC236}">
                <a16:creationId xmlns:a16="http://schemas.microsoft.com/office/drawing/2014/main" id="{704EA014-8FA3-4979-A841-216F4E4E8750}"/>
              </a:ext>
            </a:extLst>
          </p:cNvPr>
          <p:cNvSpPr>
            <a:spLocks xmlns:a="http://schemas.openxmlformats.org/drawingml/2006/main" noGrp="1"/>
          </p:cNvSpPr>
          <p:nvPr/>
        </p:nvSpPr>
        <p:spPr>
          <a:xfrm xmlns:a="http://schemas.openxmlformats.org/drawingml/2006/main">
            <a:off x="723900" y="49530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71A33"/>
                </a:solidFill>
              </a:defRPr>
            </a:pPr>
            <a:r>
              <a:rPr sz="1350" b="1">
                <a:solidFill>
                  <a:srgbClr val="071A33"/>
                </a:solidFill>
              </a:rPr>
              <a:t>Export + delete</a:t>
            </a:r>
          </a:p>
        </p:txBody>
      </p:sp>
      <p:sp>
        <p:nvSpPr>
          <p:cNvPr id="63" name="">
            <a:extLst xmlns:a="http://schemas.openxmlformats.org/drawingml/2006/main">
              <a:ext uri="{FF2B5EF4-FFF2-40B4-BE49-F238E27FC236}">
                <a16:creationId xmlns:a16="http://schemas.microsoft.com/office/drawing/2014/main" id="{13F8BB7A-F485-47A2-BEE9-379A7F7D4158}"/>
              </a:ext>
            </a:extLst>
          </p:cNvPr>
          <p:cNvSpPr>
            <a:spLocks xmlns:a="http://schemas.openxmlformats.org/drawingml/2006/main" noGrp="1"/>
          </p:cNvSpPr>
          <p:nvPr/>
        </p:nvSpPr>
        <p:spPr>
          <a:xfrm xmlns:a="http://schemas.openxmlformats.org/drawingml/2006/main">
            <a:off x="723900" y="52197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Retention evidence</a:t>
            </a:r>
          </a:p>
        </p:txBody>
      </p:sp>
      <p:cxnSp>
        <p:nvCxnSpPr>
          <p:cNvPr id="137" name=""/>
          <p:cNvCxnSpPr>
            <a:stCxn xmlns:a="http://schemas.openxmlformats.org/drawingml/2006/main" id="8" idx="3"/>
            <a:endCxn xmlns:a="http://schemas.openxmlformats.org/drawingml/2006/main" id="15" idx="1"/>
          </p:cNvCxnSpPr>
          <p:nvPr/>
        </p:nvCxnSpPr>
        <p:spPr>
          <a:xfrm xmlns:a="http://schemas.openxmlformats.org/drawingml/2006/main">
            <a:off x="2933700" y="2686050"/>
            <a:ext cx="400050" cy="0"/>
          </a:xfrm>
          <a:prstGeom xmlns:a="http://schemas.openxmlformats.org/drawingml/2006/main" prst="straightConnector1">
            <a:avLst/>
          </a:prstGeom>
          <a:ln xmlns:a="http://schemas.openxmlformats.org/drawingml/2006/main" w="19050">
            <a:solidFill>
              <a:srgbClr val="9EB7D5"/>
            </a:solidFill>
            <a:prstDash val="solid"/>
            <a:tailEnd type="triangle" w="sm" len="sm"/>
          </a:ln>
        </p:spPr>
      </p:cxnSp>
      <p:cxnSp>
        <p:nvCxnSpPr>
          <p:cNvPr id="138" name=""/>
          <p:cNvCxnSpPr>
            <a:stCxn xmlns:a="http://schemas.openxmlformats.org/drawingml/2006/main" id="15" idx="3"/>
            <a:endCxn xmlns:a="http://schemas.openxmlformats.org/drawingml/2006/main" id="22" idx="1"/>
          </p:cNvCxnSpPr>
          <p:nvPr/>
        </p:nvCxnSpPr>
        <p:spPr>
          <a:xfrm xmlns:a="http://schemas.openxmlformats.org/drawingml/2006/main">
            <a:off x="5715000" y="2686050"/>
            <a:ext cx="400050" cy="0"/>
          </a:xfrm>
          <a:prstGeom xmlns:a="http://schemas.openxmlformats.org/drawingml/2006/main" prst="straightConnector1">
            <a:avLst/>
          </a:prstGeom>
          <a:ln xmlns:a="http://schemas.openxmlformats.org/drawingml/2006/main" w="19050">
            <a:solidFill>
              <a:srgbClr val="9EB7D5"/>
            </a:solidFill>
            <a:prstDash val="solid"/>
            <a:tailEnd type="triangle" w="sm" len="sm"/>
          </a:ln>
        </p:spPr>
      </p:cxnSp>
      <p:cxnSp>
        <p:nvCxnSpPr>
          <p:cNvPr id="139" name=""/>
          <p:cNvCxnSpPr>
            <a:stCxn xmlns:a="http://schemas.openxmlformats.org/drawingml/2006/main" id="22" idx="3"/>
            <a:endCxn xmlns:a="http://schemas.openxmlformats.org/drawingml/2006/main" id="29" idx="1"/>
          </p:cNvCxnSpPr>
          <p:nvPr/>
        </p:nvCxnSpPr>
        <p:spPr>
          <a:xfrm xmlns:a="http://schemas.openxmlformats.org/drawingml/2006/main">
            <a:off x="8496300" y="2686050"/>
            <a:ext cx="400050" cy="0"/>
          </a:xfrm>
          <a:prstGeom xmlns:a="http://schemas.openxmlformats.org/drawingml/2006/main" prst="straightConnector1">
            <a:avLst/>
          </a:prstGeom>
          <a:ln xmlns:a="http://schemas.openxmlformats.org/drawingml/2006/main" w="19050">
            <a:solidFill>
              <a:srgbClr val="9EB7D5"/>
            </a:solidFill>
            <a:prstDash val="solid"/>
            <a:tailEnd type="triangle" w="sm" len="sm"/>
          </a:ln>
        </p:spPr>
      </p:cxnSp>
      <p:cxnSp>
        <p:nvCxnSpPr>
          <p:cNvPr id="140" name=""/>
          <p:cNvCxnSpPr>
            <a:stCxn xmlns:a="http://schemas.openxmlformats.org/drawingml/2006/main" id="29" idx="2"/>
            <a:endCxn xmlns:a="http://schemas.openxmlformats.org/drawingml/2006/main" id="36" idx="0"/>
          </p:cNvCxnSpPr>
          <p:nvPr/>
        </p:nvCxnSpPr>
        <p:spPr>
          <a:xfrm xmlns:a="http://schemas.openxmlformats.org/drawingml/2006/main">
            <a:off x="10086975" y="3276600"/>
            <a:ext cx="0" cy="1104900"/>
          </a:xfrm>
          <a:prstGeom xmlns:a="http://schemas.openxmlformats.org/drawingml/2006/main" prst="straightConnector1">
            <a:avLst/>
          </a:prstGeom>
          <a:ln xmlns:a="http://schemas.openxmlformats.org/drawingml/2006/main" w="19050">
            <a:solidFill>
              <a:srgbClr val="0F9D8A"/>
            </a:solidFill>
            <a:prstDash val="solid"/>
            <a:tailEnd type="triangle" w="sm" len="sm"/>
          </a:ln>
        </p:spPr>
      </p:cxnSp>
      <p:cxnSp>
        <p:nvCxnSpPr>
          <p:cNvPr id="141" name=""/>
          <p:cNvCxnSpPr>
            <a:stCxn xmlns:a="http://schemas.openxmlformats.org/drawingml/2006/main" id="36" idx="1"/>
            <a:endCxn xmlns:a="http://schemas.openxmlformats.org/drawingml/2006/main" id="43" idx="3"/>
          </p:cNvCxnSpPr>
          <p:nvPr/>
        </p:nvCxnSpPr>
        <p:spPr>
          <a:xfrm xmlns:a="http://schemas.openxmlformats.org/drawingml/2006/main" flipH="1">
            <a:off x="8496300" y="4972050"/>
            <a:ext cx="400050" cy="0"/>
          </a:xfrm>
          <a:prstGeom xmlns:a="http://schemas.openxmlformats.org/drawingml/2006/main" prst="straightConnector1">
            <a:avLst/>
          </a:prstGeom>
          <a:ln xmlns:a="http://schemas.openxmlformats.org/drawingml/2006/main" w="19050">
            <a:solidFill>
              <a:srgbClr val="9EB7D5"/>
            </a:solidFill>
            <a:prstDash val="solid"/>
            <a:tailEnd type="triangle" w="sm" len="sm"/>
          </a:ln>
        </p:spPr>
      </p:cxnSp>
      <p:cxnSp>
        <p:nvCxnSpPr>
          <p:cNvPr id="142" name=""/>
          <p:cNvCxnSpPr>
            <a:stCxn xmlns:a="http://schemas.openxmlformats.org/drawingml/2006/main" id="43" idx="1"/>
            <a:endCxn xmlns:a="http://schemas.openxmlformats.org/drawingml/2006/main" id="50" idx="3"/>
          </p:cNvCxnSpPr>
          <p:nvPr/>
        </p:nvCxnSpPr>
        <p:spPr>
          <a:xfrm xmlns:a="http://schemas.openxmlformats.org/drawingml/2006/main" flipH="1">
            <a:off x="5715000" y="4972050"/>
            <a:ext cx="400050" cy="0"/>
          </a:xfrm>
          <a:prstGeom xmlns:a="http://schemas.openxmlformats.org/drawingml/2006/main" prst="straightConnector1">
            <a:avLst/>
          </a:prstGeom>
          <a:ln xmlns:a="http://schemas.openxmlformats.org/drawingml/2006/main" w="19050">
            <a:solidFill>
              <a:srgbClr val="9EB7D5"/>
            </a:solidFill>
            <a:prstDash val="solid"/>
            <a:tailEnd type="triangle" w="sm" len="sm"/>
          </a:ln>
        </p:spPr>
      </p:cxnSp>
      <p:cxnSp>
        <p:nvCxnSpPr>
          <p:cNvPr id="143" name=""/>
          <p:cNvCxnSpPr>
            <a:stCxn xmlns:a="http://schemas.openxmlformats.org/drawingml/2006/main" id="50" idx="1"/>
            <a:endCxn xmlns:a="http://schemas.openxmlformats.org/drawingml/2006/main" id="57" idx="3"/>
          </p:cNvCxnSpPr>
          <p:nvPr/>
        </p:nvCxnSpPr>
        <p:spPr>
          <a:xfrm xmlns:a="http://schemas.openxmlformats.org/drawingml/2006/main" flipH="1">
            <a:off x="2933700" y="4972050"/>
            <a:ext cx="400050" cy="0"/>
          </a:xfrm>
          <a:prstGeom xmlns:a="http://schemas.openxmlformats.org/drawingml/2006/main" prst="straightConnector1">
            <a:avLst/>
          </a:prstGeom>
          <a:ln xmlns:a="http://schemas.openxmlformats.org/drawingml/2006/main" w="19050">
            <a:solidFill>
              <a:srgbClr val="9EB7D5"/>
            </a:solidFill>
            <a:prstDash val="solid"/>
            <a:tailEnd type="triangle" w="sm" len="sm"/>
          </a:ln>
        </p:spPr>
      </p:cxnSp>
      <p:sp>
        <p:nvSpPr>
          <p:cNvPr id="71" name="">
            <a:extLst xmlns:a="http://schemas.openxmlformats.org/drawingml/2006/main">
              <a:ext uri="{FF2B5EF4-FFF2-40B4-BE49-F238E27FC236}">
                <a16:creationId xmlns:a16="http://schemas.microsoft.com/office/drawing/2014/main" id="{FCA5108B-B067-4FA4-BC1A-75D007F5CD9B}"/>
              </a:ext>
            </a:extLst>
          </p:cNvPr>
          <p:cNvSpPr>
            <a:spLocks xmlns:a="http://schemas.openxmlformats.org/drawingml/2006/main" noGrp="1"/>
          </p:cNvSpPr>
          <p:nvPr/>
        </p:nvSpPr>
        <p:spPr>
          <a:xfrm xmlns:a="http://schemas.openxmlformats.org/drawingml/2006/main">
            <a:off x="3314700" y="3562350"/>
            <a:ext cx="5562600" cy="552450"/>
          </a:xfrm>
          <a:prstGeom xmlns:a="http://schemas.openxmlformats.org/drawingml/2006/main" prst="roundRect">
            <a:avLst>
              <a:gd name="adj" fmla="val 50000"/>
            </a:avLst>
          </a:prstGeom>
          <a:solidFill xmlns:a="http://schemas.openxmlformats.org/drawingml/2006/main">
            <a:srgbClr val="071A33"/>
          </a:solidFill>
          <a:ln xmlns:a="http://schemas.openxmlformats.org/drawingml/2006/main" w="0">
            <a:noFill/>
            <a:prstDash val="solid"/>
          </a:ln>
        </p:spPr>
      </p:sp>
      <p:pic>
        <p:nvPicPr>
          <p:cNvPr id="145" name=""/>
          <p:cNvPicPr>
            <a:picLocks xmlns:a="http://schemas.openxmlformats.org/drawingml/2006/main" noChangeAspect="1"/>
          </p:cNvPicPr>
          <p:nvPr/>
        </p:nvPicPr>
        <p:blipFill>
          <a:blip xmlns:r="http://schemas.openxmlformats.org/officeDocument/2006/relationships" xmlns:a="http://schemas.openxmlformats.org/drawingml/2006/main" r:embed="R6f0b3cb928d7435d">
            <a:extLst>
              <a:ext uri="{96DAC541-7B7A-43D3-8B79-37D633B846F1}">
                <asvg:svgBlip xmlns:asvg="http://schemas.microsoft.com/office/drawing/2016/SVG/main" r:embed="R91da6516e8304875"/>
              </a:ext>
            </a:extLst>
          </a:blip>
          <a:stretch xmlns:a="http://schemas.openxmlformats.org/drawingml/2006/main"/>
        </p:blipFill>
        <p:spPr>
          <a:xfrm xmlns:a="http://schemas.openxmlformats.org/drawingml/2006/main">
            <a:off x="3533775" y="3705225"/>
            <a:ext cx="266700" cy="266700"/>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BEA9B804-5F35-4555-AE64-9D07EC4FFE43}"/>
              </a:ext>
            </a:extLst>
          </p:cNvPr>
          <p:cNvSpPr>
            <a:spLocks xmlns:a="http://schemas.openxmlformats.org/drawingml/2006/main" noGrp="1"/>
          </p:cNvSpPr>
          <p:nvPr/>
        </p:nvSpPr>
        <p:spPr>
          <a:xfrm xmlns:a="http://schemas.openxmlformats.org/drawingml/2006/main">
            <a:off x="3943350" y="3657600"/>
            <a:ext cx="468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Default deny: prohibited or low-confidence content uses a non-LLM / local / manual route</a:t>
            </a:r>
          </a:p>
        </p:txBody>
      </p:sp>
    </p:spTree>
    <p:extLst>
      <p:ext uri="{BB962C8B-B14F-4D97-AF65-F5344CB8AC3E}">
        <p14:creationId xmlns:p14="http://schemas.microsoft.com/office/powerpoint/2010/main" val="265539349"/>
      </p:ext>
    </p:extLst>
  </p:cSld>
</p:sld>
</file>

<file path=ppt/slides/slide5.xml><?xml version="1.0" encoding="utf-8"?>
<p:sld xmlns:p="http://schemas.openxmlformats.org/presentationml/2006/main">
  <p:cSld>
    <p:bg>
      <p:bgPr>
        <a:solidFill xmlns:a="http://schemas.openxmlformats.org/drawingml/2006/main">
          <a:srgbClr val="071A33"/>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A35EABF9-2918-4F1C-91E3-BFF19AF16314}"/>
              </a:ext>
            </a:extLst>
          </p:cNvPr>
          <p:cNvSpPr>
            <a:spLocks xmlns:a="http://schemas.openxmlformats.org/drawingml/2006/main" noGrp="1"/>
          </p:cNvSpPr>
          <p:nvPr/>
        </p:nvSpPr>
        <p:spPr>
          <a:xfrm xmlns:a="http://schemas.openxmlformats.org/drawingml/2006/main">
            <a:off x="552450" y="4191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7A8FF"/>
                </a:solidFill>
              </a:defRPr>
            </a:pPr>
            <a:r>
              <a:rPr sz="900" b="1">
                <a:solidFill>
                  <a:srgbClr val="77A8FF"/>
                </a:solidFill>
              </a:rPr>
              <a:t>DATA EXPOSURE</a:t>
            </a:r>
          </a:p>
        </p:txBody>
      </p:sp>
      <p:sp>
        <p:nvSpPr>
          <p:cNvPr id="2" name="">
            <a:extLst xmlns:a="http://schemas.openxmlformats.org/drawingml/2006/main">
              <a:ext uri="{FF2B5EF4-FFF2-40B4-BE49-F238E27FC236}">
                <a16:creationId xmlns:a16="http://schemas.microsoft.com/office/drawing/2014/main" id="{72DFF8AE-838C-43A6-A63F-40493F8E5496}"/>
              </a:ext>
            </a:extLst>
          </p:cNvPr>
          <p:cNvSpPr>
            <a:spLocks xmlns:a="http://schemas.openxmlformats.org/drawingml/2006/main" noGrp="1"/>
          </p:cNvSpPr>
          <p:nvPr/>
        </p:nvSpPr>
        <p:spPr>
          <a:xfrm xmlns:a="http://schemas.openxmlformats.org/drawingml/2006/main">
            <a:off x="552450" y="723900"/>
            <a:ext cx="11087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Azure processing ≠ automatic LLM exposure</a:t>
            </a:r>
          </a:p>
        </p:txBody>
      </p:sp>
      <p:sp>
        <p:nvSpPr>
          <p:cNvPr id="3" name="">
            <a:extLst xmlns:a="http://schemas.openxmlformats.org/drawingml/2006/main">
              <a:ext uri="{FF2B5EF4-FFF2-40B4-BE49-F238E27FC236}">
                <a16:creationId xmlns:a16="http://schemas.microsoft.com/office/drawing/2014/main" id="{C3A2ACA7-6906-4746-B676-12301D41E749}"/>
              </a:ext>
            </a:extLst>
          </p:cNvPr>
          <p:cNvSpPr>
            <a:spLocks xmlns:a="http://schemas.openxmlformats.org/drawingml/2006/main" noGrp="1"/>
          </p:cNvSpPr>
          <p:nvPr/>
        </p:nvSpPr>
        <p:spPr>
          <a:xfrm xmlns:a="http://schemas.openxmlformats.org/drawingml/2006/main">
            <a:off x="55245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B9C8DC"/>
                </a:solidFill>
              </a:defRPr>
            </a:pPr>
            <a:r>
              <a:rPr sz="1275" b="0">
                <a:solidFill>
                  <a:srgbClr val="B9C8DC"/>
                </a:solidFill>
              </a:rPr>
              <a:t>Each service sees only what the application explicitly sends to it.</a:t>
            </a:r>
          </a:p>
        </p:txBody>
      </p:sp>
      <p:sp>
        <p:nvSpPr>
          <p:cNvPr id="4" name="">
            <a:extLst xmlns:a="http://schemas.openxmlformats.org/drawingml/2006/main">
              <a:ext uri="{FF2B5EF4-FFF2-40B4-BE49-F238E27FC236}">
                <a16:creationId xmlns:a16="http://schemas.microsoft.com/office/drawing/2014/main" id="{FD77ED2A-76F7-4289-99D5-C849C764D7F3}"/>
              </a:ext>
            </a:extLst>
          </p:cNvPr>
          <p:cNvSpPr>
            <a:spLocks xmlns:a="http://schemas.openxmlformats.org/drawingml/2006/main" noGrp="1"/>
          </p:cNvSpPr>
          <p:nvPr/>
        </p:nvSpPr>
        <p:spPr>
          <a:xfrm xmlns:a="http://schemas.openxmlformats.org/drawingml/2006/main">
            <a:off x="55245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A9B9CD"/>
                </a:solidFill>
              </a:defRPr>
            </a:pPr>
            <a:r>
              <a:rPr sz="750" b="1">
                <a:solidFill>
                  <a:srgbClr val="A9B9CD"/>
                </a:solidFill>
              </a:rPr>
              <a:t>CARETRANSLATE STUDIO</a:t>
            </a:r>
          </a:p>
        </p:txBody>
      </p:sp>
      <p:sp>
        <p:nvSpPr>
          <p:cNvPr id="5" name="">
            <a:extLst xmlns:a="http://schemas.openxmlformats.org/drawingml/2006/main">
              <a:ext uri="{FF2B5EF4-FFF2-40B4-BE49-F238E27FC236}">
                <a16:creationId xmlns:a16="http://schemas.microsoft.com/office/drawing/2014/main" id="{92FDD588-2F7D-4404-9D9A-1FC1CD6F1F2D}"/>
              </a:ext>
            </a:extLst>
          </p:cNvPr>
          <p:cNvSpPr>
            <a:spLocks xmlns:a="http://schemas.openxmlformats.org/drawingml/2006/main" noGrp="1"/>
          </p:cNvSpPr>
          <p:nvPr/>
        </p:nvSpPr>
        <p:spPr>
          <a:xfrm xmlns:a="http://schemas.openxmlformats.org/drawingml/2006/main">
            <a:off x="10477500" y="64389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A9B9CD"/>
                </a:solidFill>
              </a:defRPr>
            </a:pPr>
            <a:r>
              <a:rPr sz="750" b="1">
                <a:solidFill>
                  <a:srgbClr val="A9B9CD"/>
                </a:solidFill>
              </a:rPr>
              <a:t>05 / 07</a:t>
            </a:r>
          </a:p>
        </p:txBody>
      </p:sp>
      <p:sp>
        <p:nvSpPr>
          <p:cNvPr id="6" name="">
            <a:extLst xmlns:a="http://schemas.openxmlformats.org/drawingml/2006/main">
              <a:ext uri="{FF2B5EF4-FFF2-40B4-BE49-F238E27FC236}">
                <a16:creationId xmlns:a16="http://schemas.microsoft.com/office/drawing/2014/main" id="{8C37ECB8-3B1B-475E-912D-198BCA08F906}"/>
              </a:ext>
            </a:extLst>
          </p:cNvPr>
          <p:cNvSpPr>
            <a:spLocks xmlns:a="http://schemas.openxmlformats.org/drawingml/2006/main" noGrp="1"/>
          </p:cNvSpPr>
          <p:nvPr/>
        </p:nvSpPr>
        <p:spPr>
          <a:xfrm xmlns:a="http://schemas.openxmlformats.org/drawingml/2006/main">
            <a:off x="552450" y="1981200"/>
            <a:ext cx="3429000" cy="2057400"/>
          </a:xfrm>
          <a:prstGeom xmlns:a="http://schemas.openxmlformats.org/drawingml/2006/main" prst="roundRect">
            <a:avLst>
              <a:gd name="adj" fmla="val 10185"/>
            </a:avLst>
          </a:prstGeom>
          <a:solidFill xmlns:a="http://schemas.openxmlformats.org/drawingml/2006/main">
            <a:srgbClr val="0E294C"/>
          </a:solidFill>
          <a:ln xmlns:a="http://schemas.openxmlformats.org/drawingml/2006/main" w="9525">
            <a:solidFill>
              <a:srgbClr val="24466F"/>
            </a:solidFill>
            <a:prstDash val="solid"/>
          </a:ln>
        </p:spPr>
      </p:sp>
      <p:sp>
        <p:nvSpPr>
          <p:cNvPr id="7" name="">
            <a:extLst xmlns:a="http://schemas.openxmlformats.org/drawingml/2006/main">
              <a:ext uri="{FF2B5EF4-FFF2-40B4-BE49-F238E27FC236}">
                <a16:creationId xmlns:a16="http://schemas.microsoft.com/office/drawing/2014/main" id="{6FB0269B-E993-4832-A9A0-C766212CB17E}"/>
              </a:ext>
            </a:extLst>
          </p:cNvPr>
          <p:cNvSpPr>
            <a:spLocks xmlns:a="http://schemas.openxmlformats.org/drawingml/2006/main" noGrp="1"/>
          </p:cNvSpPr>
          <p:nvPr/>
        </p:nvSpPr>
        <p:spPr>
          <a:xfrm xmlns:a="http://schemas.openxmlformats.org/drawingml/2006/main">
            <a:off x="781050" y="2190750"/>
            <a:ext cx="514350" cy="514350"/>
          </a:xfrm>
          <a:prstGeom xmlns:a="http://schemas.openxmlformats.org/drawingml/2006/main" prst="roundRect">
            <a:avLst>
              <a:gd name="adj" fmla="val 25926"/>
            </a:avLst>
          </a:prstGeom>
          <a:solidFill xmlns:a="http://schemas.openxmlformats.org/drawingml/2006/main">
            <a:srgbClr val="153A64"/>
          </a:solidFill>
          <a:ln xmlns:a="http://schemas.openxmlformats.org/drawingml/2006/main" w="0">
            <a:noFill/>
            <a:prstDash val="solid"/>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06512ffd46154ff2">
            <a:extLst>
              <a:ext uri="{96DAC541-7B7A-43D3-8B79-37D633B846F1}">
                <asvg:svgBlip xmlns:asvg="http://schemas.microsoft.com/office/drawing/2016/SVG/main" r:embed="R672c3cce61cb438d"/>
              </a:ext>
            </a:extLst>
          </a:blip>
          <a:stretch xmlns:a="http://schemas.openxmlformats.org/drawingml/2006/main"/>
        </p:blipFill>
        <p:spPr>
          <a:xfrm xmlns:a="http://schemas.openxmlformats.org/drawingml/2006/main">
            <a:off x="885825" y="2295525"/>
            <a:ext cx="304800" cy="304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DF612FF-E4F3-4401-922C-C5AF52843B23}"/>
              </a:ext>
            </a:extLst>
          </p:cNvPr>
          <p:cNvSpPr>
            <a:spLocks xmlns:a="http://schemas.openxmlformats.org/drawingml/2006/main" noGrp="1"/>
          </p:cNvSpPr>
          <p:nvPr/>
        </p:nvSpPr>
        <p:spPr>
          <a:xfrm xmlns:a="http://schemas.openxmlformats.org/drawingml/2006/main">
            <a:off x="1447800" y="2200275"/>
            <a:ext cx="2266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Azure Document Intelligence</a:t>
            </a:r>
          </a:p>
        </p:txBody>
      </p:sp>
      <p:sp>
        <p:nvSpPr>
          <p:cNvPr id="10" name="">
            <a:extLst xmlns:a="http://schemas.openxmlformats.org/drawingml/2006/main">
              <a:ext uri="{FF2B5EF4-FFF2-40B4-BE49-F238E27FC236}">
                <a16:creationId xmlns:a16="http://schemas.microsoft.com/office/drawing/2014/main" id="{ED77138A-B962-4735-8CEF-1A3C5D7EBD6C}"/>
              </a:ext>
            </a:extLst>
          </p:cNvPr>
          <p:cNvSpPr>
            <a:spLocks xmlns:a="http://schemas.openxmlformats.org/drawingml/2006/main" noGrp="1"/>
          </p:cNvSpPr>
          <p:nvPr/>
        </p:nvSpPr>
        <p:spPr>
          <a:xfrm xmlns:a="http://schemas.openxmlformats.org/drawingml/2006/main">
            <a:off x="781050" y="288607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Receives the complete file</a:t>
            </a:r>
          </a:p>
        </p:txBody>
      </p:sp>
      <p:sp>
        <p:nvSpPr>
          <p:cNvPr id="11" name="">
            <a:extLst xmlns:a="http://schemas.openxmlformats.org/drawingml/2006/main">
              <a:ext uri="{FF2B5EF4-FFF2-40B4-BE49-F238E27FC236}">
                <a16:creationId xmlns:a16="http://schemas.microsoft.com/office/drawing/2014/main" id="{0E923D8D-A636-4493-AA0F-5BCDAE4C76BD}"/>
              </a:ext>
            </a:extLst>
          </p:cNvPr>
          <p:cNvSpPr>
            <a:spLocks xmlns:a="http://schemas.openxmlformats.org/drawingml/2006/main" noGrp="1"/>
          </p:cNvSpPr>
          <p:nvPr/>
        </p:nvSpPr>
        <p:spPr>
          <a:xfrm xmlns:a="http://schemas.openxmlformats.org/drawingml/2006/main">
            <a:off x="781050" y="3219450"/>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AEC0D5"/>
                </a:solidFill>
              </a:defRPr>
            </a:pPr>
            <a:r>
              <a:rPr sz="975" b="0">
                <a:solidFill>
                  <a:srgbClr val="AEC0D5"/>
                </a:solidFill>
              </a:rPr>
              <a:t>OCR + layout extraction</a:t>
            </a:r>
          </a:p>
        </p:txBody>
      </p:sp>
      <p:sp>
        <p:nvSpPr>
          <p:cNvPr id="12" name="">
            <a:extLst xmlns:a="http://schemas.openxmlformats.org/drawingml/2006/main">
              <a:ext uri="{FF2B5EF4-FFF2-40B4-BE49-F238E27FC236}">
                <a16:creationId xmlns:a16="http://schemas.microsoft.com/office/drawing/2014/main" id="{0FA31D3D-A077-46B5-8FEA-DD28420B7244}"/>
              </a:ext>
            </a:extLst>
          </p:cNvPr>
          <p:cNvSpPr>
            <a:spLocks xmlns:a="http://schemas.openxmlformats.org/drawingml/2006/main" noGrp="1"/>
          </p:cNvSpPr>
          <p:nvPr/>
        </p:nvSpPr>
        <p:spPr>
          <a:xfrm xmlns:a="http://schemas.openxmlformats.org/drawingml/2006/main">
            <a:off x="781050" y="3600450"/>
            <a:ext cx="1009650" cy="285750"/>
          </a:xfrm>
          <a:prstGeom xmlns:a="http://schemas.openxmlformats.org/drawingml/2006/main" prst="roundRect">
            <a:avLst>
              <a:gd name="adj" fmla="val 50000"/>
            </a:avLst>
          </a:prstGeom>
          <a:solidFill xmlns:a="http://schemas.openxmlformats.org/drawingml/2006/main">
            <a:srgbClr val="0E4B48"/>
          </a:solidFill>
          <a:ln xmlns:a="http://schemas.openxmlformats.org/drawingml/2006/main" w="9525">
            <a:solidFill>
              <a:srgbClr val="1D756F"/>
            </a:solidFill>
            <a:prstDash val="solid"/>
          </a:ln>
        </p:spPr>
      </p:sp>
      <p:sp>
        <p:nvSpPr>
          <p:cNvPr id="13" name="">
            <a:extLst xmlns:a="http://schemas.openxmlformats.org/drawingml/2006/main">
              <a:ext uri="{FF2B5EF4-FFF2-40B4-BE49-F238E27FC236}">
                <a16:creationId xmlns:a16="http://schemas.microsoft.com/office/drawing/2014/main" id="{523AFA6A-0090-4554-B353-3F67F7B11777}"/>
              </a:ext>
            </a:extLst>
          </p:cNvPr>
          <p:cNvSpPr>
            <a:spLocks xmlns:a="http://schemas.openxmlformats.org/drawingml/2006/main" noGrp="1"/>
          </p:cNvSpPr>
          <p:nvPr/>
        </p:nvSpPr>
        <p:spPr>
          <a:xfrm xmlns:a="http://schemas.openxmlformats.org/drawingml/2006/main">
            <a:off x="857250" y="36480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9DE7DC"/>
                </a:solidFill>
              </a:defRPr>
            </a:pPr>
            <a:r>
              <a:rPr sz="900" b="1">
                <a:solidFill>
                  <a:srgbClr val="9DE7DC"/>
                </a:solidFill>
              </a:rPr>
              <a:t>LLM: NO</a:t>
            </a:r>
          </a:p>
        </p:txBody>
      </p:sp>
      <p:sp>
        <p:nvSpPr>
          <p:cNvPr id="14" name="">
            <a:extLst xmlns:a="http://schemas.openxmlformats.org/drawingml/2006/main">
              <a:ext uri="{FF2B5EF4-FFF2-40B4-BE49-F238E27FC236}">
                <a16:creationId xmlns:a16="http://schemas.microsoft.com/office/drawing/2014/main" id="{5E7CC982-C3E8-44D0-AAFC-6B913A334DC2}"/>
              </a:ext>
            </a:extLst>
          </p:cNvPr>
          <p:cNvSpPr>
            <a:spLocks xmlns:a="http://schemas.openxmlformats.org/drawingml/2006/main" noGrp="1"/>
          </p:cNvSpPr>
          <p:nvPr/>
        </p:nvSpPr>
        <p:spPr>
          <a:xfrm xmlns:a="http://schemas.openxmlformats.org/drawingml/2006/main">
            <a:off x="4381500" y="1981200"/>
            <a:ext cx="3429000" cy="2057400"/>
          </a:xfrm>
          <a:prstGeom xmlns:a="http://schemas.openxmlformats.org/drawingml/2006/main" prst="roundRect">
            <a:avLst>
              <a:gd name="adj" fmla="val 10185"/>
            </a:avLst>
          </a:prstGeom>
          <a:solidFill xmlns:a="http://schemas.openxmlformats.org/drawingml/2006/main">
            <a:srgbClr val="0E294C"/>
          </a:solidFill>
          <a:ln xmlns:a="http://schemas.openxmlformats.org/drawingml/2006/main" w="9525">
            <a:solidFill>
              <a:srgbClr val="24466F"/>
            </a:solidFill>
            <a:prstDash val="solid"/>
          </a:ln>
        </p:spPr>
      </p:sp>
      <p:sp>
        <p:nvSpPr>
          <p:cNvPr id="15" name="">
            <a:extLst xmlns:a="http://schemas.openxmlformats.org/drawingml/2006/main">
              <a:ext uri="{FF2B5EF4-FFF2-40B4-BE49-F238E27FC236}">
                <a16:creationId xmlns:a16="http://schemas.microsoft.com/office/drawing/2014/main" id="{8E9958FB-674C-482C-BB9E-0B60C442927B}"/>
              </a:ext>
            </a:extLst>
          </p:cNvPr>
          <p:cNvSpPr>
            <a:spLocks xmlns:a="http://schemas.openxmlformats.org/drawingml/2006/main" noGrp="1"/>
          </p:cNvSpPr>
          <p:nvPr/>
        </p:nvSpPr>
        <p:spPr>
          <a:xfrm xmlns:a="http://schemas.openxmlformats.org/drawingml/2006/main">
            <a:off x="4610100" y="2190750"/>
            <a:ext cx="514350" cy="514350"/>
          </a:xfrm>
          <a:prstGeom xmlns:a="http://schemas.openxmlformats.org/drawingml/2006/main" prst="roundRect">
            <a:avLst>
              <a:gd name="adj" fmla="val 25926"/>
            </a:avLst>
          </a:prstGeom>
          <a:solidFill xmlns:a="http://schemas.openxmlformats.org/drawingml/2006/main">
            <a:srgbClr val="153A64"/>
          </a:solidFill>
          <a:ln xmlns:a="http://schemas.openxmlformats.org/drawingml/2006/main" w="0">
            <a:noFill/>
            <a:prstDash val="solid"/>
          </a:ln>
        </p:spPr>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4e36c51f06d04e23">
            <a:extLst>
              <a:ext uri="{96DAC541-7B7A-43D3-8B79-37D633B846F1}">
                <asvg:svgBlip xmlns:asvg="http://schemas.microsoft.com/office/drawing/2016/SVG/main" r:embed="Re5782dab943d4a32"/>
              </a:ext>
            </a:extLst>
          </a:blip>
          <a:stretch xmlns:a="http://schemas.openxmlformats.org/drawingml/2006/main"/>
        </p:blipFill>
        <p:spPr>
          <a:xfrm xmlns:a="http://schemas.openxmlformats.org/drawingml/2006/main">
            <a:off x="4714875" y="2295525"/>
            <a:ext cx="304800" cy="3048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5F5A93D9-6A0E-4185-8CCF-42610DE1749A}"/>
              </a:ext>
            </a:extLst>
          </p:cNvPr>
          <p:cNvSpPr>
            <a:spLocks xmlns:a="http://schemas.openxmlformats.org/drawingml/2006/main" noGrp="1"/>
          </p:cNvSpPr>
          <p:nvPr/>
        </p:nvSpPr>
        <p:spPr>
          <a:xfrm xmlns:a="http://schemas.openxmlformats.org/drawingml/2006/main">
            <a:off x="5276850" y="2200275"/>
            <a:ext cx="2266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Data Security Gateway</a:t>
            </a:r>
          </a:p>
        </p:txBody>
      </p:sp>
      <p:sp>
        <p:nvSpPr>
          <p:cNvPr id="18" name="">
            <a:extLst xmlns:a="http://schemas.openxmlformats.org/drawingml/2006/main">
              <a:ext uri="{FF2B5EF4-FFF2-40B4-BE49-F238E27FC236}">
                <a16:creationId xmlns:a16="http://schemas.microsoft.com/office/drawing/2014/main" id="{6F0347C3-03A8-4307-A3C6-F32D52826554}"/>
              </a:ext>
            </a:extLst>
          </p:cNvPr>
          <p:cNvSpPr>
            <a:spLocks xmlns:a="http://schemas.openxmlformats.org/drawingml/2006/main" noGrp="1"/>
          </p:cNvSpPr>
          <p:nvPr/>
        </p:nvSpPr>
        <p:spPr>
          <a:xfrm xmlns:a="http://schemas.openxmlformats.org/drawingml/2006/main">
            <a:off x="4610100" y="288607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Receives extracted text internally</a:t>
            </a:r>
          </a:p>
        </p:txBody>
      </p:sp>
      <p:sp>
        <p:nvSpPr>
          <p:cNvPr id="19" name="">
            <a:extLst xmlns:a="http://schemas.openxmlformats.org/drawingml/2006/main">
              <a:ext uri="{FF2B5EF4-FFF2-40B4-BE49-F238E27FC236}">
                <a16:creationId xmlns:a16="http://schemas.microsoft.com/office/drawing/2014/main" id="{AAE6949B-C999-407F-85D8-4BD935F01BF8}"/>
              </a:ext>
            </a:extLst>
          </p:cNvPr>
          <p:cNvSpPr>
            <a:spLocks xmlns:a="http://schemas.openxmlformats.org/drawingml/2006/main" noGrp="1"/>
          </p:cNvSpPr>
          <p:nvPr/>
        </p:nvSpPr>
        <p:spPr>
          <a:xfrm xmlns:a="http://schemas.openxmlformats.org/drawingml/2006/main">
            <a:off x="4610100" y="3219450"/>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AEC0D5"/>
                </a:solidFill>
              </a:defRPr>
            </a:pPr>
            <a:r>
              <a:rPr sz="975" b="0">
                <a:solidFill>
                  <a:srgbClr val="AEC0D5"/>
                </a:solidFill>
              </a:rPr>
              <a:t>Policy + PII + tokenization</a:t>
            </a:r>
          </a:p>
        </p:txBody>
      </p:sp>
      <p:sp>
        <p:nvSpPr>
          <p:cNvPr id="20" name="">
            <a:extLst xmlns:a="http://schemas.openxmlformats.org/drawingml/2006/main">
              <a:ext uri="{FF2B5EF4-FFF2-40B4-BE49-F238E27FC236}">
                <a16:creationId xmlns:a16="http://schemas.microsoft.com/office/drawing/2014/main" id="{EE8CD4D9-57CD-4870-A8C1-BC780347504B}"/>
              </a:ext>
            </a:extLst>
          </p:cNvPr>
          <p:cNvSpPr>
            <a:spLocks xmlns:a="http://schemas.openxmlformats.org/drawingml/2006/main" noGrp="1"/>
          </p:cNvSpPr>
          <p:nvPr/>
        </p:nvSpPr>
        <p:spPr>
          <a:xfrm xmlns:a="http://schemas.openxmlformats.org/drawingml/2006/main">
            <a:off x="4610100" y="3600450"/>
            <a:ext cx="1009650" cy="285750"/>
          </a:xfrm>
          <a:prstGeom xmlns:a="http://schemas.openxmlformats.org/drawingml/2006/main" prst="roundRect">
            <a:avLst>
              <a:gd name="adj" fmla="val 50000"/>
            </a:avLst>
          </a:prstGeom>
          <a:solidFill xmlns:a="http://schemas.openxmlformats.org/drawingml/2006/main">
            <a:srgbClr val="0E4B48"/>
          </a:solidFill>
          <a:ln xmlns:a="http://schemas.openxmlformats.org/drawingml/2006/main" w="9525">
            <a:solidFill>
              <a:srgbClr val="1D756F"/>
            </a:solidFill>
            <a:prstDash val="solid"/>
          </a:ln>
        </p:spPr>
      </p:sp>
      <p:sp>
        <p:nvSpPr>
          <p:cNvPr id="21" name="">
            <a:extLst xmlns:a="http://schemas.openxmlformats.org/drawingml/2006/main">
              <a:ext uri="{FF2B5EF4-FFF2-40B4-BE49-F238E27FC236}">
                <a16:creationId xmlns:a16="http://schemas.microsoft.com/office/drawing/2014/main" id="{036A00AB-275B-46AF-B712-57AEE2EC50D0}"/>
              </a:ext>
            </a:extLst>
          </p:cNvPr>
          <p:cNvSpPr>
            <a:spLocks xmlns:a="http://schemas.openxmlformats.org/drawingml/2006/main" noGrp="1"/>
          </p:cNvSpPr>
          <p:nvPr/>
        </p:nvSpPr>
        <p:spPr>
          <a:xfrm xmlns:a="http://schemas.openxmlformats.org/drawingml/2006/main">
            <a:off x="4686300" y="36480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9DE7DC"/>
                </a:solidFill>
              </a:defRPr>
            </a:pPr>
            <a:r>
              <a:rPr sz="900" b="1">
                <a:solidFill>
                  <a:srgbClr val="9DE7DC"/>
                </a:solidFill>
              </a:rPr>
              <a:t>LLM: NO</a:t>
            </a:r>
          </a:p>
        </p:txBody>
      </p:sp>
      <p:sp>
        <p:nvSpPr>
          <p:cNvPr id="22" name="">
            <a:extLst xmlns:a="http://schemas.openxmlformats.org/drawingml/2006/main">
              <a:ext uri="{FF2B5EF4-FFF2-40B4-BE49-F238E27FC236}">
                <a16:creationId xmlns:a16="http://schemas.microsoft.com/office/drawing/2014/main" id="{A08EF8A8-EC17-466F-9087-44DDE9C6C09A}"/>
              </a:ext>
            </a:extLst>
          </p:cNvPr>
          <p:cNvSpPr>
            <a:spLocks xmlns:a="http://schemas.openxmlformats.org/drawingml/2006/main" noGrp="1"/>
          </p:cNvSpPr>
          <p:nvPr/>
        </p:nvSpPr>
        <p:spPr>
          <a:xfrm xmlns:a="http://schemas.openxmlformats.org/drawingml/2006/main">
            <a:off x="8210550" y="1981200"/>
            <a:ext cx="3429000" cy="2057400"/>
          </a:xfrm>
          <a:prstGeom xmlns:a="http://schemas.openxmlformats.org/drawingml/2006/main" prst="roundRect">
            <a:avLst>
              <a:gd name="adj" fmla="val 10185"/>
            </a:avLst>
          </a:prstGeom>
          <a:solidFill xmlns:a="http://schemas.openxmlformats.org/drawingml/2006/main">
            <a:srgbClr val="0E294C"/>
          </a:solidFill>
          <a:ln xmlns:a="http://schemas.openxmlformats.org/drawingml/2006/main" w="9525">
            <a:solidFill>
              <a:srgbClr val="24466F"/>
            </a:solidFill>
            <a:prstDash val="solid"/>
          </a:ln>
        </p:spPr>
      </p:sp>
      <p:sp>
        <p:nvSpPr>
          <p:cNvPr id="23" name="">
            <a:extLst xmlns:a="http://schemas.openxmlformats.org/drawingml/2006/main">
              <a:ext uri="{FF2B5EF4-FFF2-40B4-BE49-F238E27FC236}">
                <a16:creationId xmlns:a16="http://schemas.microsoft.com/office/drawing/2014/main" id="{69574C30-943E-43FD-8037-5889346318C4}"/>
              </a:ext>
            </a:extLst>
          </p:cNvPr>
          <p:cNvSpPr>
            <a:spLocks xmlns:a="http://schemas.openxmlformats.org/drawingml/2006/main" noGrp="1"/>
          </p:cNvSpPr>
          <p:nvPr/>
        </p:nvSpPr>
        <p:spPr>
          <a:xfrm xmlns:a="http://schemas.openxmlformats.org/drawingml/2006/main">
            <a:off x="8439150" y="2190750"/>
            <a:ext cx="514350" cy="514350"/>
          </a:xfrm>
          <a:prstGeom xmlns:a="http://schemas.openxmlformats.org/drawingml/2006/main" prst="roundRect">
            <a:avLst>
              <a:gd name="adj" fmla="val 25926"/>
            </a:avLst>
          </a:prstGeom>
          <a:solidFill xmlns:a="http://schemas.openxmlformats.org/drawingml/2006/main">
            <a:srgbClr val="153A64"/>
          </a:solidFill>
          <a:ln xmlns:a="http://schemas.openxmlformats.org/drawingml/2006/main" w="0">
            <a:noFill/>
            <a:prstDash val="solid"/>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892aa6e6e30249b6">
            <a:extLst>
              <a:ext uri="{96DAC541-7B7A-43D3-8B79-37D633B846F1}">
                <asvg:svgBlip xmlns:asvg="http://schemas.microsoft.com/office/drawing/2016/SVG/main" r:embed="R9e786c8af3de4654"/>
              </a:ext>
            </a:extLst>
          </a:blip>
          <a:stretch xmlns:a="http://schemas.openxmlformats.org/drawingml/2006/main"/>
        </p:blipFill>
        <p:spPr>
          <a:xfrm xmlns:a="http://schemas.openxmlformats.org/drawingml/2006/main">
            <a:off x="8543925" y="2295525"/>
            <a:ext cx="304800" cy="3048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6CF9E9E6-C5A0-4CEF-9716-C50AD0B99412}"/>
              </a:ext>
            </a:extLst>
          </p:cNvPr>
          <p:cNvSpPr>
            <a:spLocks xmlns:a="http://schemas.openxmlformats.org/drawingml/2006/main" noGrp="1"/>
          </p:cNvSpPr>
          <p:nvPr/>
        </p:nvSpPr>
        <p:spPr>
          <a:xfrm xmlns:a="http://schemas.openxmlformats.org/drawingml/2006/main">
            <a:off x="9105900" y="2200275"/>
            <a:ext cx="2266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Azure OpenAI</a:t>
            </a:r>
          </a:p>
        </p:txBody>
      </p:sp>
      <p:sp>
        <p:nvSpPr>
          <p:cNvPr id="26" name="">
            <a:extLst xmlns:a="http://schemas.openxmlformats.org/drawingml/2006/main">
              <a:ext uri="{FF2B5EF4-FFF2-40B4-BE49-F238E27FC236}">
                <a16:creationId xmlns:a16="http://schemas.microsoft.com/office/drawing/2014/main" id="{661F5BE9-B8A5-489C-B133-DA13146A1987}"/>
              </a:ext>
            </a:extLst>
          </p:cNvPr>
          <p:cNvSpPr>
            <a:spLocks xmlns:a="http://schemas.openxmlformats.org/drawingml/2006/main" noGrp="1"/>
          </p:cNvSpPr>
          <p:nvPr/>
        </p:nvSpPr>
        <p:spPr>
          <a:xfrm xmlns:a="http://schemas.openxmlformats.org/drawingml/2006/main">
            <a:off x="8439150" y="288607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Receives approved prompt blocks</a:t>
            </a:r>
          </a:p>
        </p:txBody>
      </p:sp>
      <p:sp>
        <p:nvSpPr>
          <p:cNvPr id="27" name="">
            <a:extLst xmlns:a="http://schemas.openxmlformats.org/drawingml/2006/main">
              <a:ext uri="{FF2B5EF4-FFF2-40B4-BE49-F238E27FC236}">
                <a16:creationId xmlns:a16="http://schemas.microsoft.com/office/drawing/2014/main" id="{687D2C45-E1F8-414D-AA30-3ABAFB301F7B}"/>
              </a:ext>
            </a:extLst>
          </p:cNvPr>
          <p:cNvSpPr>
            <a:spLocks xmlns:a="http://schemas.openxmlformats.org/drawingml/2006/main" noGrp="1"/>
          </p:cNvSpPr>
          <p:nvPr/>
        </p:nvSpPr>
        <p:spPr>
          <a:xfrm xmlns:a="http://schemas.openxmlformats.org/drawingml/2006/main">
            <a:off x="8439150" y="3219450"/>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AEC0D5"/>
                </a:solidFill>
              </a:defRPr>
            </a:pPr>
            <a:r>
              <a:rPr sz="975" b="0">
                <a:solidFill>
                  <a:srgbClr val="AEC0D5"/>
                </a:solidFill>
              </a:rPr>
              <a:t>Generative translation</a:t>
            </a:r>
          </a:p>
        </p:txBody>
      </p:sp>
      <p:sp>
        <p:nvSpPr>
          <p:cNvPr id="28" name="">
            <a:extLst xmlns:a="http://schemas.openxmlformats.org/drawingml/2006/main">
              <a:ext uri="{FF2B5EF4-FFF2-40B4-BE49-F238E27FC236}">
                <a16:creationId xmlns:a16="http://schemas.microsoft.com/office/drawing/2014/main" id="{F3C822F3-EFB9-481B-9807-4D94CD3E29BE}"/>
              </a:ext>
            </a:extLst>
          </p:cNvPr>
          <p:cNvSpPr>
            <a:spLocks xmlns:a="http://schemas.openxmlformats.org/drawingml/2006/main" noGrp="1"/>
          </p:cNvSpPr>
          <p:nvPr/>
        </p:nvSpPr>
        <p:spPr>
          <a:xfrm xmlns:a="http://schemas.openxmlformats.org/drawingml/2006/main">
            <a:off x="8439150" y="3600450"/>
            <a:ext cx="1009650" cy="285750"/>
          </a:xfrm>
          <a:prstGeom xmlns:a="http://schemas.openxmlformats.org/drawingml/2006/main" prst="roundRect">
            <a:avLst>
              <a:gd name="adj" fmla="val 50000"/>
            </a:avLst>
          </a:prstGeom>
          <a:solidFill xmlns:a="http://schemas.openxmlformats.org/drawingml/2006/main">
            <a:srgbClr val="392B69"/>
          </a:solidFill>
          <a:ln xmlns:a="http://schemas.openxmlformats.org/drawingml/2006/main" w="9525">
            <a:solidFill>
              <a:srgbClr val="6B56A8"/>
            </a:solidFill>
            <a:prstDash val="solid"/>
          </a:ln>
        </p:spPr>
      </p:sp>
      <p:sp>
        <p:nvSpPr>
          <p:cNvPr id="29" name="">
            <a:extLst xmlns:a="http://schemas.openxmlformats.org/drawingml/2006/main">
              <a:ext uri="{FF2B5EF4-FFF2-40B4-BE49-F238E27FC236}">
                <a16:creationId xmlns:a16="http://schemas.microsoft.com/office/drawing/2014/main" id="{A2EA1745-7FE9-412F-B413-9FB9393F5AF7}"/>
              </a:ext>
            </a:extLst>
          </p:cNvPr>
          <p:cNvSpPr>
            <a:spLocks xmlns:a="http://schemas.openxmlformats.org/drawingml/2006/main" noGrp="1"/>
          </p:cNvSpPr>
          <p:nvPr/>
        </p:nvSpPr>
        <p:spPr>
          <a:xfrm xmlns:a="http://schemas.openxmlformats.org/drawingml/2006/main">
            <a:off x="8515350" y="36480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C8B9FF"/>
                </a:solidFill>
              </a:defRPr>
            </a:pPr>
            <a:r>
              <a:rPr sz="900" b="1">
                <a:solidFill>
                  <a:srgbClr val="C8B9FF"/>
                </a:solidFill>
              </a:rPr>
              <a:t>LLM: YES</a:t>
            </a:r>
          </a:p>
        </p:txBody>
      </p:sp>
      <p:cxnSp>
        <p:nvCxnSpPr>
          <p:cNvPr id="75" name=""/>
          <p:cNvCxnSpPr>
            <a:stCxn xmlns:a="http://schemas.openxmlformats.org/drawingml/2006/main" id="6" idx="3"/>
            <a:endCxn xmlns:a="http://schemas.openxmlformats.org/drawingml/2006/main" id="14" idx="1"/>
          </p:cNvCxnSpPr>
          <p:nvPr/>
        </p:nvCxnSpPr>
        <p:spPr>
          <a:xfrm xmlns:a="http://schemas.openxmlformats.org/drawingml/2006/main">
            <a:off x="3981450" y="3009900"/>
            <a:ext cx="400050" cy="0"/>
          </a:xfrm>
          <a:prstGeom xmlns:a="http://schemas.openxmlformats.org/drawingml/2006/main" prst="straightConnector1">
            <a:avLst/>
          </a:prstGeom>
          <a:ln xmlns:a="http://schemas.openxmlformats.org/drawingml/2006/main" w="19050">
            <a:solidFill>
              <a:srgbClr val="6F92BD"/>
            </a:solidFill>
            <a:prstDash val="solid"/>
            <a:tailEnd type="triangle" w="sm" len="sm"/>
          </a:ln>
        </p:spPr>
      </p:cxnSp>
      <p:cxnSp>
        <p:nvCxnSpPr>
          <p:cNvPr id="76" name=""/>
          <p:cNvCxnSpPr>
            <a:stCxn xmlns:a="http://schemas.openxmlformats.org/drawingml/2006/main" id="14" idx="3"/>
            <a:endCxn xmlns:a="http://schemas.openxmlformats.org/drawingml/2006/main" id="22" idx="1"/>
          </p:cNvCxnSpPr>
          <p:nvPr/>
        </p:nvCxnSpPr>
        <p:spPr>
          <a:xfrm xmlns:a="http://schemas.openxmlformats.org/drawingml/2006/main">
            <a:off x="7810500" y="3009900"/>
            <a:ext cx="400050" cy="0"/>
          </a:xfrm>
          <a:prstGeom xmlns:a="http://schemas.openxmlformats.org/drawingml/2006/main" prst="straightConnector1">
            <a:avLst/>
          </a:prstGeom>
          <a:ln xmlns:a="http://schemas.openxmlformats.org/drawingml/2006/main" w="19050">
            <a:solidFill>
              <a:srgbClr val="6F92BD"/>
            </a:solidFill>
            <a:prstDash val="solid"/>
            <a:tailEnd type="triangle" w="sm" len="sm"/>
          </a:ln>
        </p:spPr>
      </p:cxnSp>
      <p:sp>
        <p:nvSpPr>
          <p:cNvPr id="32" name="">
            <a:extLst xmlns:a="http://schemas.openxmlformats.org/drawingml/2006/main">
              <a:ext uri="{FF2B5EF4-FFF2-40B4-BE49-F238E27FC236}">
                <a16:creationId xmlns:a16="http://schemas.microsoft.com/office/drawing/2014/main" id="{F291AFC9-8DC5-433C-92F2-E54B67B3EFDD}"/>
              </a:ext>
            </a:extLst>
          </p:cNvPr>
          <p:cNvSpPr>
            <a:spLocks xmlns:a="http://schemas.openxmlformats.org/drawingml/2006/main" noGrp="1"/>
          </p:cNvSpPr>
          <p:nvPr/>
        </p:nvSpPr>
        <p:spPr>
          <a:xfrm xmlns:a="http://schemas.openxmlformats.org/drawingml/2006/main">
            <a:off x="3714750" y="264795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8EADD1"/>
                </a:solidFill>
              </a:defRPr>
            </a:pPr>
            <a:r>
              <a:rPr sz="900" b="1">
                <a:solidFill>
                  <a:srgbClr val="8EADD1"/>
                </a:solidFill>
              </a:rPr>
              <a:t>FULL DOCUMENT</a:t>
            </a:r>
          </a:p>
        </p:txBody>
      </p:sp>
      <p:sp>
        <p:nvSpPr>
          <p:cNvPr id="33" name="">
            <a:extLst xmlns:a="http://schemas.openxmlformats.org/drawingml/2006/main">
              <a:ext uri="{FF2B5EF4-FFF2-40B4-BE49-F238E27FC236}">
                <a16:creationId xmlns:a16="http://schemas.microsoft.com/office/drawing/2014/main" id="{9062930A-CCFB-49DE-9672-6D66798A1AD6}"/>
              </a:ext>
            </a:extLst>
          </p:cNvPr>
          <p:cNvSpPr>
            <a:spLocks xmlns:a="http://schemas.openxmlformats.org/drawingml/2006/main" noGrp="1"/>
          </p:cNvSpPr>
          <p:nvPr/>
        </p:nvSpPr>
        <p:spPr>
          <a:xfrm xmlns:a="http://schemas.openxmlformats.org/drawingml/2006/main">
            <a:off x="7543800" y="26479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8EADD1"/>
                </a:solidFill>
              </a:defRPr>
            </a:pPr>
            <a:r>
              <a:rPr sz="900" b="1">
                <a:solidFill>
                  <a:srgbClr val="8EADD1"/>
                </a:solidFill>
              </a:rPr>
              <a:t>APPROVED BLOCKS</a:t>
            </a:r>
          </a:p>
        </p:txBody>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aea40ec272bf4947">
            <a:extLst>
              <a:ext uri="{96DAC541-7B7A-43D3-8B79-37D633B846F1}">
                <asvg:svgBlip xmlns:asvg="http://schemas.microsoft.com/office/drawing/2016/SVG/main" r:embed="Re9b952c984ff4ac2"/>
              </a:ext>
            </a:extLst>
          </a:blip>
          <a:stretch xmlns:a="http://schemas.openxmlformats.org/drawingml/2006/main"/>
        </p:blipFill>
        <p:spPr>
          <a:xfrm xmlns:a="http://schemas.openxmlformats.org/drawingml/2006/main">
            <a:off x="552450" y="4514850"/>
            <a:ext cx="247650" cy="24765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407D7FBC-C628-45A1-8AEF-CB13BA7DF905}"/>
              </a:ext>
            </a:extLst>
          </p:cNvPr>
          <p:cNvSpPr>
            <a:spLocks xmlns:a="http://schemas.openxmlformats.org/drawingml/2006/main" noGrp="1"/>
          </p:cNvSpPr>
          <p:nvPr/>
        </p:nvSpPr>
        <p:spPr>
          <a:xfrm xmlns:a="http://schemas.openxmlformats.org/drawingml/2006/main">
            <a:off x="914400" y="4495800"/>
            <a:ext cx="509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FC1D6"/>
                </a:solidFill>
              </a:defRPr>
            </a:pPr>
            <a:r>
              <a:rPr sz="1050" b="1">
                <a:solidFill>
                  <a:srgbClr val="AFC1D6"/>
                </a:solidFill>
              </a:rPr>
              <a:t>Does DI send data to Azure OpenAI automatically?</a:t>
            </a:r>
          </a:p>
        </p:txBody>
      </p:sp>
      <p:sp>
        <p:nvSpPr>
          <p:cNvPr id="36" name="">
            <a:extLst xmlns:a="http://schemas.openxmlformats.org/drawingml/2006/main">
              <a:ext uri="{FF2B5EF4-FFF2-40B4-BE49-F238E27FC236}">
                <a16:creationId xmlns:a16="http://schemas.microsoft.com/office/drawing/2014/main" id="{E86AB810-3661-48A2-8A51-1F63AC4A2230}"/>
              </a:ext>
            </a:extLst>
          </p:cNvPr>
          <p:cNvSpPr>
            <a:spLocks xmlns:a="http://schemas.openxmlformats.org/drawingml/2006/main" noGrp="1"/>
          </p:cNvSpPr>
          <p:nvPr/>
        </p:nvSpPr>
        <p:spPr>
          <a:xfrm xmlns:a="http://schemas.openxmlformats.org/drawingml/2006/main">
            <a:off x="914400" y="47529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FFFFF"/>
                </a:solidFill>
              </a:defRPr>
            </a:pPr>
            <a:r>
              <a:rPr sz="1200" b="0">
                <a:solidFill>
                  <a:srgbClr val="FFFFFF"/>
                </a:solidFill>
              </a:rPr>
              <a:t>No — the backend must explicitly submit text.</a:t>
            </a:r>
          </a:p>
        </p:txBody>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1875226124574d55">
            <a:extLst>
              <a:ext uri="{96DAC541-7B7A-43D3-8B79-37D633B846F1}">
                <asvg:svgBlip xmlns:asvg="http://schemas.microsoft.com/office/drawing/2016/SVG/main" r:embed="R1416b433f51f499f"/>
              </a:ext>
            </a:extLst>
          </a:blip>
          <a:stretch xmlns:a="http://schemas.openxmlformats.org/drawingml/2006/main"/>
        </p:blipFill>
        <p:spPr>
          <a:xfrm xmlns:a="http://schemas.openxmlformats.org/drawingml/2006/main">
            <a:off x="6296025" y="4514850"/>
            <a:ext cx="247650" cy="247650"/>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9995756D-5DF5-4B23-8CD4-7D9C184BBBFA}"/>
              </a:ext>
            </a:extLst>
          </p:cNvPr>
          <p:cNvSpPr>
            <a:spLocks xmlns:a="http://schemas.openxmlformats.org/drawingml/2006/main" noGrp="1"/>
          </p:cNvSpPr>
          <p:nvPr/>
        </p:nvSpPr>
        <p:spPr>
          <a:xfrm xmlns:a="http://schemas.openxmlformats.org/drawingml/2006/main">
            <a:off x="6657975" y="4495800"/>
            <a:ext cx="509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FC1D6"/>
                </a:solidFill>
              </a:defRPr>
            </a:pPr>
            <a:r>
              <a:rPr sz="1050" b="1">
                <a:solidFill>
                  <a:srgbClr val="AFC1D6"/>
                </a:solidFill>
              </a:rPr>
              <a:t>Is the original PDF/image sent to Azure OpenAI in the target design?</a:t>
            </a:r>
          </a:p>
        </p:txBody>
      </p:sp>
      <p:sp>
        <p:nvSpPr>
          <p:cNvPr id="39" name="">
            <a:extLst xmlns:a="http://schemas.openxmlformats.org/drawingml/2006/main">
              <a:ext uri="{FF2B5EF4-FFF2-40B4-BE49-F238E27FC236}">
                <a16:creationId xmlns:a16="http://schemas.microsoft.com/office/drawing/2014/main" id="{605C8F70-C351-4D54-95BC-524E74FE804C}"/>
              </a:ext>
            </a:extLst>
          </p:cNvPr>
          <p:cNvSpPr>
            <a:spLocks xmlns:a="http://schemas.openxmlformats.org/drawingml/2006/main" noGrp="1"/>
          </p:cNvSpPr>
          <p:nvPr/>
        </p:nvSpPr>
        <p:spPr>
          <a:xfrm xmlns:a="http://schemas.openxmlformats.org/drawingml/2006/main">
            <a:off x="6657975" y="47529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FFFFF"/>
                </a:solidFill>
              </a:defRPr>
            </a:pPr>
            <a:r>
              <a:rPr sz="1200" b="0">
                <a:solidFill>
                  <a:srgbClr val="FFFFFF"/>
                </a:solidFill>
              </a:rPr>
              <a:t>No — only policy-approved text blocks.</a:t>
            </a:r>
          </a:p>
        </p:txBody>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6a4e59824ebc4e2d">
            <a:extLst>
              <a:ext uri="{96DAC541-7B7A-43D3-8B79-37D633B846F1}">
                <asvg:svgBlip xmlns:asvg="http://schemas.microsoft.com/office/drawing/2016/SVG/main" r:embed="R938b8d09e13e48a7"/>
              </a:ext>
            </a:extLst>
          </a:blip>
          <a:stretch xmlns:a="http://schemas.openxmlformats.org/drawingml/2006/main"/>
        </p:blipFill>
        <p:spPr>
          <a:xfrm xmlns:a="http://schemas.openxmlformats.org/drawingml/2006/main">
            <a:off x="552450" y="5295900"/>
            <a:ext cx="247650" cy="247650"/>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E9B01864-70AE-4309-945C-49D02825891C}"/>
              </a:ext>
            </a:extLst>
          </p:cNvPr>
          <p:cNvSpPr>
            <a:spLocks xmlns:a="http://schemas.openxmlformats.org/drawingml/2006/main" noGrp="1"/>
          </p:cNvSpPr>
          <p:nvPr/>
        </p:nvSpPr>
        <p:spPr>
          <a:xfrm xmlns:a="http://schemas.openxmlformats.org/drawingml/2006/main">
            <a:off x="914400" y="5276850"/>
            <a:ext cx="509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FC1D6"/>
                </a:solidFill>
              </a:defRPr>
            </a:pPr>
            <a:r>
              <a:rPr sz="1050" b="1">
                <a:solidFill>
                  <a:srgbClr val="AFC1D6"/>
                </a:solidFill>
              </a:rPr>
              <a:t>Are Azure OpenAI prompts used to train foundation models by default?</a:t>
            </a:r>
          </a:p>
        </p:txBody>
      </p:sp>
      <p:sp>
        <p:nvSpPr>
          <p:cNvPr id="42" name="">
            <a:extLst xmlns:a="http://schemas.openxmlformats.org/drawingml/2006/main">
              <a:ext uri="{FF2B5EF4-FFF2-40B4-BE49-F238E27FC236}">
                <a16:creationId xmlns:a16="http://schemas.microsoft.com/office/drawing/2014/main" id="{01CB12D7-F11E-422B-9898-A30DB13587CB}"/>
              </a:ext>
            </a:extLst>
          </p:cNvPr>
          <p:cNvSpPr>
            <a:spLocks xmlns:a="http://schemas.openxmlformats.org/drawingml/2006/main" noGrp="1"/>
          </p:cNvSpPr>
          <p:nvPr/>
        </p:nvSpPr>
        <p:spPr>
          <a:xfrm xmlns:a="http://schemas.openxmlformats.org/drawingml/2006/main">
            <a:off x="914400" y="553402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FFFFF"/>
                </a:solidFill>
              </a:defRPr>
            </a:pPr>
            <a:r>
              <a:rPr sz="1200" b="0">
                <a:solidFill>
                  <a:srgbClr val="FFFFFF"/>
                </a:solidFill>
              </a:rPr>
              <a:t>Microsoft states no, without customer permission.</a:t>
            </a:r>
          </a:p>
        </p:txBody>
      </p:sp>
      <p:pic>
        <p:nvPicPr>
          <p:cNvPr id="88" name=""/>
          <p:cNvPicPr>
            <a:picLocks xmlns:a="http://schemas.openxmlformats.org/drawingml/2006/main" noChangeAspect="1"/>
          </p:cNvPicPr>
          <p:nvPr/>
        </p:nvPicPr>
        <p:blipFill>
          <a:blip xmlns:r="http://schemas.openxmlformats.org/officeDocument/2006/relationships" xmlns:a="http://schemas.openxmlformats.org/drawingml/2006/main" r:embed="R3754425332244f8e">
            <a:extLst>
              <a:ext uri="{96DAC541-7B7A-43D3-8B79-37D633B846F1}">
                <asvg:svgBlip xmlns:asvg="http://schemas.microsoft.com/office/drawing/2016/SVG/main" r:embed="Rbf77bc79f88d428a"/>
              </a:ext>
            </a:extLst>
          </a:blip>
          <a:stretch xmlns:a="http://schemas.openxmlformats.org/drawingml/2006/main"/>
        </p:blipFill>
        <p:spPr>
          <a:xfrm xmlns:a="http://schemas.openxmlformats.org/drawingml/2006/main">
            <a:off x="6296025" y="5295900"/>
            <a:ext cx="247650" cy="247650"/>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7CDB2F40-4349-48E9-B687-A73254B68D1F}"/>
              </a:ext>
            </a:extLst>
          </p:cNvPr>
          <p:cNvSpPr>
            <a:spLocks xmlns:a="http://schemas.openxmlformats.org/drawingml/2006/main" noGrp="1"/>
          </p:cNvSpPr>
          <p:nvPr/>
        </p:nvSpPr>
        <p:spPr>
          <a:xfrm xmlns:a="http://schemas.openxmlformats.org/drawingml/2006/main">
            <a:off x="6657975" y="5276850"/>
            <a:ext cx="509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FC1D6"/>
                </a:solidFill>
              </a:defRPr>
            </a:pPr>
            <a:r>
              <a:rPr sz="1050" b="1">
                <a:solidFill>
                  <a:srgbClr val="AFC1D6"/>
                </a:solidFill>
              </a:rPr>
              <a:t>Can raw content ever reach the LLM?</a:t>
            </a:r>
          </a:p>
        </p:txBody>
      </p:sp>
      <p:sp>
        <p:nvSpPr>
          <p:cNvPr id="45" name="">
            <a:extLst xmlns:a="http://schemas.openxmlformats.org/drawingml/2006/main">
              <a:ext uri="{FF2B5EF4-FFF2-40B4-BE49-F238E27FC236}">
                <a16:creationId xmlns:a16="http://schemas.microsoft.com/office/drawing/2014/main" id="{C0A890AD-07A5-4950-A2D5-C8B83CA9B806}"/>
              </a:ext>
            </a:extLst>
          </p:cNvPr>
          <p:cNvSpPr>
            <a:spLocks xmlns:a="http://schemas.openxmlformats.org/drawingml/2006/main" noGrp="1"/>
          </p:cNvSpPr>
          <p:nvPr/>
        </p:nvSpPr>
        <p:spPr>
          <a:xfrm xmlns:a="http://schemas.openxmlformats.org/drawingml/2006/main">
            <a:off x="6657975" y="553402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FFFFF"/>
                </a:solidFill>
              </a:defRPr>
            </a:pPr>
            <a:r>
              <a:rPr sz="1200" b="0">
                <a:solidFill>
                  <a:srgbClr val="FFFFFF"/>
                </a:solidFill>
              </a:rPr>
              <a:t>Only through a signed, time-bound exception.</a:t>
            </a:r>
          </a:p>
        </p:txBody>
      </p:sp>
    </p:spTree>
    <p:extLst>
      <p:ext uri="{BB962C8B-B14F-4D97-AF65-F5344CB8AC3E}">
        <p14:creationId xmlns:p14="http://schemas.microsoft.com/office/powerpoint/2010/main" val="1147216929"/>
      </p:ext>
    </p:extLst>
  </p:cSld>
</p:sld>
</file>

<file path=ppt/slides/slide6.xml><?xml version="1.0" encoding="utf-8"?>
<p:sld xmlns:p="http://schemas.openxmlformats.org/presentationml/2006/main">
  <p:cSld>
    <p:bg>
      <p:bgPr>
        <a:solidFill xmlns:a="http://schemas.openxmlformats.org/drawingml/2006/main">
          <a:srgbClr val="F9FBFE"/>
        </a:solidFill>
      </p:bgPr>
    </p:bg>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1509DF0F-E3B8-4E5F-BE2F-EBD2891A4E63}"/>
              </a:ext>
            </a:extLst>
          </p:cNvPr>
          <p:cNvSpPr>
            <a:spLocks xmlns:a="http://schemas.openxmlformats.org/drawingml/2006/main" noGrp="1"/>
          </p:cNvSpPr>
          <p:nvPr/>
        </p:nvSpPr>
        <p:spPr>
          <a:xfrm xmlns:a="http://schemas.openxmlformats.org/drawingml/2006/main">
            <a:off x="552450" y="4191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PRODUCTION ARCHITECTURE</a:t>
            </a:r>
          </a:p>
        </p:txBody>
      </p:sp>
      <p:sp>
        <p:nvSpPr>
          <p:cNvPr id="2" name="">
            <a:extLst xmlns:a="http://schemas.openxmlformats.org/drawingml/2006/main">
              <a:ext uri="{FF2B5EF4-FFF2-40B4-BE49-F238E27FC236}">
                <a16:creationId xmlns:a16="http://schemas.microsoft.com/office/drawing/2014/main" id="{398479CC-8A78-4D97-AF1B-9750B0993FB0}"/>
              </a:ext>
            </a:extLst>
          </p:cNvPr>
          <p:cNvSpPr>
            <a:spLocks xmlns:a="http://schemas.openxmlformats.org/drawingml/2006/main" noGrp="1"/>
          </p:cNvSpPr>
          <p:nvPr/>
        </p:nvSpPr>
        <p:spPr>
          <a:xfrm xmlns:a="http://schemas.openxmlformats.org/drawingml/2006/main">
            <a:off x="552450" y="723900"/>
            <a:ext cx="11087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71A33"/>
                </a:solidFill>
              </a:defRPr>
            </a:pPr>
            <a:r>
              <a:rPr sz="2850" b="1">
                <a:solidFill>
                  <a:srgbClr val="071A33"/>
                </a:solidFill>
              </a:rPr>
              <a:t>Layered controls protect every data boundary</a:t>
            </a:r>
          </a:p>
        </p:txBody>
      </p:sp>
      <p:sp>
        <p:nvSpPr>
          <p:cNvPr id="3" name="">
            <a:extLst xmlns:a="http://schemas.openxmlformats.org/drawingml/2006/main">
              <a:ext uri="{FF2B5EF4-FFF2-40B4-BE49-F238E27FC236}">
                <a16:creationId xmlns:a16="http://schemas.microsoft.com/office/drawing/2014/main" id="{D1DA710D-7968-4F68-A3A5-C4534F795465}"/>
              </a:ext>
            </a:extLst>
          </p:cNvPr>
          <p:cNvSpPr>
            <a:spLocks xmlns:a="http://schemas.openxmlformats.org/drawingml/2006/main" noGrp="1"/>
          </p:cNvSpPr>
          <p:nvPr/>
        </p:nvSpPr>
        <p:spPr>
          <a:xfrm xmlns:a="http://schemas.openxmlformats.org/drawingml/2006/main">
            <a:off x="55245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F7088"/>
                </a:solidFill>
              </a:defRPr>
            </a:pPr>
            <a:r>
              <a:rPr sz="1275" b="0">
                <a:solidFill>
                  <a:srgbClr val="5F7088"/>
                </a:solidFill>
              </a:rPr>
              <a:t>Private networking, managed identity, policy routing and evidence-driven deletion work together.</a:t>
            </a:r>
          </a:p>
        </p:txBody>
      </p:sp>
      <p:sp>
        <p:nvSpPr>
          <p:cNvPr id="4" name="">
            <a:extLst xmlns:a="http://schemas.openxmlformats.org/drawingml/2006/main">
              <a:ext uri="{FF2B5EF4-FFF2-40B4-BE49-F238E27FC236}">
                <a16:creationId xmlns:a16="http://schemas.microsoft.com/office/drawing/2014/main" id="{4DA3C98B-7538-440F-88A9-B5ED2E770016}"/>
              </a:ext>
            </a:extLst>
          </p:cNvPr>
          <p:cNvSpPr>
            <a:spLocks xmlns:a="http://schemas.openxmlformats.org/drawingml/2006/main" noGrp="1"/>
          </p:cNvSpPr>
          <p:nvPr/>
        </p:nvSpPr>
        <p:spPr>
          <a:xfrm xmlns:a="http://schemas.openxmlformats.org/drawingml/2006/main">
            <a:off x="55245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7D8CA1"/>
                </a:solidFill>
              </a:defRPr>
            </a:pPr>
            <a:r>
              <a:rPr sz="750" b="1">
                <a:solidFill>
                  <a:srgbClr val="7D8CA1"/>
                </a:solidFill>
              </a:rPr>
              <a:t>CARETRANSLATE STUDIO</a:t>
            </a:r>
          </a:p>
        </p:txBody>
      </p:sp>
      <p:sp>
        <p:nvSpPr>
          <p:cNvPr id="5" name="">
            <a:extLst xmlns:a="http://schemas.openxmlformats.org/drawingml/2006/main">
              <a:ext uri="{FF2B5EF4-FFF2-40B4-BE49-F238E27FC236}">
                <a16:creationId xmlns:a16="http://schemas.microsoft.com/office/drawing/2014/main" id="{72CFFBDB-B8CF-4FF1-838D-9BA8BD2A5681}"/>
              </a:ext>
            </a:extLst>
          </p:cNvPr>
          <p:cNvSpPr>
            <a:spLocks xmlns:a="http://schemas.openxmlformats.org/drawingml/2006/main" noGrp="1"/>
          </p:cNvSpPr>
          <p:nvPr/>
        </p:nvSpPr>
        <p:spPr>
          <a:xfrm xmlns:a="http://schemas.openxmlformats.org/drawingml/2006/main">
            <a:off x="10477500" y="64389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7D8CA1"/>
                </a:solidFill>
              </a:defRPr>
            </a:pPr>
            <a:r>
              <a:rPr sz="750" b="1">
                <a:solidFill>
                  <a:srgbClr val="7D8CA1"/>
                </a:solidFill>
              </a:rPr>
              <a:t>06 / 07</a:t>
            </a:r>
          </a:p>
        </p:txBody>
      </p:sp>
      <p:sp>
        <p:nvSpPr>
          <p:cNvPr id="6" name="">
            <a:extLst xmlns:a="http://schemas.openxmlformats.org/drawingml/2006/main">
              <a:ext uri="{FF2B5EF4-FFF2-40B4-BE49-F238E27FC236}">
                <a16:creationId xmlns:a16="http://schemas.microsoft.com/office/drawing/2014/main" id="{D932200A-4004-4A20-994E-311F7E885507}"/>
              </a:ext>
            </a:extLst>
          </p:cNvPr>
          <p:cNvSpPr>
            <a:spLocks xmlns:a="http://schemas.openxmlformats.org/drawingml/2006/main" noGrp="1"/>
          </p:cNvSpPr>
          <p:nvPr/>
        </p:nvSpPr>
        <p:spPr>
          <a:xfrm xmlns:a="http://schemas.openxmlformats.org/drawingml/2006/main">
            <a:off x="9525000" y="457200"/>
            <a:ext cx="2000250" cy="2857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DBEAFE"/>
            </a:solidFill>
            <a:prstDash val="solid"/>
          </a:ln>
        </p:spPr>
      </p:sp>
      <p:sp>
        <p:nvSpPr>
          <p:cNvPr id="7" name="">
            <a:extLst xmlns:a="http://schemas.openxmlformats.org/drawingml/2006/main">
              <a:ext uri="{FF2B5EF4-FFF2-40B4-BE49-F238E27FC236}">
                <a16:creationId xmlns:a16="http://schemas.microsoft.com/office/drawing/2014/main" id="{EF8C5EF4-C1B4-435B-8842-31BC5A924FA7}"/>
              </a:ext>
            </a:extLst>
          </p:cNvPr>
          <p:cNvSpPr>
            <a:spLocks xmlns:a="http://schemas.openxmlformats.org/drawingml/2006/main" noGrp="1"/>
          </p:cNvSpPr>
          <p:nvPr/>
        </p:nvSpPr>
        <p:spPr>
          <a:xfrm xmlns:a="http://schemas.openxmlformats.org/drawingml/2006/main">
            <a:off x="9601200" y="504825"/>
            <a:ext cx="1847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2563EB"/>
                </a:solidFill>
              </a:defRPr>
            </a:pPr>
            <a:r>
              <a:rPr sz="900" b="1">
                <a:solidFill>
                  <a:srgbClr val="2563EB"/>
                </a:solidFill>
              </a:rPr>
              <a:t>PRODUCTION TARGET</a:t>
            </a:r>
          </a:p>
        </p:txBody>
      </p:sp>
      <p:sp>
        <p:nvSpPr>
          <p:cNvPr id="8" name="">
            <a:extLst xmlns:a="http://schemas.openxmlformats.org/drawingml/2006/main">
              <a:ext uri="{FF2B5EF4-FFF2-40B4-BE49-F238E27FC236}">
                <a16:creationId xmlns:a16="http://schemas.microsoft.com/office/drawing/2014/main" id="{736FED34-D687-4B56-86F4-74EEF20882D3}"/>
              </a:ext>
            </a:extLst>
          </p:cNvPr>
          <p:cNvSpPr>
            <a:spLocks xmlns:a="http://schemas.openxmlformats.org/drawingml/2006/main" noGrp="1"/>
          </p:cNvSpPr>
          <p:nvPr/>
        </p:nvSpPr>
        <p:spPr>
          <a:xfrm xmlns:a="http://schemas.openxmlformats.org/drawingml/2006/main">
            <a:off x="552450" y="1933575"/>
            <a:ext cx="2609850" cy="3267075"/>
          </a:xfrm>
          <a:prstGeom xmlns:a="http://schemas.openxmlformats.org/drawingml/2006/main" prst="roundRect">
            <a:avLst>
              <a:gd name="adj" fmla="val 8029"/>
            </a:avLst>
          </a:prstGeom>
          <a:solidFill xmlns:a="http://schemas.openxmlformats.org/drawingml/2006/main">
            <a:srgbClr val="EEF5FF"/>
          </a:solidFill>
          <a:ln xmlns:a="http://schemas.openxmlformats.org/drawingml/2006/main" w="9525">
            <a:solidFill>
              <a:srgbClr val="D9E3F0"/>
            </a:solidFill>
            <a:prstDash val="solid"/>
          </a:ln>
        </p:spPr>
      </p:sp>
      <p:sp>
        <p:nvSpPr>
          <p:cNvPr id="9" name="">
            <a:extLst xmlns:a="http://schemas.openxmlformats.org/drawingml/2006/main">
              <a:ext uri="{FF2B5EF4-FFF2-40B4-BE49-F238E27FC236}">
                <a16:creationId xmlns:a16="http://schemas.microsoft.com/office/drawing/2014/main" id="{74B82731-A722-48CE-A0B8-02E4791BC6BA}"/>
              </a:ext>
            </a:extLst>
          </p:cNvPr>
          <p:cNvSpPr>
            <a:spLocks xmlns:a="http://schemas.openxmlformats.org/drawingml/2006/main" noGrp="1"/>
          </p:cNvSpPr>
          <p:nvPr/>
        </p:nvSpPr>
        <p:spPr>
          <a:xfrm xmlns:a="http://schemas.openxmlformats.org/drawingml/2006/main">
            <a:off x="552450" y="1933575"/>
            <a:ext cx="2609850" cy="666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6D88074-5C2C-4B97-9FDF-688813795E0C}"/>
              </a:ext>
            </a:extLst>
          </p:cNvPr>
          <p:cNvSpPr>
            <a:spLocks xmlns:a="http://schemas.openxmlformats.org/drawingml/2006/main" noGrp="1"/>
          </p:cNvSpPr>
          <p:nvPr/>
        </p:nvSpPr>
        <p:spPr>
          <a:xfrm xmlns:a="http://schemas.openxmlformats.org/drawingml/2006/main">
            <a:off x="762000" y="216217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EDGE + IDENTITY</a:t>
            </a:r>
          </a:p>
        </p:txBody>
      </p:sp>
      <p:sp>
        <p:nvSpPr>
          <p:cNvPr id="11" name="">
            <a:extLst xmlns:a="http://schemas.openxmlformats.org/drawingml/2006/main">
              <a:ext uri="{FF2B5EF4-FFF2-40B4-BE49-F238E27FC236}">
                <a16:creationId xmlns:a16="http://schemas.microsoft.com/office/drawing/2014/main" id="{0A6902F5-3D2E-440C-A806-27E8969B9F73}"/>
              </a:ext>
            </a:extLst>
          </p:cNvPr>
          <p:cNvSpPr>
            <a:spLocks xmlns:a="http://schemas.openxmlformats.org/drawingml/2006/main" noGrp="1"/>
          </p:cNvSpPr>
          <p:nvPr/>
        </p:nvSpPr>
        <p:spPr>
          <a:xfrm xmlns:a="http://schemas.openxmlformats.org/drawingml/2006/main">
            <a:off x="3295650" y="1933575"/>
            <a:ext cx="2609850" cy="3267075"/>
          </a:xfrm>
          <a:prstGeom xmlns:a="http://schemas.openxmlformats.org/drawingml/2006/main" prst="roundRect">
            <a:avLst>
              <a:gd name="adj" fmla="val 8029"/>
            </a:avLst>
          </a:prstGeom>
          <a:solidFill xmlns:a="http://schemas.openxmlformats.org/drawingml/2006/main">
            <a:srgbClr val="F3F7FC"/>
          </a:solidFill>
          <a:ln xmlns:a="http://schemas.openxmlformats.org/drawingml/2006/main" w="9525">
            <a:solidFill>
              <a:srgbClr val="D9E3F0"/>
            </a:solidFill>
            <a:prstDash val="solid"/>
          </a:ln>
        </p:spPr>
      </p:sp>
      <p:sp>
        <p:nvSpPr>
          <p:cNvPr id="12" name="">
            <a:extLst xmlns:a="http://schemas.openxmlformats.org/drawingml/2006/main">
              <a:ext uri="{FF2B5EF4-FFF2-40B4-BE49-F238E27FC236}">
                <a16:creationId xmlns:a16="http://schemas.microsoft.com/office/drawing/2014/main" id="{D62C1999-C925-4E88-A804-DD808C73ECD7}"/>
              </a:ext>
            </a:extLst>
          </p:cNvPr>
          <p:cNvSpPr>
            <a:spLocks xmlns:a="http://schemas.openxmlformats.org/drawingml/2006/main" noGrp="1"/>
          </p:cNvSpPr>
          <p:nvPr/>
        </p:nvSpPr>
        <p:spPr>
          <a:xfrm xmlns:a="http://schemas.openxmlformats.org/drawingml/2006/main">
            <a:off x="3295650" y="1933575"/>
            <a:ext cx="2609850" cy="66675"/>
          </a:xfrm>
          <a:prstGeom xmlns:a="http://schemas.openxmlformats.org/drawingml/2006/main" prst="roundRect">
            <a:avLst>
              <a:gd name="adj" fmla="val 50000"/>
            </a:avLst>
          </a:prstGeom>
          <a:solidFill xmlns:a="http://schemas.openxmlformats.org/drawingml/2006/main">
            <a:srgbClr val="40608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6D00A4A-379A-46F2-8206-43083DAFE3A3}"/>
              </a:ext>
            </a:extLst>
          </p:cNvPr>
          <p:cNvSpPr>
            <a:spLocks xmlns:a="http://schemas.openxmlformats.org/drawingml/2006/main" noGrp="1"/>
          </p:cNvSpPr>
          <p:nvPr/>
        </p:nvSpPr>
        <p:spPr>
          <a:xfrm xmlns:a="http://schemas.openxmlformats.org/drawingml/2006/main">
            <a:off x="3505200" y="216217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06082"/>
                </a:solidFill>
              </a:defRPr>
            </a:pPr>
            <a:r>
              <a:rPr sz="900" b="1">
                <a:solidFill>
                  <a:srgbClr val="406082"/>
                </a:solidFill>
              </a:rPr>
              <a:t>APP + ORCHESTRATION</a:t>
            </a:r>
          </a:p>
        </p:txBody>
      </p:sp>
      <p:sp>
        <p:nvSpPr>
          <p:cNvPr id="14" name="">
            <a:extLst xmlns:a="http://schemas.openxmlformats.org/drawingml/2006/main">
              <a:ext uri="{FF2B5EF4-FFF2-40B4-BE49-F238E27FC236}">
                <a16:creationId xmlns:a16="http://schemas.microsoft.com/office/drawing/2014/main" id="{3CB977E5-4A95-4D2E-8988-E9DD939FFC42}"/>
              </a:ext>
            </a:extLst>
          </p:cNvPr>
          <p:cNvSpPr>
            <a:spLocks xmlns:a="http://schemas.openxmlformats.org/drawingml/2006/main" noGrp="1"/>
          </p:cNvSpPr>
          <p:nvPr/>
        </p:nvSpPr>
        <p:spPr>
          <a:xfrm xmlns:a="http://schemas.openxmlformats.org/drawingml/2006/main">
            <a:off x="6038850" y="1933575"/>
            <a:ext cx="2609850" cy="3267075"/>
          </a:xfrm>
          <a:prstGeom xmlns:a="http://schemas.openxmlformats.org/drawingml/2006/main" prst="roundRect">
            <a:avLst>
              <a:gd name="adj" fmla="val 8029"/>
            </a:avLst>
          </a:prstGeom>
          <a:solidFill xmlns:a="http://schemas.openxmlformats.org/drawingml/2006/main">
            <a:srgbClr val="EEF9F7"/>
          </a:solidFill>
          <a:ln xmlns:a="http://schemas.openxmlformats.org/drawingml/2006/main" w="9525">
            <a:solidFill>
              <a:srgbClr val="D9E3F0"/>
            </a:solidFill>
            <a:prstDash val="solid"/>
          </a:ln>
        </p:spPr>
      </p:sp>
      <p:sp>
        <p:nvSpPr>
          <p:cNvPr id="15" name="">
            <a:extLst xmlns:a="http://schemas.openxmlformats.org/drawingml/2006/main">
              <a:ext uri="{FF2B5EF4-FFF2-40B4-BE49-F238E27FC236}">
                <a16:creationId xmlns:a16="http://schemas.microsoft.com/office/drawing/2014/main" id="{3706C5E5-F27E-42C3-B6BE-C8F620F26B9F}"/>
              </a:ext>
            </a:extLst>
          </p:cNvPr>
          <p:cNvSpPr>
            <a:spLocks xmlns:a="http://schemas.openxmlformats.org/drawingml/2006/main" noGrp="1"/>
          </p:cNvSpPr>
          <p:nvPr/>
        </p:nvSpPr>
        <p:spPr>
          <a:xfrm xmlns:a="http://schemas.openxmlformats.org/drawingml/2006/main">
            <a:off x="6038850" y="1933575"/>
            <a:ext cx="2609850" cy="66675"/>
          </a:xfrm>
          <a:prstGeom xmlns:a="http://schemas.openxmlformats.org/drawingml/2006/main" prst="roundRect">
            <a:avLst>
              <a:gd name="adj" fmla="val 50000"/>
            </a:avLst>
          </a:prstGeom>
          <a:solidFill xmlns:a="http://schemas.openxmlformats.org/drawingml/2006/main">
            <a:srgbClr val="0F9D8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1D0715D-3CC6-4EA0-9F45-DDCDB31D239D}"/>
              </a:ext>
            </a:extLst>
          </p:cNvPr>
          <p:cNvSpPr>
            <a:spLocks xmlns:a="http://schemas.openxmlformats.org/drawingml/2006/main" noGrp="1"/>
          </p:cNvSpPr>
          <p:nvPr/>
        </p:nvSpPr>
        <p:spPr>
          <a:xfrm xmlns:a="http://schemas.openxmlformats.org/drawingml/2006/main">
            <a:off x="6248400" y="216217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0F9D8A"/>
                </a:solidFill>
              </a:defRPr>
            </a:pPr>
            <a:r>
              <a:rPr sz="900" b="1">
                <a:solidFill>
                  <a:srgbClr val="0F9D8A"/>
                </a:solidFill>
              </a:rPr>
              <a:t>AI PROCESSING</a:t>
            </a:r>
          </a:p>
        </p:txBody>
      </p:sp>
      <p:sp>
        <p:nvSpPr>
          <p:cNvPr id="17" name="">
            <a:extLst xmlns:a="http://schemas.openxmlformats.org/drawingml/2006/main">
              <a:ext uri="{FF2B5EF4-FFF2-40B4-BE49-F238E27FC236}">
                <a16:creationId xmlns:a16="http://schemas.microsoft.com/office/drawing/2014/main" id="{63CCE8F3-606F-4C14-B1D7-132D61327EC7}"/>
              </a:ext>
            </a:extLst>
          </p:cNvPr>
          <p:cNvSpPr>
            <a:spLocks xmlns:a="http://schemas.openxmlformats.org/drawingml/2006/main" noGrp="1"/>
          </p:cNvSpPr>
          <p:nvPr/>
        </p:nvSpPr>
        <p:spPr>
          <a:xfrm xmlns:a="http://schemas.openxmlformats.org/drawingml/2006/main">
            <a:off x="8782050" y="1933575"/>
            <a:ext cx="2857500" cy="3267075"/>
          </a:xfrm>
          <a:prstGeom xmlns:a="http://schemas.openxmlformats.org/drawingml/2006/main" prst="roundRect">
            <a:avLst>
              <a:gd name="adj" fmla="val 7333"/>
            </a:avLst>
          </a:prstGeom>
          <a:solidFill xmlns:a="http://schemas.openxmlformats.org/drawingml/2006/main">
            <a:srgbClr val="F7F2FF"/>
          </a:solidFill>
          <a:ln xmlns:a="http://schemas.openxmlformats.org/drawingml/2006/main" w="9525">
            <a:solidFill>
              <a:srgbClr val="D9E3F0"/>
            </a:solidFill>
            <a:prstDash val="solid"/>
          </a:ln>
        </p:spPr>
      </p:sp>
      <p:sp>
        <p:nvSpPr>
          <p:cNvPr id="18" name="">
            <a:extLst xmlns:a="http://schemas.openxmlformats.org/drawingml/2006/main">
              <a:ext uri="{FF2B5EF4-FFF2-40B4-BE49-F238E27FC236}">
                <a16:creationId xmlns:a16="http://schemas.microsoft.com/office/drawing/2014/main" id="{208B2FE7-5099-4DBE-85EB-66BB2B6A8F5A}"/>
              </a:ext>
            </a:extLst>
          </p:cNvPr>
          <p:cNvSpPr>
            <a:spLocks xmlns:a="http://schemas.openxmlformats.org/drawingml/2006/main" noGrp="1"/>
          </p:cNvSpPr>
          <p:nvPr/>
        </p:nvSpPr>
        <p:spPr>
          <a:xfrm xmlns:a="http://schemas.openxmlformats.org/drawingml/2006/main">
            <a:off x="8782050" y="1933575"/>
            <a:ext cx="2857500" cy="66675"/>
          </a:xfrm>
          <a:prstGeom xmlns:a="http://schemas.openxmlformats.org/drawingml/2006/main" prst="roundRect">
            <a:avLst>
              <a:gd name="adj" fmla="val 50000"/>
            </a:avLst>
          </a:prstGeom>
          <a:solidFill xmlns:a="http://schemas.openxmlformats.org/drawingml/2006/main">
            <a:srgbClr val="7C5CE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6BC6E09-2013-4B87-BCC3-B9578F1DC942}"/>
              </a:ext>
            </a:extLst>
          </p:cNvPr>
          <p:cNvSpPr>
            <a:spLocks xmlns:a="http://schemas.openxmlformats.org/drawingml/2006/main" noGrp="1"/>
          </p:cNvSpPr>
          <p:nvPr/>
        </p:nvSpPr>
        <p:spPr>
          <a:xfrm xmlns:a="http://schemas.openxmlformats.org/drawingml/2006/main">
            <a:off x="8991600" y="2162175"/>
            <a:ext cx="243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C5CE7"/>
                </a:solidFill>
              </a:defRPr>
            </a:pPr>
            <a:r>
              <a:rPr sz="900" b="1">
                <a:solidFill>
                  <a:srgbClr val="7C5CE7"/>
                </a:solidFill>
              </a:rPr>
              <a:t>DATA + OPERATIONS</a:t>
            </a:r>
          </a:p>
        </p:txBody>
      </p:sp>
      <p:sp>
        <p:nvSpPr>
          <p:cNvPr id="20" name="">
            <a:extLst xmlns:a="http://schemas.openxmlformats.org/drawingml/2006/main">
              <a:ext uri="{FF2B5EF4-FFF2-40B4-BE49-F238E27FC236}">
                <a16:creationId xmlns:a16="http://schemas.microsoft.com/office/drawing/2014/main" id="{47DC3568-DA6C-46D3-89AF-EFCD29646FE3}"/>
              </a:ext>
            </a:extLst>
          </p:cNvPr>
          <p:cNvSpPr>
            <a:spLocks xmlns:a="http://schemas.openxmlformats.org/drawingml/2006/main" noGrp="1"/>
          </p:cNvSpPr>
          <p:nvPr/>
        </p:nvSpPr>
        <p:spPr>
          <a:xfrm xmlns:a="http://schemas.openxmlformats.org/drawingml/2006/main">
            <a:off x="819150" y="2514600"/>
            <a:ext cx="419100" cy="419100"/>
          </a:xfrm>
          <a:prstGeom xmlns:a="http://schemas.openxmlformats.org/drawingml/2006/main" prst="roundRect">
            <a:avLst>
              <a:gd name="adj" fmla="val 31818"/>
            </a:avLst>
          </a:prstGeom>
          <a:solidFill xmlns:a="http://schemas.openxmlformats.org/drawingml/2006/main">
            <a:srgbClr val="FFFFFF"/>
          </a:solidFill>
          <a:ln xmlns:a="http://schemas.openxmlformats.org/drawingml/2006/main" w="0">
            <a:noFill/>
            <a:prstDash val="solid"/>
          </a:ln>
        </p:spPr>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b7dac3cfa64f4e96">
            <a:extLst>
              <a:ext uri="{96DAC541-7B7A-43D3-8B79-37D633B846F1}">
                <asvg:svgBlip xmlns:asvg="http://schemas.microsoft.com/office/drawing/2016/SVG/main" r:embed="Rc85d7a71896e4539"/>
              </a:ext>
            </a:extLst>
          </a:blip>
          <a:stretch xmlns:a="http://schemas.openxmlformats.org/drawingml/2006/main"/>
        </p:blipFill>
        <p:spPr>
          <a:xfrm xmlns:a="http://schemas.openxmlformats.org/drawingml/2006/main">
            <a:off x="923925" y="2619375"/>
            <a:ext cx="209550" cy="2095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AC8559CB-7ADA-4A8F-A753-220DF58628F5}"/>
              </a:ext>
            </a:extLst>
          </p:cNvPr>
          <p:cNvSpPr>
            <a:spLocks xmlns:a="http://schemas.openxmlformats.org/drawingml/2006/main" noGrp="1"/>
          </p:cNvSpPr>
          <p:nvPr/>
        </p:nvSpPr>
        <p:spPr>
          <a:xfrm xmlns:a="http://schemas.openxmlformats.org/drawingml/2006/main">
            <a:off x="1371600" y="25241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Microsoft Entra ID</a:t>
            </a:r>
          </a:p>
        </p:txBody>
      </p:sp>
      <p:sp>
        <p:nvSpPr>
          <p:cNvPr id="23" name="">
            <a:extLst xmlns:a="http://schemas.openxmlformats.org/drawingml/2006/main">
              <a:ext uri="{FF2B5EF4-FFF2-40B4-BE49-F238E27FC236}">
                <a16:creationId xmlns:a16="http://schemas.microsoft.com/office/drawing/2014/main" id="{0F8F9B62-821E-4C71-A45C-E6E1D21FC127}"/>
              </a:ext>
            </a:extLst>
          </p:cNvPr>
          <p:cNvSpPr>
            <a:spLocks xmlns:a="http://schemas.openxmlformats.org/drawingml/2006/main" noGrp="1"/>
          </p:cNvSpPr>
          <p:nvPr/>
        </p:nvSpPr>
        <p:spPr>
          <a:xfrm xmlns:a="http://schemas.openxmlformats.org/drawingml/2006/main">
            <a:off x="1371600" y="277177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MFA, roles, access reviews</a:t>
            </a:r>
          </a:p>
        </p:txBody>
      </p:sp>
      <p:sp>
        <p:nvSpPr>
          <p:cNvPr id="24" name="">
            <a:extLst xmlns:a="http://schemas.openxmlformats.org/drawingml/2006/main">
              <a:ext uri="{FF2B5EF4-FFF2-40B4-BE49-F238E27FC236}">
                <a16:creationId xmlns:a16="http://schemas.microsoft.com/office/drawing/2014/main" id="{417E6DF8-71C1-4DB2-BB06-3ADF49BC2503}"/>
              </a:ext>
            </a:extLst>
          </p:cNvPr>
          <p:cNvSpPr>
            <a:spLocks xmlns:a="http://schemas.openxmlformats.org/drawingml/2006/main" noGrp="1"/>
          </p:cNvSpPr>
          <p:nvPr/>
        </p:nvSpPr>
        <p:spPr>
          <a:xfrm xmlns:a="http://schemas.openxmlformats.org/drawingml/2006/main">
            <a:off x="819150" y="3419475"/>
            <a:ext cx="419100" cy="419100"/>
          </a:xfrm>
          <a:prstGeom xmlns:a="http://schemas.openxmlformats.org/drawingml/2006/main" prst="roundRect">
            <a:avLst>
              <a:gd name="adj" fmla="val 31818"/>
            </a:avLst>
          </a:prstGeom>
          <a:solidFill xmlns:a="http://schemas.openxmlformats.org/drawingml/2006/main">
            <a:srgbClr val="FFFFFF"/>
          </a:solidFill>
          <a:ln xmlns:a="http://schemas.openxmlformats.org/drawingml/2006/main" w="0">
            <a:noFill/>
            <a:prstDash val="solid"/>
          </a:ln>
        </p:spPr>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2fe6f65c6d9a48ba">
            <a:extLst>
              <a:ext uri="{96DAC541-7B7A-43D3-8B79-37D633B846F1}">
                <asvg:svgBlip xmlns:asvg="http://schemas.microsoft.com/office/drawing/2016/SVG/main" r:embed="R9071b6d21c014c24"/>
              </a:ext>
            </a:extLst>
          </a:blip>
          <a:stretch xmlns:a="http://schemas.openxmlformats.org/drawingml/2006/main"/>
        </p:blipFill>
        <p:spPr>
          <a:xfrm xmlns:a="http://schemas.openxmlformats.org/drawingml/2006/main">
            <a:off x="923925" y="3524250"/>
            <a:ext cx="209550" cy="2095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6019B0B8-3159-47ED-A88B-A1E30FFF41C4}"/>
              </a:ext>
            </a:extLst>
          </p:cNvPr>
          <p:cNvSpPr>
            <a:spLocks xmlns:a="http://schemas.openxmlformats.org/drawingml/2006/main" noGrp="1"/>
          </p:cNvSpPr>
          <p:nvPr/>
        </p:nvSpPr>
        <p:spPr>
          <a:xfrm xmlns:a="http://schemas.openxmlformats.org/drawingml/2006/main">
            <a:off x="1371600" y="34290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Front Door + APIM</a:t>
            </a:r>
          </a:p>
        </p:txBody>
      </p:sp>
      <p:sp>
        <p:nvSpPr>
          <p:cNvPr id="27" name="">
            <a:extLst xmlns:a="http://schemas.openxmlformats.org/drawingml/2006/main">
              <a:ext uri="{FF2B5EF4-FFF2-40B4-BE49-F238E27FC236}">
                <a16:creationId xmlns:a16="http://schemas.microsoft.com/office/drawing/2014/main" id="{37AF91B8-7B35-4312-AC79-F4A2B9F4113A}"/>
              </a:ext>
            </a:extLst>
          </p:cNvPr>
          <p:cNvSpPr>
            <a:spLocks xmlns:a="http://schemas.openxmlformats.org/drawingml/2006/main" noGrp="1"/>
          </p:cNvSpPr>
          <p:nvPr/>
        </p:nvSpPr>
        <p:spPr>
          <a:xfrm xmlns:a="http://schemas.openxmlformats.org/drawingml/2006/main">
            <a:off x="1371600" y="36766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WAF, token checks, rate control</a:t>
            </a:r>
          </a:p>
        </p:txBody>
      </p:sp>
      <p:sp>
        <p:nvSpPr>
          <p:cNvPr id="28" name="">
            <a:extLst xmlns:a="http://schemas.openxmlformats.org/drawingml/2006/main">
              <a:ext uri="{FF2B5EF4-FFF2-40B4-BE49-F238E27FC236}">
                <a16:creationId xmlns:a16="http://schemas.microsoft.com/office/drawing/2014/main" id="{1809CEBE-EB54-4E54-9D02-5399C70AFBAA}"/>
              </a:ext>
            </a:extLst>
          </p:cNvPr>
          <p:cNvSpPr>
            <a:spLocks xmlns:a="http://schemas.openxmlformats.org/drawingml/2006/main" noGrp="1"/>
          </p:cNvSpPr>
          <p:nvPr/>
        </p:nvSpPr>
        <p:spPr>
          <a:xfrm xmlns:a="http://schemas.openxmlformats.org/drawingml/2006/main">
            <a:off x="3562350" y="2514600"/>
            <a:ext cx="419100" cy="419100"/>
          </a:xfrm>
          <a:prstGeom xmlns:a="http://schemas.openxmlformats.org/drawingml/2006/main" prst="roundRect">
            <a:avLst>
              <a:gd name="adj" fmla="val 31818"/>
            </a:avLst>
          </a:prstGeom>
          <a:solidFill xmlns:a="http://schemas.openxmlformats.org/drawingml/2006/main">
            <a:srgbClr val="FFFFFF"/>
          </a:solidFill>
          <a:ln xmlns:a="http://schemas.openxmlformats.org/drawingml/2006/main" w="0">
            <a:noFill/>
            <a:prstDash val="solid"/>
          </a:ln>
        </p:spPr>
      </p:sp>
      <p:pic>
        <p:nvPicPr>
          <p:cNvPr id="103" name=""/>
          <p:cNvPicPr>
            <a:picLocks xmlns:a="http://schemas.openxmlformats.org/drawingml/2006/main" noChangeAspect="1"/>
          </p:cNvPicPr>
          <p:nvPr/>
        </p:nvPicPr>
        <p:blipFill>
          <a:blip xmlns:r="http://schemas.openxmlformats.org/officeDocument/2006/relationships" xmlns:a="http://schemas.openxmlformats.org/drawingml/2006/main" r:embed="Rcb01f00c45c3475c">
            <a:extLst>
              <a:ext uri="{96DAC541-7B7A-43D3-8B79-37D633B846F1}">
                <asvg:svgBlip xmlns:asvg="http://schemas.microsoft.com/office/drawing/2016/SVG/main" r:embed="Rca26f7c071fc4205"/>
              </a:ext>
            </a:extLst>
          </a:blip>
          <a:stretch xmlns:a="http://schemas.openxmlformats.org/drawingml/2006/main"/>
        </p:blipFill>
        <p:spPr>
          <a:xfrm xmlns:a="http://schemas.openxmlformats.org/drawingml/2006/main">
            <a:off x="3667125" y="2619375"/>
            <a:ext cx="209550" cy="20955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72DF1A5A-55CE-4E3F-910A-50EB95915E55}"/>
              </a:ext>
            </a:extLst>
          </p:cNvPr>
          <p:cNvSpPr>
            <a:spLocks xmlns:a="http://schemas.openxmlformats.org/drawingml/2006/main" noGrp="1"/>
          </p:cNvSpPr>
          <p:nvPr/>
        </p:nvSpPr>
        <p:spPr>
          <a:xfrm xmlns:a="http://schemas.openxmlformats.org/drawingml/2006/main">
            <a:off x="4114800" y="25241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Container Apps</a:t>
            </a:r>
          </a:p>
        </p:txBody>
      </p:sp>
      <p:sp>
        <p:nvSpPr>
          <p:cNvPr id="31" name="">
            <a:extLst xmlns:a="http://schemas.openxmlformats.org/drawingml/2006/main">
              <a:ext uri="{FF2B5EF4-FFF2-40B4-BE49-F238E27FC236}">
                <a16:creationId xmlns:a16="http://schemas.microsoft.com/office/drawing/2014/main" id="{DC930690-A204-4646-8433-9227CE91A34F}"/>
              </a:ext>
            </a:extLst>
          </p:cNvPr>
          <p:cNvSpPr>
            <a:spLocks xmlns:a="http://schemas.openxmlformats.org/drawingml/2006/main" noGrp="1"/>
          </p:cNvSpPr>
          <p:nvPr/>
        </p:nvSpPr>
        <p:spPr>
          <a:xfrm xmlns:a="http://schemas.openxmlformats.org/drawingml/2006/main">
            <a:off x="4114800" y="277177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Authorized API + private workers</a:t>
            </a:r>
          </a:p>
        </p:txBody>
      </p:sp>
      <p:sp>
        <p:nvSpPr>
          <p:cNvPr id="32" name="">
            <a:extLst xmlns:a="http://schemas.openxmlformats.org/drawingml/2006/main">
              <a:ext uri="{FF2B5EF4-FFF2-40B4-BE49-F238E27FC236}">
                <a16:creationId xmlns:a16="http://schemas.microsoft.com/office/drawing/2014/main" id="{E24D72EA-B58F-4529-B845-A1AB84ED386C}"/>
              </a:ext>
            </a:extLst>
          </p:cNvPr>
          <p:cNvSpPr>
            <a:spLocks xmlns:a="http://schemas.openxmlformats.org/drawingml/2006/main" noGrp="1"/>
          </p:cNvSpPr>
          <p:nvPr/>
        </p:nvSpPr>
        <p:spPr>
          <a:xfrm xmlns:a="http://schemas.openxmlformats.org/drawingml/2006/main">
            <a:off x="3562350" y="3419475"/>
            <a:ext cx="419100" cy="419100"/>
          </a:xfrm>
          <a:prstGeom xmlns:a="http://schemas.openxmlformats.org/drawingml/2006/main" prst="roundRect">
            <a:avLst>
              <a:gd name="adj" fmla="val 31818"/>
            </a:avLst>
          </a:prstGeom>
          <a:solidFill xmlns:a="http://schemas.openxmlformats.org/drawingml/2006/main">
            <a:srgbClr val="FFFFFF"/>
          </a:solidFill>
          <a:ln xmlns:a="http://schemas.openxmlformats.org/drawingml/2006/main" w="0">
            <a:noFill/>
            <a:prstDash val="solid"/>
          </a:ln>
        </p:spPr>
      </p:sp>
      <p:pic>
        <p:nvPicPr>
          <p:cNvPr id="107" name=""/>
          <p:cNvPicPr>
            <a:picLocks xmlns:a="http://schemas.openxmlformats.org/drawingml/2006/main" noChangeAspect="1"/>
          </p:cNvPicPr>
          <p:nvPr/>
        </p:nvPicPr>
        <p:blipFill>
          <a:blip xmlns:r="http://schemas.openxmlformats.org/officeDocument/2006/relationships" xmlns:a="http://schemas.openxmlformats.org/drawingml/2006/main" r:embed="R41429de830e441fd">
            <a:extLst>
              <a:ext uri="{96DAC541-7B7A-43D3-8B79-37D633B846F1}">
                <asvg:svgBlip xmlns:asvg="http://schemas.microsoft.com/office/drawing/2016/SVG/main" r:embed="R51857728e6114231"/>
              </a:ext>
            </a:extLst>
          </a:blip>
          <a:stretch xmlns:a="http://schemas.openxmlformats.org/drawingml/2006/main"/>
        </p:blipFill>
        <p:spPr>
          <a:xfrm xmlns:a="http://schemas.openxmlformats.org/drawingml/2006/main">
            <a:off x="3667125" y="3524250"/>
            <a:ext cx="209550" cy="209550"/>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B5EEF219-5B06-4903-AA10-17CDF9D1A661}"/>
              </a:ext>
            </a:extLst>
          </p:cNvPr>
          <p:cNvSpPr>
            <a:spLocks xmlns:a="http://schemas.openxmlformats.org/drawingml/2006/main" noGrp="1"/>
          </p:cNvSpPr>
          <p:nvPr/>
        </p:nvSpPr>
        <p:spPr>
          <a:xfrm xmlns:a="http://schemas.openxmlformats.org/drawingml/2006/main">
            <a:off x="4114800" y="34290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Service Bus</a:t>
            </a:r>
          </a:p>
        </p:txBody>
      </p:sp>
      <p:sp>
        <p:nvSpPr>
          <p:cNvPr id="35" name="">
            <a:extLst xmlns:a="http://schemas.openxmlformats.org/drawingml/2006/main">
              <a:ext uri="{FF2B5EF4-FFF2-40B4-BE49-F238E27FC236}">
                <a16:creationId xmlns:a16="http://schemas.microsoft.com/office/drawing/2014/main" id="{286A7A29-B592-40C0-8284-4C518DF586F8}"/>
              </a:ext>
            </a:extLst>
          </p:cNvPr>
          <p:cNvSpPr>
            <a:spLocks xmlns:a="http://schemas.openxmlformats.org/drawingml/2006/main" noGrp="1"/>
          </p:cNvSpPr>
          <p:nvPr/>
        </p:nvSpPr>
        <p:spPr>
          <a:xfrm xmlns:a="http://schemas.openxmlformats.org/drawingml/2006/main">
            <a:off x="4114800" y="36766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Durable, idempotent stages</a:t>
            </a:r>
          </a:p>
        </p:txBody>
      </p:sp>
      <p:sp>
        <p:nvSpPr>
          <p:cNvPr id="36" name="">
            <a:extLst xmlns:a="http://schemas.openxmlformats.org/drawingml/2006/main">
              <a:ext uri="{FF2B5EF4-FFF2-40B4-BE49-F238E27FC236}">
                <a16:creationId xmlns:a16="http://schemas.microsoft.com/office/drawing/2014/main" id="{A15B3F4E-14B4-40D4-86CF-F62FAC418412}"/>
              </a:ext>
            </a:extLst>
          </p:cNvPr>
          <p:cNvSpPr>
            <a:spLocks xmlns:a="http://schemas.openxmlformats.org/drawingml/2006/main" noGrp="1"/>
          </p:cNvSpPr>
          <p:nvPr/>
        </p:nvSpPr>
        <p:spPr>
          <a:xfrm xmlns:a="http://schemas.openxmlformats.org/drawingml/2006/main">
            <a:off x="6305550" y="2514600"/>
            <a:ext cx="419100" cy="419100"/>
          </a:xfrm>
          <a:prstGeom xmlns:a="http://schemas.openxmlformats.org/drawingml/2006/main" prst="roundRect">
            <a:avLst>
              <a:gd name="adj" fmla="val 31818"/>
            </a:avLst>
          </a:prstGeom>
          <a:solidFill xmlns:a="http://schemas.openxmlformats.org/drawingml/2006/main">
            <a:srgbClr val="FFFFFF"/>
          </a:solidFill>
          <a:ln xmlns:a="http://schemas.openxmlformats.org/drawingml/2006/main" w="0">
            <a:noFill/>
            <a:prstDash val="solid"/>
          </a:ln>
        </p:spPr>
      </p:sp>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4aaf14dbbcd84da0">
            <a:extLst>
              <a:ext uri="{96DAC541-7B7A-43D3-8B79-37D633B846F1}">
                <asvg:svgBlip xmlns:asvg="http://schemas.microsoft.com/office/drawing/2016/SVG/main" r:embed="R1b8111609f3749c3"/>
              </a:ext>
            </a:extLst>
          </a:blip>
          <a:stretch xmlns:a="http://schemas.openxmlformats.org/drawingml/2006/main"/>
        </p:blipFill>
        <p:spPr>
          <a:xfrm xmlns:a="http://schemas.openxmlformats.org/drawingml/2006/main">
            <a:off x="6410325" y="2619375"/>
            <a:ext cx="209550" cy="209550"/>
          </a:xfrm>
          <a:prstGeom xmlns:a="http://schemas.openxmlformats.org/drawingml/2006/main" prst="rect">
            <a:avLst/>
          </a:prstGeom>
        </p:spPr>
      </p:pic>
      <p:sp>
        <p:nvSpPr>
          <p:cNvPr id="38" name="">
            <a:extLst xmlns:a="http://schemas.openxmlformats.org/drawingml/2006/main">
              <a:ext uri="{FF2B5EF4-FFF2-40B4-BE49-F238E27FC236}">
                <a16:creationId xmlns:a16="http://schemas.microsoft.com/office/drawing/2014/main" id="{A701665F-844D-468F-B004-047C226227B6}"/>
              </a:ext>
            </a:extLst>
          </p:cNvPr>
          <p:cNvSpPr>
            <a:spLocks xmlns:a="http://schemas.openxmlformats.org/drawingml/2006/main" noGrp="1"/>
          </p:cNvSpPr>
          <p:nvPr/>
        </p:nvSpPr>
        <p:spPr>
          <a:xfrm xmlns:a="http://schemas.openxmlformats.org/drawingml/2006/main">
            <a:off x="6858000" y="25241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Document Intelligence</a:t>
            </a:r>
          </a:p>
        </p:txBody>
      </p:sp>
      <p:sp>
        <p:nvSpPr>
          <p:cNvPr id="39" name="">
            <a:extLst xmlns:a="http://schemas.openxmlformats.org/drawingml/2006/main">
              <a:ext uri="{FF2B5EF4-FFF2-40B4-BE49-F238E27FC236}">
                <a16:creationId xmlns:a16="http://schemas.microsoft.com/office/drawing/2014/main" id="{DC918D54-EC01-4A81-AB07-0EE617831EDC}"/>
              </a:ext>
            </a:extLst>
          </p:cNvPr>
          <p:cNvSpPr>
            <a:spLocks xmlns:a="http://schemas.openxmlformats.org/drawingml/2006/main" noGrp="1"/>
          </p:cNvSpPr>
          <p:nvPr/>
        </p:nvSpPr>
        <p:spPr>
          <a:xfrm xmlns:a="http://schemas.openxmlformats.org/drawingml/2006/main">
            <a:off x="6858000" y="277177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Private regional extraction</a:t>
            </a:r>
          </a:p>
        </p:txBody>
      </p:sp>
      <p:sp>
        <p:nvSpPr>
          <p:cNvPr id="40" name="">
            <a:extLst xmlns:a="http://schemas.openxmlformats.org/drawingml/2006/main">
              <a:ext uri="{FF2B5EF4-FFF2-40B4-BE49-F238E27FC236}">
                <a16:creationId xmlns:a16="http://schemas.microsoft.com/office/drawing/2014/main" id="{80344675-20E8-4FB9-B9C9-540D49288D5E}"/>
              </a:ext>
            </a:extLst>
          </p:cNvPr>
          <p:cNvSpPr>
            <a:spLocks xmlns:a="http://schemas.openxmlformats.org/drawingml/2006/main" noGrp="1"/>
          </p:cNvSpPr>
          <p:nvPr/>
        </p:nvSpPr>
        <p:spPr>
          <a:xfrm xmlns:a="http://schemas.openxmlformats.org/drawingml/2006/main">
            <a:off x="6305550" y="3419475"/>
            <a:ext cx="419100" cy="419100"/>
          </a:xfrm>
          <a:prstGeom xmlns:a="http://schemas.openxmlformats.org/drawingml/2006/main" prst="roundRect">
            <a:avLst>
              <a:gd name="adj" fmla="val 31818"/>
            </a:avLst>
          </a:prstGeom>
          <a:solidFill xmlns:a="http://schemas.openxmlformats.org/drawingml/2006/main">
            <a:srgbClr val="FFFFFF"/>
          </a:solidFill>
          <a:ln xmlns:a="http://schemas.openxmlformats.org/drawingml/2006/main" w="0">
            <a:noFill/>
            <a:prstDash val="solid"/>
          </a:ln>
        </p:spPr>
      </p:sp>
      <p:pic>
        <p:nvPicPr>
          <p:cNvPr id="115" name=""/>
          <p:cNvPicPr>
            <a:picLocks xmlns:a="http://schemas.openxmlformats.org/drawingml/2006/main" noChangeAspect="1"/>
          </p:cNvPicPr>
          <p:nvPr/>
        </p:nvPicPr>
        <p:blipFill>
          <a:blip xmlns:r="http://schemas.openxmlformats.org/officeDocument/2006/relationships" xmlns:a="http://schemas.openxmlformats.org/drawingml/2006/main" r:embed="R4cc984b81fe540eb">
            <a:extLst>
              <a:ext uri="{96DAC541-7B7A-43D3-8B79-37D633B846F1}">
                <asvg:svgBlip xmlns:asvg="http://schemas.microsoft.com/office/drawing/2016/SVG/main" r:embed="Rb6aec71b1bd244d9"/>
              </a:ext>
            </a:extLst>
          </a:blip>
          <a:stretch xmlns:a="http://schemas.openxmlformats.org/drawingml/2006/main"/>
        </p:blipFill>
        <p:spPr>
          <a:xfrm xmlns:a="http://schemas.openxmlformats.org/drawingml/2006/main">
            <a:off x="6410325" y="3524250"/>
            <a:ext cx="209550" cy="209550"/>
          </a:xfrm>
          <a:prstGeom xmlns:a="http://schemas.openxmlformats.org/drawingml/2006/main" prst="rect">
            <a:avLst/>
          </a:prstGeom>
        </p:spPr>
      </p:pic>
      <p:sp>
        <p:nvSpPr>
          <p:cNvPr id="42" name="">
            <a:extLst xmlns:a="http://schemas.openxmlformats.org/drawingml/2006/main">
              <a:ext uri="{FF2B5EF4-FFF2-40B4-BE49-F238E27FC236}">
                <a16:creationId xmlns:a16="http://schemas.microsoft.com/office/drawing/2014/main" id="{4610C78F-B547-49C4-89C2-F0C364751BD2}"/>
              </a:ext>
            </a:extLst>
          </p:cNvPr>
          <p:cNvSpPr>
            <a:spLocks xmlns:a="http://schemas.openxmlformats.org/drawingml/2006/main" noGrp="1"/>
          </p:cNvSpPr>
          <p:nvPr/>
        </p:nvSpPr>
        <p:spPr>
          <a:xfrm xmlns:a="http://schemas.openxmlformats.org/drawingml/2006/main">
            <a:off x="6858000" y="34290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Security Gateway</a:t>
            </a:r>
          </a:p>
        </p:txBody>
      </p:sp>
      <p:sp>
        <p:nvSpPr>
          <p:cNvPr id="43" name="">
            <a:extLst xmlns:a="http://schemas.openxmlformats.org/drawingml/2006/main">
              <a:ext uri="{FF2B5EF4-FFF2-40B4-BE49-F238E27FC236}">
                <a16:creationId xmlns:a16="http://schemas.microsoft.com/office/drawing/2014/main" id="{36898870-7E6F-4AD7-805C-1A87085AA04F}"/>
              </a:ext>
            </a:extLst>
          </p:cNvPr>
          <p:cNvSpPr>
            <a:spLocks xmlns:a="http://schemas.openxmlformats.org/drawingml/2006/main" noGrp="1"/>
          </p:cNvSpPr>
          <p:nvPr/>
        </p:nvSpPr>
        <p:spPr>
          <a:xfrm xmlns:a="http://schemas.openxmlformats.org/drawingml/2006/main">
            <a:off x="6858000" y="36766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Classify, minimize, tokenize</a:t>
            </a:r>
          </a:p>
        </p:txBody>
      </p:sp>
      <p:sp>
        <p:nvSpPr>
          <p:cNvPr id="44" name="">
            <a:extLst xmlns:a="http://schemas.openxmlformats.org/drawingml/2006/main">
              <a:ext uri="{FF2B5EF4-FFF2-40B4-BE49-F238E27FC236}">
                <a16:creationId xmlns:a16="http://schemas.microsoft.com/office/drawing/2014/main" id="{0EC657AB-12F7-4B1B-8FA0-51E666B31EBE}"/>
              </a:ext>
            </a:extLst>
          </p:cNvPr>
          <p:cNvSpPr>
            <a:spLocks xmlns:a="http://schemas.openxmlformats.org/drawingml/2006/main" noGrp="1"/>
          </p:cNvSpPr>
          <p:nvPr/>
        </p:nvSpPr>
        <p:spPr>
          <a:xfrm xmlns:a="http://schemas.openxmlformats.org/drawingml/2006/main">
            <a:off x="6305550" y="4324350"/>
            <a:ext cx="419100" cy="419100"/>
          </a:xfrm>
          <a:prstGeom xmlns:a="http://schemas.openxmlformats.org/drawingml/2006/main" prst="roundRect">
            <a:avLst>
              <a:gd name="adj" fmla="val 31818"/>
            </a:avLst>
          </a:prstGeom>
          <a:solidFill xmlns:a="http://schemas.openxmlformats.org/drawingml/2006/main">
            <a:srgbClr val="FFFFFF"/>
          </a:solidFill>
          <a:ln xmlns:a="http://schemas.openxmlformats.org/drawingml/2006/main" w="0">
            <a:noFill/>
            <a:prstDash val="solid"/>
          </a:ln>
        </p:spPr>
      </p:sp>
      <p:pic>
        <p:nvPicPr>
          <p:cNvPr id="119" name=""/>
          <p:cNvPicPr>
            <a:picLocks xmlns:a="http://schemas.openxmlformats.org/drawingml/2006/main" noChangeAspect="1"/>
          </p:cNvPicPr>
          <p:nvPr/>
        </p:nvPicPr>
        <p:blipFill>
          <a:blip xmlns:r="http://schemas.openxmlformats.org/officeDocument/2006/relationships" xmlns:a="http://schemas.openxmlformats.org/drawingml/2006/main" r:embed="Re8375acf0e6f42dd">
            <a:extLst>
              <a:ext uri="{96DAC541-7B7A-43D3-8B79-37D633B846F1}">
                <asvg:svgBlip xmlns:asvg="http://schemas.microsoft.com/office/drawing/2016/SVG/main" r:embed="R04ce9df508024c5e"/>
              </a:ext>
            </a:extLst>
          </a:blip>
          <a:stretch xmlns:a="http://schemas.openxmlformats.org/drawingml/2006/main"/>
        </p:blipFill>
        <p:spPr>
          <a:xfrm xmlns:a="http://schemas.openxmlformats.org/drawingml/2006/main">
            <a:off x="6410325" y="4429125"/>
            <a:ext cx="209550" cy="209550"/>
          </a:xfrm>
          <a:prstGeom xmlns:a="http://schemas.openxmlformats.org/drawingml/2006/main" prst="rect">
            <a:avLst/>
          </a:prstGeom>
        </p:spPr>
      </p:pic>
      <p:sp>
        <p:nvSpPr>
          <p:cNvPr id="46" name="">
            <a:extLst xmlns:a="http://schemas.openxmlformats.org/drawingml/2006/main">
              <a:ext uri="{FF2B5EF4-FFF2-40B4-BE49-F238E27FC236}">
                <a16:creationId xmlns:a16="http://schemas.microsoft.com/office/drawing/2014/main" id="{0164579A-C633-419E-B605-960D7FD29842}"/>
              </a:ext>
            </a:extLst>
          </p:cNvPr>
          <p:cNvSpPr>
            <a:spLocks xmlns:a="http://schemas.openxmlformats.org/drawingml/2006/main" noGrp="1"/>
          </p:cNvSpPr>
          <p:nvPr/>
        </p:nvSpPr>
        <p:spPr>
          <a:xfrm xmlns:a="http://schemas.openxmlformats.org/drawingml/2006/main">
            <a:off x="6858000" y="43338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Azure OpenAI</a:t>
            </a:r>
          </a:p>
        </p:txBody>
      </p:sp>
      <p:sp>
        <p:nvSpPr>
          <p:cNvPr id="47" name="">
            <a:extLst xmlns:a="http://schemas.openxmlformats.org/drawingml/2006/main">
              <a:ext uri="{FF2B5EF4-FFF2-40B4-BE49-F238E27FC236}">
                <a16:creationId xmlns:a16="http://schemas.microsoft.com/office/drawing/2014/main" id="{9D5B0162-2B91-4A21-A283-291E5EFF6201}"/>
              </a:ext>
            </a:extLst>
          </p:cNvPr>
          <p:cNvSpPr>
            <a:spLocks xmlns:a="http://schemas.openxmlformats.org/drawingml/2006/main" noGrp="1"/>
          </p:cNvSpPr>
          <p:nvPr/>
        </p:nvSpPr>
        <p:spPr>
          <a:xfrm xmlns:a="http://schemas.openxmlformats.org/drawingml/2006/main">
            <a:off x="6858000" y="458152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Approved blocks only</a:t>
            </a:r>
          </a:p>
        </p:txBody>
      </p:sp>
      <p:sp>
        <p:nvSpPr>
          <p:cNvPr id="48" name="">
            <a:extLst xmlns:a="http://schemas.openxmlformats.org/drawingml/2006/main">
              <a:ext uri="{FF2B5EF4-FFF2-40B4-BE49-F238E27FC236}">
                <a16:creationId xmlns:a16="http://schemas.microsoft.com/office/drawing/2014/main" id="{B6911C06-C946-4F27-9B02-ADCCEC3BF0F4}"/>
              </a:ext>
            </a:extLst>
          </p:cNvPr>
          <p:cNvSpPr>
            <a:spLocks xmlns:a="http://schemas.openxmlformats.org/drawingml/2006/main" noGrp="1"/>
          </p:cNvSpPr>
          <p:nvPr/>
        </p:nvSpPr>
        <p:spPr>
          <a:xfrm xmlns:a="http://schemas.openxmlformats.org/drawingml/2006/main">
            <a:off x="9048750" y="2514600"/>
            <a:ext cx="419100" cy="419100"/>
          </a:xfrm>
          <a:prstGeom xmlns:a="http://schemas.openxmlformats.org/drawingml/2006/main" prst="roundRect">
            <a:avLst>
              <a:gd name="adj" fmla="val 31818"/>
            </a:avLst>
          </a:prstGeom>
          <a:solidFill xmlns:a="http://schemas.openxmlformats.org/drawingml/2006/main">
            <a:srgbClr val="FFFFFF"/>
          </a:solidFill>
          <a:ln xmlns:a="http://schemas.openxmlformats.org/drawingml/2006/main" w="0">
            <a:noFill/>
            <a:prstDash val="solid"/>
          </a:ln>
        </p:spPr>
      </p:sp>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7c230ae2af604d2f">
            <a:extLst>
              <a:ext uri="{96DAC541-7B7A-43D3-8B79-37D633B846F1}">
                <asvg:svgBlip xmlns:asvg="http://schemas.microsoft.com/office/drawing/2016/SVG/main" r:embed="R2693e00a614148b6"/>
              </a:ext>
            </a:extLst>
          </a:blip>
          <a:stretch xmlns:a="http://schemas.openxmlformats.org/drawingml/2006/main"/>
        </p:blipFill>
        <p:spPr>
          <a:xfrm xmlns:a="http://schemas.openxmlformats.org/drawingml/2006/main">
            <a:off x="9153525" y="2619375"/>
            <a:ext cx="209550" cy="209550"/>
          </a:xfrm>
          <a:prstGeom xmlns:a="http://schemas.openxmlformats.org/drawingml/2006/main" prst="rect">
            <a:avLst/>
          </a:prstGeom>
        </p:spPr>
      </p:pic>
      <p:sp>
        <p:nvSpPr>
          <p:cNvPr id="50" name="">
            <a:extLst xmlns:a="http://schemas.openxmlformats.org/drawingml/2006/main">
              <a:ext uri="{FF2B5EF4-FFF2-40B4-BE49-F238E27FC236}">
                <a16:creationId xmlns:a16="http://schemas.microsoft.com/office/drawing/2014/main" id="{50766574-6F5F-4EEC-8B64-54D6118F759C}"/>
              </a:ext>
            </a:extLst>
          </p:cNvPr>
          <p:cNvSpPr>
            <a:spLocks xmlns:a="http://schemas.openxmlformats.org/drawingml/2006/main" noGrp="1"/>
          </p:cNvSpPr>
          <p:nvPr/>
        </p:nvSpPr>
        <p:spPr>
          <a:xfrm xmlns:a="http://schemas.openxmlformats.org/drawingml/2006/main">
            <a:off x="9601200" y="25241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Blob + PostgreSQL</a:t>
            </a:r>
          </a:p>
        </p:txBody>
      </p:sp>
      <p:sp>
        <p:nvSpPr>
          <p:cNvPr id="51" name="">
            <a:extLst xmlns:a="http://schemas.openxmlformats.org/drawingml/2006/main">
              <a:ext uri="{FF2B5EF4-FFF2-40B4-BE49-F238E27FC236}">
                <a16:creationId xmlns:a16="http://schemas.microsoft.com/office/drawing/2014/main" id="{75FB0A9B-8CE1-4368-AFAF-3E6D9F12EFCD}"/>
              </a:ext>
            </a:extLst>
          </p:cNvPr>
          <p:cNvSpPr>
            <a:spLocks xmlns:a="http://schemas.openxmlformats.org/drawingml/2006/main" noGrp="1"/>
          </p:cNvSpPr>
          <p:nvPr/>
        </p:nvSpPr>
        <p:spPr>
          <a:xfrm xmlns:a="http://schemas.openxmlformats.org/drawingml/2006/main">
            <a:off x="9601200" y="277177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Tenant isolation + encryption</a:t>
            </a:r>
          </a:p>
        </p:txBody>
      </p:sp>
      <p:sp>
        <p:nvSpPr>
          <p:cNvPr id="52" name="">
            <a:extLst xmlns:a="http://schemas.openxmlformats.org/drawingml/2006/main">
              <a:ext uri="{FF2B5EF4-FFF2-40B4-BE49-F238E27FC236}">
                <a16:creationId xmlns:a16="http://schemas.microsoft.com/office/drawing/2014/main" id="{5779F119-C06D-4C03-A8EC-57ADB9650E79}"/>
              </a:ext>
            </a:extLst>
          </p:cNvPr>
          <p:cNvSpPr>
            <a:spLocks xmlns:a="http://schemas.openxmlformats.org/drawingml/2006/main" noGrp="1"/>
          </p:cNvSpPr>
          <p:nvPr/>
        </p:nvSpPr>
        <p:spPr>
          <a:xfrm xmlns:a="http://schemas.openxmlformats.org/drawingml/2006/main">
            <a:off x="9048750" y="3419475"/>
            <a:ext cx="419100" cy="419100"/>
          </a:xfrm>
          <a:prstGeom xmlns:a="http://schemas.openxmlformats.org/drawingml/2006/main" prst="roundRect">
            <a:avLst>
              <a:gd name="adj" fmla="val 31818"/>
            </a:avLst>
          </a:prstGeom>
          <a:solidFill xmlns:a="http://schemas.openxmlformats.org/drawingml/2006/main">
            <a:srgbClr val="FFFFFF"/>
          </a:solidFill>
          <a:ln xmlns:a="http://schemas.openxmlformats.org/drawingml/2006/main" w="0">
            <a:noFill/>
            <a:prstDash val="solid"/>
          </a:ln>
        </p:spPr>
      </p:sp>
      <p:pic>
        <p:nvPicPr>
          <p:cNvPr id="127" name=""/>
          <p:cNvPicPr>
            <a:picLocks xmlns:a="http://schemas.openxmlformats.org/drawingml/2006/main" noChangeAspect="1"/>
          </p:cNvPicPr>
          <p:nvPr/>
        </p:nvPicPr>
        <p:blipFill>
          <a:blip xmlns:r="http://schemas.openxmlformats.org/officeDocument/2006/relationships" xmlns:a="http://schemas.openxmlformats.org/drawingml/2006/main" r:embed="R82e169db51d54f98">
            <a:extLst>
              <a:ext uri="{96DAC541-7B7A-43D3-8B79-37D633B846F1}">
                <asvg:svgBlip xmlns:asvg="http://schemas.microsoft.com/office/drawing/2016/SVG/main" r:embed="R3936c296f10f4186"/>
              </a:ext>
            </a:extLst>
          </a:blip>
          <a:stretch xmlns:a="http://schemas.openxmlformats.org/drawingml/2006/main"/>
        </p:blipFill>
        <p:spPr>
          <a:xfrm xmlns:a="http://schemas.openxmlformats.org/drawingml/2006/main">
            <a:off x="9153525" y="3524250"/>
            <a:ext cx="209550" cy="209550"/>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0990B166-321C-4855-9059-20343E12722A}"/>
              </a:ext>
            </a:extLst>
          </p:cNvPr>
          <p:cNvSpPr>
            <a:spLocks xmlns:a="http://schemas.openxmlformats.org/drawingml/2006/main" noGrp="1"/>
          </p:cNvSpPr>
          <p:nvPr/>
        </p:nvSpPr>
        <p:spPr>
          <a:xfrm xmlns:a="http://schemas.openxmlformats.org/drawingml/2006/main">
            <a:off x="9601200" y="34290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Key Vault</a:t>
            </a:r>
          </a:p>
        </p:txBody>
      </p:sp>
      <p:sp>
        <p:nvSpPr>
          <p:cNvPr id="55" name="">
            <a:extLst xmlns:a="http://schemas.openxmlformats.org/drawingml/2006/main">
              <a:ext uri="{FF2B5EF4-FFF2-40B4-BE49-F238E27FC236}">
                <a16:creationId xmlns:a16="http://schemas.microsoft.com/office/drawing/2014/main" id="{CCE7308E-1D28-44D4-B391-2A5F80925B5D}"/>
              </a:ext>
            </a:extLst>
          </p:cNvPr>
          <p:cNvSpPr>
            <a:spLocks xmlns:a="http://schemas.openxmlformats.org/drawingml/2006/main" noGrp="1"/>
          </p:cNvSpPr>
          <p:nvPr/>
        </p:nvSpPr>
        <p:spPr>
          <a:xfrm xmlns:a="http://schemas.openxmlformats.org/drawingml/2006/main">
            <a:off x="9601200" y="36766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Keys, secrets, token maps</a:t>
            </a:r>
          </a:p>
        </p:txBody>
      </p:sp>
      <p:sp>
        <p:nvSpPr>
          <p:cNvPr id="56" name="">
            <a:extLst xmlns:a="http://schemas.openxmlformats.org/drawingml/2006/main">
              <a:ext uri="{FF2B5EF4-FFF2-40B4-BE49-F238E27FC236}">
                <a16:creationId xmlns:a16="http://schemas.microsoft.com/office/drawing/2014/main" id="{25D4A8DA-3467-4BA1-B304-0935C09F07A1}"/>
              </a:ext>
            </a:extLst>
          </p:cNvPr>
          <p:cNvSpPr>
            <a:spLocks xmlns:a="http://schemas.openxmlformats.org/drawingml/2006/main" noGrp="1"/>
          </p:cNvSpPr>
          <p:nvPr/>
        </p:nvSpPr>
        <p:spPr>
          <a:xfrm xmlns:a="http://schemas.openxmlformats.org/drawingml/2006/main">
            <a:off x="9048750" y="4324350"/>
            <a:ext cx="419100" cy="419100"/>
          </a:xfrm>
          <a:prstGeom xmlns:a="http://schemas.openxmlformats.org/drawingml/2006/main" prst="roundRect">
            <a:avLst>
              <a:gd name="adj" fmla="val 31818"/>
            </a:avLst>
          </a:prstGeom>
          <a:solidFill xmlns:a="http://schemas.openxmlformats.org/drawingml/2006/main">
            <a:srgbClr val="FFFFFF"/>
          </a:solidFill>
          <a:ln xmlns:a="http://schemas.openxmlformats.org/drawingml/2006/main" w="0">
            <a:noFill/>
            <a:prstDash val="solid"/>
          </a:ln>
        </p:spPr>
      </p:sp>
      <p:pic>
        <p:nvPicPr>
          <p:cNvPr id="131" name=""/>
          <p:cNvPicPr>
            <a:picLocks xmlns:a="http://schemas.openxmlformats.org/drawingml/2006/main" noChangeAspect="1"/>
          </p:cNvPicPr>
          <p:nvPr/>
        </p:nvPicPr>
        <p:blipFill>
          <a:blip xmlns:r="http://schemas.openxmlformats.org/officeDocument/2006/relationships" xmlns:a="http://schemas.openxmlformats.org/drawingml/2006/main" r:embed="Rfb39e7bcd376439c">
            <a:extLst>
              <a:ext uri="{96DAC541-7B7A-43D3-8B79-37D633B846F1}">
                <asvg:svgBlip xmlns:asvg="http://schemas.microsoft.com/office/drawing/2016/SVG/main" r:embed="R4b41bbd264c04805"/>
              </a:ext>
            </a:extLst>
          </a:blip>
          <a:stretch xmlns:a="http://schemas.openxmlformats.org/drawingml/2006/main"/>
        </p:blipFill>
        <p:spPr>
          <a:xfrm xmlns:a="http://schemas.openxmlformats.org/drawingml/2006/main">
            <a:off x="9153525" y="4429125"/>
            <a:ext cx="209550" cy="209550"/>
          </a:xfrm>
          <a:prstGeom xmlns:a="http://schemas.openxmlformats.org/drawingml/2006/main" prst="rect">
            <a:avLst/>
          </a:prstGeom>
        </p:spPr>
      </p:pic>
      <p:sp>
        <p:nvSpPr>
          <p:cNvPr id="58" name="">
            <a:extLst xmlns:a="http://schemas.openxmlformats.org/drawingml/2006/main">
              <a:ext uri="{FF2B5EF4-FFF2-40B4-BE49-F238E27FC236}">
                <a16:creationId xmlns:a16="http://schemas.microsoft.com/office/drawing/2014/main" id="{28431F9E-52F7-48CA-BDC5-3B3955B15E62}"/>
              </a:ext>
            </a:extLst>
          </p:cNvPr>
          <p:cNvSpPr>
            <a:spLocks xmlns:a="http://schemas.openxmlformats.org/drawingml/2006/main" noGrp="1"/>
          </p:cNvSpPr>
          <p:nvPr/>
        </p:nvSpPr>
        <p:spPr>
          <a:xfrm xmlns:a="http://schemas.openxmlformats.org/drawingml/2006/main">
            <a:off x="9601200" y="43338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13233A"/>
                </a:solidFill>
              </a:defRPr>
            </a:pPr>
            <a:r>
              <a:rPr sz="1200" b="1">
                <a:solidFill>
                  <a:srgbClr val="13233A"/>
                </a:solidFill>
              </a:rPr>
              <a:t>Monitor + Sentinel</a:t>
            </a:r>
          </a:p>
        </p:txBody>
      </p:sp>
      <p:sp>
        <p:nvSpPr>
          <p:cNvPr id="59" name="">
            <a:extLst xmlns:a="http://schemas.openxmlformats.org/drawingml/2006/main">
              <a:ext uri="{FF2B5EF4-FFF2-40B4-BE49-F238E27FC236}">
                <a16:creationId xmlns:a16="http://schemas.microsoft.com/office/drawing/2014/main" id="{B6AEFB8B-B042-40D5-931B-5BB36A9CAE67}"/>
              </a:ext>
            </a:extLst>
          </p:cNvPr>
          <p:cNvSpPr>
            <a:spLocks xmlns:a="http://schemas.openxmlformats.org/drawingml/2006/main" noGrp="1"/>
          </p:cNvSpPr>
          <p:nvPr/>
        </p:nvSpPr>
        <p:spPr>
          <a:xfrm xmlns:a="http://schemas.openxmlformats.org/drawingml/2006/main">
            <a:off x="9601200" y="458152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F7088"/>
                </a:solidFill>
              </a:defRPr>
            </a:pPr>
            <a:r>
              <a:rPr sz="975" b="0">
                <a:solidFill>
                  <a:srgbClr val="5F7088"/>
                </a:solidFill>
              </a:rPr>
              <a:t>Content-free audit + detection</a:t>
            </a:r>
          </a:p>
        </p:txBody>
      </p:sp>
      <p:sp>
        <p:nvSpPr>
          <p:cNvPr id="60" name="">
            <a:extLst xmlns:a="http://schemas.openxmlformats.org/drawingml/2006/main">
              <a:ext uri="{FF2B5EF4-FFF2-40B4-BE49-F238E27FC236}">
                <a16:creationId xmlns:a16="http://schemas.microsoft.com/office/drawing/2014/main" id="{6C177D1D-D62C-43D8-84AC-B81D1A6C21C6}"/>
              </a:ext>
            </a:extLst>
          </p:cNvPr>
          <p:cNvSpPr>
            <a:spLocks xmlns:a="http://schemas.openxmlformats.org/drawingml/2006/main" noGrp="1"/>
          </p:cNvSpPr>
          <p:nvPr/>
        </p:nvSpPr>
        <p:spPr>
          <a:xfrm xmlns:a="http://schemas.openxmlformats.org/drawingml/2006/main">
            <a:off x="552450" y="5448300"/>
            <a:ext cx="2076450" cy="600075"/>
          </a:xfrm>
          <a:prstGeom xmlns:a="http://schemas.openxmlformats.org/drawingml/2006/main" prst="roundRect">
            <a:avLst>
              <a:gd name="adj" fmla="val 25397"/>
            </a:avLst>
          </a:prstGeom>
          <a:solidFill xmlns:a="http://schemas.openxmlformats.org/drawingml/2006/main">
            <a:srgbClr val="ECFDF9"/>
          </a:solidFill>
          <a:ln xmlns:a="http://schemas.openxmlformats.org/drawingml/2006/main" w="9525">
            <a:solidFill>
              <a:srgbClr val="0F9D8A"/>
            </a:solidFill>
            <a:prstDash val="solid"/>
          </a:ln>
        </p:spPr>
      </p:sp>
      <p:sp>
        <p:nvSpPr>
          <p:cNvPr id="61" name="">
            <a:extLst xmlns:a="http://schemas.openxmlformats.org/drawingml/2006/main">
              <a:ext uri="{FF2B5EF4-FFF2-40B4-BE49-F238E27FC236}">
                <a16:creationId xmlns:a16="http://schemas.microsoft.com/office/drawing/2014/main" id="{BCBDF121-7C3B-4976-BE89-A76F31ED0C52}"/>
              </a:ext>
            </a:extLst>
          </p:cNvPr>
          <p:cNvSpPr>
            <a:spLocks xmlns:a="http://schemas.openxmlformats.org/drawingml/2006/main" noGrp="1"/>
          </p:cNvSpPr>
          <p:nvPr/>
        </p:nvSpPr>
        <p:spPr>
          <a:xfrm xmlns:a="http://schemas.openxmlformats.org/drawingml/2006/main">
            <a:off x="657225" y="5572125"/>
            <a:ext cx="186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0F9D8A"/>
                </a:solidFill>
              </a:defRPr>
            </a:pPr>
            <a:r>
              <a:rPr sz="750" b="1">
                <a:solidFill>
                  <a:srgbClr val="0F9D8A"/>
                </a:solidFill>
              </a:rPr>
              <a:t>GENAI_PSEUDONYMIZED</a:t>
            </a:r>
          </a:p>
        </p:txBody>
      </p:sp>
      <p:sp>
        <p:nvSpPr>
          <p:cNvPr id="62" name="">
            <a:extLst xmlns:a="http://schemas.openxmlformats.org/drawingml/2006/main">
              <a:ext uri="{FF2B5EF4-FFF2-40B4-BE49-F238E27FC236}">
                <a16:creationId xmlns:a16="http://schemas.microsoft.com/office/drawing/2014/main" id="{E2D26F27-C838-4CCE-B009-27E1B24721F6}"/>
              </a:ext>
            </a:extLst>
          </p:cNvPr>
          <p:cNvSpPr>
            <a:spLocks xmlns:a="http://schemas.openxmlformats.org/drawingml/2006/main" noGrp="1"/>
          </p:cNvSpPr>
          <p:nvPr/>
        </p:nvSpPr>
        <p:spPr>
          <a:xfrm xmlns:a="http://schemas.openxmlformats.org/drawingml/2006/main">
            <a:off x="657225" y="5791200"/>
            <a:ext cx="186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13233A"/>
                </a:solidFill>
              </a:defRPr>
            </a:pPr>
            <a:r>
              <a:rPr sz="975" b="0">
                <a:solidFill>
                  <a:srgbClr val="13233A"/>
                </a:solidFill>
              </a:rPr>
              <a:t>Normal AI route</a:t>
            </a:r>
          </a:p>
        </p:txBody>
      </p:sp>
      <p:sp>
        <p:nvSpPr>
          <p:cNvPr id="63" name="">
            <a:extLst xmlns:a="http://schemas.openxmlformats.org/drawingml/2006/main">
              <a:ext uri="{FF2B5EF4-FFF2-40B4-BE49-F238E27FC236}">
                <a16:creationId xmlns:a16="http://schemas.microsoft.com/office/drawing/2014/main" id="{52FD5133-34D6-47B6-8EB2-C4CD5F804F33}"/>
              </a:ext>
            </a:extLst>
          </p:cNvPr>
          <p:cNvSpPr>
            <a:spLocks xmlns:a="http://schemas.openxmlformats.org/drawingml/2006/main" noGrp="1"/>
          </p:cNvSpPr>
          <p:nvPr/>
        </p:nvSpPr>
        <p:spPr>
          <a:xfrm xmlns:a="http://schemas.openxmlformats.org/drawingml/2006/main">
            <a:off x="2771775" y="5448300"/>
            <a:ext cx="2076450" cy="600075"/>
          </a:xfrm>
          <a:prstGeom xmlns:a="http://schemas.openxmlformats.org/drawingml/2006/main" prst="roundRect">
            <a:avLst>
              <a:gd name="adj" fmla="val 25397"/>
            </a:avLst>
          </a:prstGeom>
          <a:solidFill xmlns:a="http://schemas.openxmlformats.org/drawingml/2006/main">
            <a:srgbClr val="EFF6FF"/>
          </a:solidFill>
          <a:ln xmlns:a="http://schemas.openxmlformats.org/drawingml/2006/main" w="9525">
            <a:solidFill>
              <a:srgbClr val="2563EB"/>
            </a:solidFill>
            <a:prstDash val="solid"/>
          </a:ln>
        </p:spPr>
      </p:sp>
      <p:sp>
        <p:nvSpPr>
          <p:cNvPr id="64" name="">
            <a:extLst xmlns:a="http://schemas.openxmlformats.org/drawingml/2006/main">
              <a:ext uri="{FF2B5EF4-FFF2-40B4-BE49-F238E27FC236}">
                <a16:creationId xmlns:a16="http://schemas.microsoft.com/office/drawing/2014/main" id="{2C1CA184-F390-44E0-84EC-1ABB1316DF90}"/>
              </a:ext>
            </a:extLst>
          </p:cNvPr>
          <p:cNvSpPr>
            <a:spLocks xmlns:a="http://schemas.openxmlformats.org/drawingml/2006/main" noGrp="1"/>
          </p:cNvSpPr>
          <p:nvPr/>
        </p:nvSpPr>
        <p:spPr>
          <a:xfrm xmlns:a="http://schemas.openxmlformats.org/drawingml/2006/main">
            <a:off x="2876550" y="5572125"/>
            <a:ext cx="186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2563EB"/>
                </a:solidFill>
              </a:defRPr>
            </a:pPr>
            <a:r>
              <a:rPr sz="750" b="1">
                <a:solidFill>
                  <a:srgbClr val="2563EB"/>
                </a:solidFill>
              </a:rPr>
              <a:t>MANAGED_NO_LLM</a:t>
            </a:r>
          </a:p>
        </p:txBody>
      </p:sp>
      <p:sp>
        <p:nvSpPr>
          <p:cNvPr id="65" name="">
            <a:extLst xmlns:a="http://schemas.openxmlformats.org/drawingml/2006/main">
              <a:ext uri="{FF2B5EF4-FFF2-40B4-BE49-F238E27FC236}">
                <a16:creationId xmlns:a16="http://schemas.microsoft.com/office/drawing/2014/main" id="{C81FF68D-8AE6-402A-9375-52F6667DD80D}"/>
              </a:ext>
            </a:extLst>
          </p:cNvPr>
          <p:cNvSpPr>
            <a:spLocks xmlns:a="http://schemas.openxmlformats.org/drawingml/2006/main" noGrp="1"/>
          </p:cNvSpPr>
          <p:nvPr/>
        </p:nvSpPr>
        <p:spPr>
          <a:xfrm xmlns:a="http://schemas.openxmlformats.org/drawingml/2006/main">
            <a:off x="2876550" y="5791200"/>
            <a:ext cx="186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13233A"/>
                </a:solidFill>
              </a:defRPr>
            </a:pPr>
            <a:r>
              <a:rPr sz="975" b="0">
                <a:solidFill>
                  <a:srgbClr val="13233A"/>
                </a:solidFill>
              </a:rPr>
              <a:t>Azure, no GenAI</a:t>
            </a:r>
          </a:p>
        </p:txBody>
      </p:sp>
      <p:sp>
        <p:nvSpPr>
          <p:cNvPr id="66" name="">
            <a:extLst xmlns:a="http://schemas.openxmlformats.org/drawingml/2006/main">
              <a:ext uri="{FF2B5EF4-FFF2-40B4-BE49-F238E27FC236}">
                <a16:creationId xmlns:a16="http://schemas.microsoft.com/office/drawing/2014/main" id="{0CD81DB1-11C8-434F-9C37-81CCFEE63AF7}"/>
              </a:ext>
            </a:extLst>
          </p:cNvPr>
          <p:cNvSpPr>
            <a:spLocks xmlns:a="http://schemas.openxmlformats.org/drawingml/2006/main" noGrp="1"/>
          </p:cNvSpPr>
          <p:nvPr/>
        </p:nvSpPr>
        <p:spPr>
          <a:xfrm xmlns:a="http://schemas.openxmlformats.org/drawingml/2006/main">
            <a:off x="4991100" y="5448300"/>
            <a:ext cx="2076450" cy="600075"/>
          </a:xfrm>
          <a:prstGeom xmlns:a="http://schemas.openxmlformats.org/drawingml/2006/main" prst="roundRect">
            <a:avLst>
              <a:gd name="adj" fmla="val 25397"/>
            </a:avLst>
          </a:prstGeom>
          <a:solidFill xmlns:a="http://schemas.openxmlformats.org/drawingml/2006/main">
            <a:srgbClr val="F2F2F8"/>
          </a:solidFill>
          <a:ln xmlns:a="http://schemas.openxmlformats.org/drawingml/2006/main" w="9525">
            <a:solidFill>
              <a:srgbClr val="5B6170"/>
            </a:solidFill>
            <a:prstDash val="solid"/>
          </a:ln>
        </p:spPr>
      </p:sp>
      <p:sp>
        <p:nvSpPr>
          <p:cNvPr id="67" name="">
            <a:extLst xmlns:a="http://schemas.openxmlformats.org/drawingml/2006/main">
              <a:ext uri="{FF2B5EF4-FFF2-40B4-BE49-F238E27FC236}">
                <a16:creationId xmlns:a16="http://schemas.microsoft.com/office/drawing/2014/main" id="{7358B6A7-5B5F-40D8-BD62-61EDBD0A857E}"/>
              </a:ext>
            </a:extLst>
          </p:cNvPr>
          <p:cNvSpPr>
            <a:spLocks xmlns:a="http://schemas.openxmlformats.org/drawingml/2006/main" noGrp="1"/>
          </p:cNvSpPr>
          <p:nvPr/>
        </p:nvSpPr>
        <p:spPr>
          <a:xfrm xmlns:a="http://schemas.openxmlformats.org/drawingml/2006/main">
            <a:off x="5095875" y="5572125"/>
            <a:ext cx="186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5B6170"/>
                </a:solidFill>
              </a:defRPr>
            </a:pPr>
            <a:r>
              <a:rPr sz="750" b="1">
                <a:solidFill>
                  <a:srgbClr val="5B6170"/>
                </a:solidFill>
              </a:rPr>
              <a:t>RESTRICTED_LOCAL</a:t>
            </a:r>
          </a:p>
        </p:txBody>
      </p:sp>
      <p:sp>
        <p:nvSpPr>
          <p:cNvPr id="68" name="">
            <a:extLst xmlns:a="http://schemas.openxmlformats.org/drawingml/2006/main">
              <a:ext uri="{FF2B5EF4-FFF2-40B4-BE49-F238E27FC236}">
                <a16:creationId xmlns:a16="http://schemas.microsoft.com/office/drawing/2014/main" id="{F81DCFFC-FBE6-4DE4-B40D-DA02314DCE31}"/>
              </a:ext>
            </a:extLst>
          </p:cNvPr>
          <p:cNvSpPr>
            <a:spLocks xmlns:a="http://schemas.openxmlformats.org/drawingml/2006/main" noGrp="1"/>
          </p:cNvSpPr>
          <p:nvPr/>
        </p:nvSpPr>
        <p:spPr>
          <a:xfrm xmlns:a="http://schemas.openxmlformats.org/drawingml/2006/main">
            <a:off x="5095875" y="5791200"/>
            <a:ext cx="186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13233A"/>
                </a:solidFill>
              </a:defRPr>
            </a:pPr>
            <a:r>
              <a:rPr sz="975" b="0">
                <a:solidFill>
                  <a:srgbClr val="13233A"/>
                </a:solidFill>
              </a:rPr>
              <a:t>Controlled boundary</a:t>
            </a:r>
          </a:p>
        </p:txBody>
      </p:sp>
      <p:sp>
        <p:nvSpPr>
          <p:cNvPr id="69" name="">
            <a:extLst xmlns:a="http://schemas.openxmlformats.org/drawingml/2006/main">
              <a:ext uri="{FF2B5EF4-FFF2-40B4-BE49-F238E27FC236}">
                <a16:creationId xmlns:a16="http://schemas.microsoft.com/office/drawing/2014/main" id="{98831886-ADB9-44D1-9651-56FDB011E24C}"/>
              </a:ext>
            </a:extLst>
          </p:cNvPr>
          <p:cNvSpPr>
            <a:spLocks xmlns:a="http://schemas.openxmlformats.org/drawingml/2006/main" noGrp="1"/>
          </p:cNvSpPr>
          <p:nvPr/>
        </p:nvSpPr>
        <p:spPr>
          <a:xfrm xmlns:a="http://schemas.openxmlformats.org/drawingml/2006/main">
            <a:off x="7210425" y="5448300"/>
            <a:ext cx="2076450" cy="600075"/>
          </a:xfrm>
          <a:prstGeom xmlns:a="http://schemas.openxmlformats.org/drawingml/2006/main" prst="roundRect">
            <a:avLst>
              <a:gd name="adj" fmla="val 25397"/>
            </a:avLst>
          </a:prstGeom>
          <a:solidFill xmlns:a="http://schemas.openxmlformats.org/drawingml/2006/main">
            <a:srgbClr val="FFF7E6"/>
          </a:solidFill>
          <a:ln xmlns:a="http://schemas.openxmlformats.org/drawingml/2006/main" w="9525">
            <a:solidFill>
              <a:srgbClr val="F59E0B"/>
            </a:solidFill>
            <a:prstDash val="solid"/>
          </a:ln>
        </p:spPr>
      </p:sp>
      <p:sp>
        <p:nvSpPr>
          <p:cNvPr id="70" name="">
            <a:extLst xmlns:a="http://schemas.openxmlformats.org/drawingml/2006/main">
              <a:ext uri="{FF2B5EF4-FFF2-40B4-BE49-F238E27FC236}">
                <a16:creationId xmlns:a16="http://schemas.microsoft.com/office/drawing/2014/main" id="{ABEE9A77-35A0-45D3-9137-30A38F6BE803}"/>
              </a:ext>
            </a:extLst>
          </p:cNvPr>
          <p:cNvSpPr>
            <a:spLocks xmlns:a="http://schemas.openxmlformats.org/drawingml/2006/main" noGrp="1"/>
          </p:cNvSpPr>
          <p:nvPr/>
        </p:nvSpPr>
        <p:spPr>
          <a:xfrm xmlns:a="http://schemas.openxmlformats.org/drawingml/2006/main">
            <a:off x="7315200" y="5572125"/>
            <a:ext cx="186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F59E0B"/>
                </a:solidFill>
              </a:defRPr>
            </a:pPr>
            <a:r>
              <a:rPr sz="750" b="1">
                <a:solidFill>
                  <a:srgbClr val="F59E0B"/>
                </a:solidFill>
              </a:rPr>
              <a:t>GENAI_RAW_EXCEPTION</a:t>
            </a:r>
          </a:p>
        </p:txBody>
      </p:sp>
      <p:sp>
        <p:nvSpPr>
          <p:cNvPr id="71" name="">
            <a:extLst xmlns:a="http://schemas.openxmlformats.org/drawingml/2006/main">
              <a:ext uri="{FF2B5EF4-FFF2-40B4-BE49-F238E27FC236}">
                <a16:creationId xmlns:a16="http://schemas.microsoft.com/office/drawing/2014/main" id="{85663ACA-EEEF-48EF-9F4C-C15A35A09446}"/>
              </a:ext>
            </a:extLst>
          </p:cNvPr>
          <p:cNvSpPr>
            <a:spLocks xmlns:a="http://schemas.openxmlformats.org/drawingml/2006/main" noGrp="1"/>
          </p:cNvSpPr>
          <p:nvPr/>
        </p:nvSpPr>
        <p:spPr>
          <a:xfrm xmlns:a="http://schemas.openxmlformats.org/drawingml/2006/main">
            <a:off x="7315200" y="5791200"/>
            <a:ext cx="186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13233A"/>
                </a:solidFill>
              </a:defRPr>
            </a:pPr>
            <a:r>
              <a:rPr sz="975" b="0">
                <a:solidFill>
                  <a:srgbClr val="13233A"/>
                </a:solidFill>
              </a:rPr>
              <a:t>Signed exception</a:t>
            </a:r>
          </a:p>
        </p:txBody>
      </p:sp>
      <p:sp>
        <p:nvSpPr>
          <p:cNvPr id="72" name="">
            <a:extLst xmlns:a="http://schemas.openxmlformats.org/drawingml/2006/main">
              <a:ext uri="{FF2B5EF4-FFF2-40B4-BE49-F238E27FC236}">
                <a16:creationId xmlns:a16="http://schemas.microsoft.com/office/drawing/2014/main" id="{5D19F4E0-7D01-4AA8-ABAE-BF6150E449D2}"/>
              </a:ext>
            </a:extLst>
          </p:cNvPr>
          <p:cNvSpPr>
            <a:spLocks xmlns:a="http://schemas.openxmlformats.org/drawingml/2006/main" noGrp="1"/>
          </p:cNvSpPr>
          <p:nvPr/>
        </p:nvSpPr>
        <p:spPr>
          <a:xfrm xmlns:a="http://schemas.openxmlformats.org/drawingml/2006/main">
            <a:off x="9429750" y="5448300"/>
            <a:ext cx="2076450" cy="600075"/>
          </a:xfrm>
          <a:prstGeom xmlns:a="http://schemas.openxmlformats.org/drawingml/2006/main" prst="roundRect">
            <a:avLst>
              <a:gd name="adj" fmla="val 25397"/>
            </a:avLst>
          </a:prstGeom>
          <a:solidFill xmlns:a="http://schemas.openxmlformats.org/drawingml/2006/main">
            <a:srgbClr val="FFF1F1"/>
          </a:solidFill>
          <a:ln xmlns:a="http://schemas.openxmlformats.org/drawingml/2006/main" w="9525">
            <a:solidFill>
              <a:srgbClr val="D94B4B"/>
            </a:solidFill>
            <a:prstDash val="solid"/>
          </a:ln>
        </p:spPr>
      </p:sp>
      <p:sp>
        <p:nvSpPr>
          <p:cNvPr id="73" name="">
            <a:extLst xmlns:a="http://schemas.openxmlformats.org/drawingml/2006/main">
              <a:ext uri="{FF2B5EF4-FFF2-40B4-BE49-F238E27FC236}">
                <a16:creationId xmlns:a16="http://schemas.microsoft.com/office/drawing/2014/main" id="{4FB04924-FD67-4014-BAEE-83EF3B5C7896}"/>
              </a:ext>
            </a:extLst>
          </p:cNvPr>
          <p:cNvSpPr>
            <a:spLocks xmlns:a="http://schemas.openxmlformats.org/drawingml/2006/main" noGrp="1"/>
          </p:cNvSpPr>
          <p:nvPr/>
        </p:nvSpPr>
        <p:spPr>
          <a:xfrm xmlns:a="http://schemas.openxmlformats.org/drawingml/2006/main">
            <a:off x="9534525" y="5572125"/>
            <a:ext cx="186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D94B4B"/>
                </a:solidFill>
              </a:defRPr>
            </a:pPr>
            <a:r>
              <a:rPr sz="750" b="1">
                <a:solidFill>
                  <a:srgbClr val="D94B4B"/>
                </a:solidFill>
              </a:rPr>
              <a:t>HUMAN_ONLY</a:t>
            </a:r>
          </a:p>
        </p:txBody>
      </p:sp>
      <p:sp>
        <p:nvSpPr>
          <p:cNvPr id="74" name="">
            <a:extLst xmlns:a="http://schemas.openxmlformats.org/drawingml/2006/main">
              <a:ext uri="{FF2B5EF4-FFF2-40B4-BE49-F238E27FC236}">
                <a16:creationId xmlns:a16="http://schemas.microsoft.com/office/drawing/2014/main" id="{E3F20100-2222-4214-BD92-E176CD9DE08E}"/>
              </a:ext>
            </a:extLst>
          </p:cNvPr>
          <p:cNvSpPr>
            <a:spLocks xmlns:a="http://schemas.openxmlformats.org/drawingml/2006/main" noGrp="1"/>
          </p:cNvSpPr>
          <p:nvPr/>
        </p:nvSpPr>
        <p:spPr>
          <a:xfrm xmlns:a="http://schemas.openxmlformats.org/drawingml/2006/main">
            <a:off x="9534525" y="5791200"/>
            <a:ext cx="186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13233A"/>
                </a:solidFill>
              </a:defRPr>
            </a:pPr>
            <a:r>
              <a:rPr sz="975" b="0">
                <a:solidFill>
                  <a:srgbClr val="13233A"/>
                </a:solidFill>
              </a:rPr>
              <a:t>Manual review</a:t>
            </a:r>
          </a:p>
        </p:txBody>
      </p:sp>
    </p:spTree>
    <p:extLst>
      <p:ext uri="{BB962C8B-B14F-4D97-AF65-F5344CB8AC3E}">
        <p14:creationId xmlns:p14="http://schemas.microsoft.com/office/powerpoint/2010/main" val="1730821208"/>
      </p:ext>
    </p:extLst>
  </p:cSld>
</p:sld>
</file>

<file path=ppt/slides/slide7.xml><?xml version="1.0" encoding="utf-8"?>
<p:sld xmlns:p="http://schemas.openxmlformats.org/presentationml/2006/main">
  <p:cSld>
    <p:bg>
      <p:bgPr>
        <a:solidFill xmlns:a="http://schemas.openxmlformats.org/drawingml/2006/main">
          <a:srgbClr val="071A33"/>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3E662B58-BF32-4837-A845-FAA95A1835F5}"/>
              </a:ext>
            </a:extLst>
          </p:cNvPr>
          <p:cNvSpPr>
            <a:spLocks xmlns:a="http://schemas.openxmlformats.org/drawingml/2006/main" noGrp="1"/>
          </p:cNvSpPr>
          <p:nvPr/>
        </p:nvSpPr>
        <p:spPr>
          <a:xfrm xmlns:a="http://schemas.openxmlformats.org/drawingml/2006/main">
            <a:off x="552450" y="4191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7A8FF"/>
                </a:solidFill>
              </a:defRPr>
            </a:pPr>
            <a:r>
              <a:rPr sz="900" b="1">
                <a:solidFill>
                  <a:srgbClr val="77A8FF"/>
                </a:solidFill>
              </a:rPr>
              <a:t>DECISION AND ROADMAP</a:t>
            </a:r>
          </a:p>
        </p:txBody>
      </p:sp>
      <p:sp>
        <p:nvSpPr>
          <p:cNvPr id="2" name="">
            <a:extLst xmlns:a="http://schemas.openxmlformats.org/drawingml/2006/main">
              <a:ext uri="{FF2B5EF4-FFF2-40B4-BE49-F238E27FC236}">
                <a16:creationId xmlns:a16="http://schemas.microsoft.com/office/drawing/2014/main" id="{0ABA7E96-F732-41BD-8E04-ED0F3E046E4B}"/>
              </a:ext>
            </a:extLst>
          </p:cNvPr>
          <p:cNvSpPr>
            <a:spLocks xmlns:a="http://schemas.openxmlformats.org/drawingml/2006/main" noGrp="1"/>
          </p:cNvSpPr>
          <p:nvPr/>
        </p:nvSpPr>
        <p:spPr>
          <a:xfrm xmlns:a="http://schemas.openxmlformats.org/drawingml/2006/main">
            <a:off x="552450" y="723900"/>
            <a:ext cx="11087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Production is a sequence of evidence gates—not a single launch</a:t>
            </a:r>
          </a:p>
        </p:txBody>
      </p:sp>
      <p:sp>
        <p:nvSpPr>
          <p:cNvPr id="3" name="">
            <a:extLst xmlns:a="http://schemas.openxmlformats.org/drawingml/2006/main">
              <a:ext uri="{FF2B5EF4-FFF2-40B4-BE49-F238E27FC236}">
                <a16:creationId xmlns:a16="http://schemas.microsoft.com/office/drawing/2014/main" id="{651F3F5F-9E8D-40B7-9A55-FAD4D02F5E3F}"/>
              </a:ext>
            </a:extLst>
          </p:cNvPr>
          <p:cNvSpPr>
            <a:spLocks xmlns:a="http://schemas.openxmlformats.org/drawingml/2006/main" noGrp="1"/>
          </p:cNvSpPr>
          <p:nvPr/>
        </p:nvSpPr>
        <p:spPr>
          <a:xfrm xmlns:a="http://schemas.openxmlformats.org/drawingml/2006/main">
            <a:off x="552450" y="1333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B9C8DC"/>
                </a:solidFill>
              </a:defRPr>
            </a:pPr>
            <a:r>
              <a:rPr sz="1275" b="0">
                <a:solidFill>
                  <a:srgbClr val="B9C8DC"/>
                </a:solidFill>
              </a:rPr>
              <a:t>Move from contained POC to approved real-data processing only when each gate is proven.</a:t>
            </a:r>
          </a:p>
        </p:txBody>
      </p:sp>
      <p:sp>
        <p:nvSpPr>
          <p:cNvPr id="4" name="">
            <a:extLst xmlns:a="http://schemas.openxmlformats.org/drawingml/2006/main">
              <a:ext uri="{FF2B5EF4-FFF2-40B4-BE49-F238E27FC236}">
                <a16:creationId xmlns:a16="http://schemas.microsoft.com/office/drawing/2014/main" id="{B8C74967-7EFB-4FDB-952D-9AAB48F6CB1A}"/>
              </a:ext>
            </a:extLst>
          </p:cNvPr>
          <p:cNvSpPr>
            <a:spLocks xmlns:a="http://schemas.openxmlformats.org/drawingml/2006/main" noGrp="1"/>
          </p:cNvSpPr>
          <p:nvPr/>
        </p:nvSpPr>
        <p:spPr>
          <a:xfrm xmlns:a="http://schemas.openxmlformats.org/drawingml/2006/main">
            <a:off x="552450" y="6438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A9B9CD"/>
                </a:solidFill>
              </a:defRPr>
            </a:pPr>
            <a:r>
              <a:rPr sz="750" b="1">
                <a:solidFill>
                  <a:srgbClr val="A9B9CD"/>
                </a:solidFill>
              </a:rPr>
              <a:t>CARETRANSLATE STUDIO</a:t>
            </a:r>
          </a:p>
        </p:txBody>
      </p:sp>
      <p:sp>
        <p:nvSpPr>
          <p:cNvPr id="5" name="">
            <a:extLst xmlns:a="http://schemas.openxmlformats.org/drawingml/2006/main">
              <a:ext uri="{FF2B5EF4-FFF2-40B4-BE49-F238E27FC236}">
                <a16:creationId xmlns:a16="http://schemas.microsoft.com/office/drawing/2014/main" id="{7485CEAD-3F51-44E7-849F-5157AC2304A1}"/>
              </a:ext>
            </a:extLst>
          </p:cNvPr>
          <p:cNvSpPr>
            <a:spLocks xmlns:a="http://schemas.openxmlformats.org/drawingml/2006/main" noGrp="1"/>
          </p:cNvSpPr>
          <p:nvPr/>
        </p:nvSpPr>
        <p:spPr>
          <a:xfrm xmlns:a="http://schemas.openxmlformats.org/drawingml/2006/main">
            <a:off x="10477500" y="64389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A9B9CD"/>
                </a:solidFill>
              </a:defRPr>
            </a:pPr>
            <a:r>
              <a:rPr sz="750" b="1">
                <a:solidFill>
                  <a:srgbClr val="A9B9CD"/>
                </a:solidFill>
              </a:rPr>
              <a:t>07 / 07</a:t>
            </a:r>
          </a:p>
        </p:txBody>
      </p:sp>
      <p:sp>
        <p:nvSpPr>
          <p:cNvPr id="6" name="">
            <a:extLst xmlns:a="http://schemas.openxmlformats.org/drawingml/2006/main">
              <a:ext uri="{FF2B5EF4-FFF2-40B4-BE49-F238E27FC236}">
                <a16:creationId xmlns:a16="http://schemas.microsoft.com/office/drawing/2014/main" id="{18C2DA95-C928-4D02-976D-28BED1C5CD91}"/>
              </a:ext>
            </a:extLst>
          </p:cNvPr>
          <p:cNvSpPr>
            <a:spLocks xmlns:a="http://schemas.openxmlformats.org/drawingml/2006/main" noGrp="1"/>
          </p:cNvSpPr>
          <p:nvPr/>
        </p:nvSpPr>
        <p:spPr>
          <a:xfrm xmlns:a="http://schemas.openxmlformats.org/drawingml/2006/main">
            <a:off x="666750" y="3019425"/>
            <a:ext cx="6858000" cy="0"/>
          </a:xfrm>
          <a:prstGeom xmlns:a="http://schemas.openxmlformats.org/drawingml/2006/main" prst="line">
            <a:avLst/>
          </a:prstGeom>
          <a:noFill xmlns:a="http://schemas.openxmlformats.org/drawingml/2006/main"/>
          <a:ln xmlns:a="http://schemas.openxmlformats.org/drawingml/2006/main" w="57150">
            <a:solidFill>
              <a:srgbClr val="365677"/>
            </a:solidFill>
            <a:prstDash val="solid"/>
          </a:ln>
        </p:spPr>
      </p:sp>
      <p:sp>
        <p:nvSpPr>
          <p:cNvPr id="7" name="">
            <a:extLst xmlns:a="http://schemas.openxmlformats.org/drawingml/2006/main">
              <a:ext uri="{FF2B5EF4-FFF2-40B4-BE49-F238E27FC236}">
                <a16:creationId xmlns:a16="http://schemas.microsoft.com/office/drawing/2014/main" id="{30F6F66C-65A6-4EF4-8553-CD236D0A1EFA}"/>
              </a:ext>
            </a:extLst>
          </p:cNvPr>
          <p:cNvSpPr>
            <a:spLocks xmlns:a="http://schemas.openxmlformats.org/drawingml/2006/main" noGrp="1"/>
          </p:cNvSpPr>
          <p:nvPr/>
        </p:nvSpPr>
        <p:spPr>
          <a:xfrm xmlns:a="http://schemas.openxmlformats.org/drawingml/2006/main">
            <a:off x="552450" y="2628900"/>
            <a:ext cx="552450" cy="552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E847A01-AC9F-4480-ADA2-5E11EF6C45CF}"/>
              </a:ext>
            </a:extLst>
          </p:cNvPr>
          <p:cNvSpPr>
            <a:spLocks xmlns:a="http://schemas.openxmlformats.org/drawingml/2006/main" noGrp="1"/>
          </p:cNvSpPr>
          <p:nvPr/>
        </p:nvSpPr>
        <p:spPr>
          <a:xfrm xmlns:a="http://schemas.openxmlformats.org/drawingml/2006/main">
            <a:off x="552450" y="277177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0</a:t>
            </a:r>
          </a:p>
        </p:txBody>
      </p:sp>
      <p:sp>
        <p:nvSpPr>
          <p:cNvPr id="9" name="">
            <a:extLst xmlns:a="http://schemas.openxmlformats.org/drawingml/2006/main">
              <a:ext uri="{FF2B5EF4-FFF2-40B4-BE49-F238E27FC236}">
                <a16:creationId xmlns:a16="http://schemas.microsoft.com/office/drawing/2014/main" id="{3B2881C1-9B5C-48A7-B586-0058DB14C24E}"/>
              </a:ext>
            </a:extLst>
          </p:cNvPr>
          <p:cNvSpPr>
            <a:spLocks xmlns:a="http://schemas.openxmlformats.org/drawingml/2006/main" noGrp="1"/>
          </p:cNvSpPr>
          <p:nvPr/>
        </p:nvSpPr>
        <p:spPr>
          <a:xfrm xmlns:a="http://schemas.openxmlformats.org/drawingml/2006/main">
            <a:off x="438150" y="3352800"/>
            <a:ext cx="99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POC containment</a:t>
            </a:r>
          </a:p>
        </p:txBody>
      </p:sp>
      <p:sp>
        <p:nvSpPr>
          <p:cNvPr id="10" name="">
            <a:extLst xmlns:a="http://schemas.openxmlformats.org/drawingml/2006/main">
              <a:ext uri="{FF2B5EF4-FFF2-40B4-BE49-F238E27FC236}">
                <a16:creationId xmlns:a16="http://schemas.microsoft.com/office/drawing/2014/main" id="{8EBAACE0-48EF-4C9B-A88F-B77958F9B7AF}"/>
              </a:ext>
            </a:extLst>
          </p:cNvPr>
          <p:cNvSpPr>
            <a:spLocks xmlns:a="http://schemas.openxmlformats.org/drawingml/2006/main" noGrp="1"/>
          </p:cNvSpPr>
          <p:nvPr/>
        </p:nvSpPr>
        <p:spPr>
          <a:xfrm xmlns:a="http://schemas.openxmlformats.org/drawingml/2006/main">
            <a:off x="390525" y="3781425"/>
            <a:ext cx="108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0">
                <a:solidFill>
                  <a:srgbClr val="9FB4CD"/>
                </a:solidFill>
              </a:defRPr>
            </a:pPr>
            <a:r>
              <a:rPr sz="900" b="0">
                <a:solidFill>
                  <a:srgbClr val="9FB4CD"/>
                </a:solidFill>
              </a:rPr>
              <a:t>Synthetic / de-identified only</a:t>
            </a:r>
          </a:p>
        </p:txBody>
      </p:sp>
      <p:sp>
        <p:nvSpPr>
          <p:cNvPr id="11" name="">
            <a:extLst xmlns:a="http://schemas.openxmlformats.org/drawingml/2006/main">
              <a:ext uri="{FF2B5EF4-FFF2-40B4-BE49-F238E27FC236}">
                <a16:creationId xmlns:a16="http://schemas.microsoft.com/office/drawing/2014/main" id="{2407597D-21A3-4B5B-BB3D-B11330233472}"/>
              </a:ext>
            </a:extLst>
          </p:cNvPr>
          <p:cNvSpPr>
            <a:spLocks xmlns:a="http://schemas.openxmlformats.org/drawingml/2006/main" noGrp="1"/>
          </p:cNvSpPr>
          <p:nvPr/>
        </p:nvSpPr>
        <p:spPr>
          <a:xfrm xmlns:a="http://schemas.openxmlformats.org/drawingml/2006/main">
            <a:off x="1819275" y="2628900"/>
            <a:ext cx="552450" cy="552450"/>
          </a:xfrm>
          <a:prstGeom xmlns:a="http://schemas.openxmlformats.org/drawingml/2006/main" prst="roundRect">
            <a:avLst>
              <a:gd name="adj" fmla="val 50000"/>
            </a:avLst>
          </a:prstGeom>
          <a:solidFill xmlns:a="http://schemas.openxmlformats.org/drawingml/2006/main">
            <a:srgbClr val="4F7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5EBD816-9A5D-46B9-BC25-155FC5E35FCD}"/>
              </a:ext>
            </a:extLst>
          </p:cNvPr>
          <p:cNvSpPr>
            <a:spLocks xmlns:a="http://schemas.openxmlformats.org/drawingml/2006/main" noGrp="1"/>
          </p:cNvSpPr>
          <p:nvPr/>
        </p:nvSpPr>
        <p:spPr>
          <a:xfrm xmlns:a="http://schemas.openxmlformats.org/drawingml/2006/main">
            <a:off x="1819275" y="277177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1</a:t>
            </a:r>
          </a:p>
        </p:txBody>
      </p:sp>
      <p:sp>
        <p:nvSpPr>
          <p:cNvPr id="13" name="">
            <a:extLst xmlns:a="http://schemas.openxmlformats.org/drawingml/2006/main">
              <a:ext uri="{FF2B5EF4-FFF2-40B4-BE49-F238E27FC236}">
                <a16:creationId xmlns:a16="http://schemas.microsoft.com/office/drawing/2014/main" id="{1103F6E3-A52E-48D4-8F3F-D70451AED237}"/>
              </a:ext>
            </a:extLst>
          </p:cNvPr>
          <p:cNvSpPr>
            <a:spLocks xmlns:a="http://schemas.openxmlformats.org/drawingml/2006/main" noGrp="1"/>
          </p:cNvSpPr>
          <p:nvPr/>
        </p:nvSpPr>
        <p:spPr>
          <a:xfrm xmlns:a="http://schemas.openxmlformats.org/drawingml/2006/main">
            <a:off x="1704975" y="3352800"/>
            <a:ext cx="99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Security foundation</a:t>
            </a:r>
          </a:p>
        </p:txBody>
      </p:sp>
      <p:sp>
        <p:nvSpPr>
          <p:cNvPr id="14" name="">
            <a:extLst xmlns:a="http://schemas.openxmlformats.org/drawingml/2006/main">
              <a:ext uri="{FF2B5EF4-FFF2-40B4-BE49-F238E27FC236}">
                <a16:creationId xmlns:a16="http://schemas.microsoft.com/office/drawing/2014/main" id="{EC43D305-B708-4074-87BA-EDCC66ADA947}"/>
              </a:ext>
            </a:extLst>
          </p:cNvPr>
          <p:cNvSpPr>
            <a:spLocks xmlns:a="http://schemas.openxmlformats.org/drawingml/2006/main" noGrp="1"/>
          </p:cNvSpPr>
          <p:nvPr/>
        </p:nvSpPr>
        <p:spPr>
          <a:xfrm xmlns:a="http://schemas.openxmlformats.org/drawingml/2006/main">
            <a:off x="1657350" y="3781425"/>
            <a:ext cx="108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0">
                <a:solidFill>
                  <a:srgbClr val="9FB4CD"/>
                </a:solidFill>
              </a:defRPr>
            </a:pPr>
            <a:r>
              <a:rPr sz="900" b="0">
                <a:solidFill>
                  <a:srgbClr val="9FB4CD"/>
                </a:solidFill>
              </a:rPr>
              <a:t>Identity, network, storage</a:t>
            </a:r>
          </a:p>
        </p:txBody>
      </p:sp>
      <p:sp>
        <p:nvSpPr>
          <p:cNvPr id="15" name="">
            <a:extLst xmlns:a="http://schemas.openxmlformats.org/drawingml/2006/main">
              <a:ext uri="{FF2B5EF4-FFF2-40B4-BE49-F238E27FC236}">
                <a16:creationId xmlns:a16="http://schemas.microsoft.com/office/drawing/2014/main" id="{79A2CBB8-90F9-412B-A519-80673793A455}"/>
              </a:ext>
            </a:extLst>
          </p:cNvPr>
          <p:cNvSpPr>
            <a:spLocks xmlns:a="http://schemas.openxmlformats.org/drawingml/2006/main" noGrp="1"/>
          </p:cNvSpPr>
          <p:nvPr/>
        </p:nvSpPr>
        <p:spPr>
          <a:xfrm xmlns:a="http://schemas.openxmlformats.org/drawingml/2006/main">
            <a:off x="3086100" y="2628900"/>
            <a:ext cx="552450" cy="552450"/>
          </a:xfrm>
          <a:prstGeom xmlns:a="http://schemas.openxmlformats.org/drawingml/2006/main" prst="roundRect">
            <a:avLst>
              <a:gd name="adj" fmla="val 50000"/>
            </a:avLst>
          </a:prstGeom>
          <a:solidFill xmlns:a="http://schemas.openxmlformats.org/drawingml/2006/main">
            <a:srgbClr val="0F9D8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E048638-828F-4F09-9FAC-78E4D1D62777}"/>
              </a:ext>
            </a:extLst>
          </p:cNvPr>
          <p:cNvSpPr>
            <a:spLocks xmlns:a="http://schemas.openxmlformats.org/drawingml/2006/main" noGrp="1"/>
          </p:cNvSpPr>
          <p:nvPr/>
        </p:nvSpPr>
        <p:spPr>
          <a:xfrm xmlns:a="http://schemas.openxmlformats.org/drawingml/2006/main">
            <a:off x="3086100" y="277177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2</a:t>
            </a:r>
          </a:p>
        </p:txBody>
      </p:sp>
      <p:sp>
        <p:nvSpPr>
          <p:cNvPr id="17" name="">
            <a:extLst xmlns:a="http://schemas.openxmlformats.org/drawingml/2006/main">
              <a:ext uri="{FF2B5EF4-FFF2-40B4-BE49-F238E27FC236}">
                <a16:creationId xmlns:a16="http://schemas.microsoft.com/office/drawing/2014/main" id="{22A7DF9F-C0A7-4BB2-8B90-0A1B96F6F1F1}"/>
              </a:ext>
            </a:extLst>
          </p:cNvPr>
          <p:cNvSpPr>
            <a:spLocks xmlns:a="http://schemas.openxmlformats.org/drawingml/2006/main" noGrp="1"/>
          </p:cNvSpPr>
          <p:nvPr/>
        </p:nvSpPr>
        <p:spPr>
          <a:xfrm xmlns:a="http://schemas.openxmlformats.org/drawingml/2006/main">
            <a:off x="2971800" y="3352800"/>
            <a:ext cx="99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Pseudonymized AI pilot</a:t>
            </a:r>
          </a:p>
        </p:txBody>
      </p:sp>
      <p:sp>
        <p:nvSpPr>
          <p:cNvPr id="18" name="">
            <a:extLst xmlns:a="http://schemas.openxmlformats.org/drawingml/2006/main">
              <a:ext uri="{FF2B5EF4-FFF2-40B4-BE49-F238E27FC236}">
                <a16:creationId xmlns:a16="http://schemas.microsoft.com/office/drawing/2014/main" id="{E8DB32D6-CF46-4BB1-AEDF-80FB69AEE95A}"/>
              </a:ext>
            </a:extLst>
          </p:cNvPr>
          <p:cNvSpPr>
            <a:spLocks xmlns:a="http://schemas.openxmlformats.org/drawingml/2006/main" noGrp="1"/>
          </p:cNvSpPr>
          <p:nvPr/>
        </p:nvSpPr>
        <p:spPr>
          <a:xfrm xmlns:a="http://schemas.openxmlformats.org/drawingml/2006/main">
            <a:off x="2924175" y="3781425"/>
            <a:ext cx="108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0">
                <a:solidFill>
                  <a:srgbClr val="9FB4CD"/>
                </a:solidFill>
              </a:defRPr>
            </a:pPr>
            <a:r>
              <a:rPr sz="900" b="0">
                <a:solidFill>
                  <a:srgbClr val="9FB4CD"/>
                </a:solidFill>
              </a:rPr>
              <a:t>Gateway + leakage tests</a:t>
            </a:r>
          </a:p>
        </p:txBody>
      </p:sp>
      <p:sp>
        <p:nvSpPr>
          <p:cNvPr id="19" name="">
            <a:extLst xmlns:a="http://schemas.openxmlformats.org/drawingml/2006/main">
              <a:ext uri="{FF2B5EF4-FFF2-40B4-BE49-F238E27FC236}">
                <a16:creationId xmlns:a16="http://schemas.microsoft.com/office/drawing/2014/main" id="{676FA100-4A63-4C42-A5A2-3896F25A6C0C}"/>
              </a:ext>
            </a:extLst>
          </p:cNvPr>
          <p:cNvSpPr>
            <a:spLocks xmlns:a="http://schemas.openxmlformats.org/drawingml/2006/main" noGrp="1"/>
          </p:cNvSpPr>
          <p:nvPr/>
        </p:nvSpPr>
        <p:spPr>
          <a:xfrm xmlns:a="http://schemas.openxmlformats.org/drawingml/2006/main">
            <a:off x="4352925" y="2628900"/>
            <a:ext cx="552450" cy="552450"/>
          </a:xfrm>
          <a:prstGeom xmlns:a="http://schemas.openxmlformats.org/drawingml/2006/main" prst="roundRect">
            <a:avLst>
              <a:gd name="adj" fmla="val 50000"/>
            </a:avLst>
          </a:prstGeom>
          <a:solidFill xmlns:a="http://schemas.openxmlformats.org/drawingml/2006/main">
            <a:srgbClr val="33A7B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6DC2DFB-ACF0-4466-9AD6-CF73E5A0FD6C}"/>
              </a:ext>
            </a:extLst>
          </p:cNvPr>
          <p:cNvSpPr>
            <a:spLocks xmlns:a="http://schemas.openxmlformats.org/drawingml/2006/main" noGrp="1"/>
          </p:cNvSpPr>
          <p:nvPr/>
        </p:nvSpPr>
        <p:spPr>
          <a:xfrm xmlns:a="http://schemas.openxmlformats.org/drawingml/2006/main">
            <a:off x="4352925" y="277177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3</a:t>
            </a:r>
          </a:p>
        </p:txBody>
      </p:sp>
      <p:sp>
        <p:nvSpPr>
          <p:cNvPr id="21" name="">
            <a:extLst xmlns:a="http://schemas.openxmlformats.org/drawingml/2006/main">
              <a:ext uri="{FF2B5EF4-FFF2-40B4-BE49-F238E27FC236}">
                <a16:creationId xmlns:a16="http://schemas.microsoft.com/office/drawing/2014/main" id="{32774493-7D54-42F8-969E-4DCCA6495C83}"/>
              </a:ext>
            </a:extLst>
          </p:cNvPr>
          <p:cNvSpPr>
            <a:spLocks xmlns:a="http://schemas.openxmlformats.org/drawingml/2006/main" noGrp="1"/>
          </p:cNvSpPr>
          <p:nvPr/>
        </p:nvSpPr>
        <p:spPr>
          <a:xfrm xmlns:a="http://schemas.openxmlformats.org/drawingml/2006/main">
            <a:off x="4238625" y="3352800"/>
            <a:ext cx="99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No-LLM alternatives</a:t>
            </a:r>
          </a:p>
        </p:txBody>
      </p:sp>
      <p:sp>
        <p:nvSpPr>
          <p:cNvPr id="22" name="">
            <a:extLst xmlns:a="http://schemas.openxmlformats.org/drawingml/2006/main">
              <a:ext uri="{FF2B5EF4-FFF2-40B4-BE49-F238E27FC236}">
                <a16:creationId xmlns:a16="http://schemas.microsoft.com/office/drawing/2014/main" id="{4EB22A54-E45F-4643-9125-C3C6187ECFDA}"/>
              </a:ext>
            </a:extLst>
          </p:cNvPr>
          <p:cNvSpPr>
            <a:spLocks xmlns:a="http://schemas.openxmlformats.org/drawingml/2006/main" noGrp="1"/>
          </p:cNvSpPr>
          <p:nvPr/>
        </p:nvSpPr>
        <p:spPr>
          <a:xfrm xmlns:a="http://schemas.openxmlformats.org/drawingml/2006/main">
            <a:off x="4191000" y="3781425"/>
            <a:ext cx="108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0">
                <a:solidFill>
                  <a:srgbClr val="9FB4CD"/>
                </a:solidFill>
              </a:defRPr>
            </a:pPr>
            <a:r>
              <a:rPr sz="900" b="0">
                <a:solidFill>
                  <a:srgbClr val="9FB4CD"/>
                </a:solidFill>
              </a:rPr>
              <a:t>Translator / local route</a:t>
            </a:r>
          </a:p>
        </p:txBody>
      </p:sp>
      <p:sp>
        <p:nvSpPr>
          <p:cNvPr id="23" name="">
            <a:extLst xmlns:a="http://schemas.openxmlformats.org/drawingml/2006/main">
              <a:ext uri="{FF2B5EF4-FFF2-40B4-BE49-F238E27FC236}">
                <a16:creationId xmlns:a16="http://schemas.microsoft.com/office/drawing/2014/main" id="{7A95DCAD-1A5C-46EC-AEA9-5BA011392514}"/>
              </a:ext>
            </a:extLst>
          </p:cNvPr>
          <p:cNvSpPr>
            <a:spLocks xmlns:a="http://schemas.openxmlformats.org/drawingml/2006/main" noGrp="1"/>
          </p:cNvSpPr>
          <p:nvPr/>
        </p:nvSpPr>
        <p:spPr>
          <a:xfrm xmlns:a="http://schemas.openxmlformats.org/drawingml/2006/main">
            <a:off x="5619750" y="2628900"/>
            <a:ext cx="552450" cy="5524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99FD06A-605D-4606-9BC8-D2DE5E2DA708}"/>
              </a:ext>
            </a:extLst>
          </p:cNvPr>
          <p:cNvSpPr>
            <a:spLocks xmlns:a="http://schemas.openxmlformats.org/drawingml/2006/main" noGrp="1"/>
          </p:cNvSpPr>
          <p:nvPr/>
        </p:nvSpPr>
        <p:spPr>
          <a:xfrm xmlns:a="http://schemas.openxmlformats.org/drawingml/2006/main">
            <a:off x="5619750" y="277177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4</a:t>
            </a:r>
          </a:p>
        </p:txBody>
      </p:sp>
      <p:sp>
        <p:nvSpPr>
          <p:cNvPr id="25" name="">
            <a:extLst xmlns:a="http://schemas.openxmlformats.org/drawingml/2006/main">
              <a:ext uri="{FF2B5EF4-FFF2-40B4-BE49-F238E27FC236}">
                <a16:creationId xmlns:a16="http://schemas.microsoft.com/office/drawing/2014/main" id="{EAF34D7D-C35B-4241-A917-18FF4444C5B3}"/>
              </a:ext>
            </a:extLst>
          </p:cNvPr>
          <p:cNvSpPr>
            <a:spLocks xmlns:a="http://schemas.openxmlformats.org/drawingml/2006/main" noGrp="1"/>
          </p:cNvSpPr>
          <p:nvPr/>
        </p:nvSpPr>
        <p:spPr>
          <a:xfrm xmlns:a="http://schemas.openxmlformats.org/drawingml/2006/main">
            <a:off x="5505450" y="3352800"/>
            <a:ext cx="99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Raw exception</a:t>
            </a:r>
          </a:p>
        </p:txBody>
      </p:sp>
      <p:sp>
        <p:nvSpPr>
          <p:cNvPr id="26" name="">
            <a:extLst xmlns:a="http://schemas.openxmlformats.org/drawingml/2006/main">
              <a:ext uri="{FF2B5EF4-FFF2-40B4-BE49-F238E27FC236}">
                <a16:creationId xmlns:a16="http://schemas.microsoft.com/office/drawing/2014/main" id="{76809402-D3B2-40E5-9009-1EB40C1BC793}"/>
              </a:ext>
            </a:extLst>
          </p:cNvPr>
          <p:cNvSpPr>
            <a:spLocks xmlns:a="http://schemas.openxmlformats.org/drawingml/2006/main" noGrp="1"/>
          </p:cNvSpPr>
          <p:nvPr/>
        </p:nvSpPr>
        <p:spPr>
          <a:xfrm xmlns:a="http://schemas.openxmlformats.org/drawingml/2006/main">
            <a:off x="5457825" y="3781425"/>
            <a:ext cx="108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0">
                <a:solidFill>
                  <a:srgbClr val="9FB4CD"/>
                </a:solidFill>
              </a:defRPr>
            </a:pPr>
            <a:r>
              <a:rPr sz="900" b="0">
                <a:solidFill>
                  <a:srgbClr val="9FB4CD"/>
                </a:solidFill>
              </a:rPr>
              <a:t>Optional + time-bound</a:t>
            </a:r>
          </a:p>
        </p:txBody>
      </p:sp>
      <p:sp>
        <p:nvSpPr>
          <p:cNvPr id="27" name="">
            <a:extLst xmlns:a="http://schemas.openxmlformats.org/drawingml/2006/main">
              <a:ext uri="{FF2B5EF4-FFF2-40B4-BE49-F238E27FC236}">
                <a16:creationId xmlns:a16="http://schemas.microsoft.com/office/drawing/2014/main" id="{D6883F1C-6807-4457-AB25-F4BAD2B66D3A}"/>
              </a:ext>
            </a:extLst>
          </p:cNvPr>
          <p:cNvSpPr>
            <a:spLocks xmlns:a="http://schemas.openxmlformats.org/drawingml/2006/main" noGrp="1"/>
          </p:cNvSpPr>
          <p:nvPr/>
        </p:nvSpPr>
        <p:spPr>
          <a:xfrm xmlns:a="http://schemas.openxmlformats.org/drawingml/2006/main">
            <a:off x="6886575" y="2628900"/>
            <a:ext cx="552450" cy="552450"/>
          </a:xfrm>
          <a:prstGeom xmlns:a="http://schemas.openxmlformats.org/drawingml/2006/main" prst="roundRect">
            <a:avLst>
              <a:gd name="adj" fmla="val 50000"/>
            </a:avLst>
          </a:prstGeom>
          <a:solidFill xmlns:a="http://schemas.openxmlformats.org/drawingml/2006/main">
            <a:srgbClr val="7C5CE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56854D5-99B2-4533-99B8-F03109D823A7}"/>
              </a:ext>
            </a:extLst>
          </p:cNvPr>
          <p:cNvSpPr>
            <a:spLocks xmlns:a="http://schemas.openxmlformats.org/drawingml/2006/main" noGrp="1"/>
          </p:cNvSpPr>
          <p:nvPr/>
        </p:nvSpPr>
        <p:spPr>
          <a:xfrm xmlns:a="http://schemas.openxmlformats.org/drawingml/2006/main">
            <a:off x="6886575" y="2771775"/>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5</a:t>
            </a:r>
          </a:p>
        </p:txBody>
      </p:sp>
      <p:sp>
        <p:nvSpPr>
          <p:cNvPr id="29" name="">
            <a:extLst xmlns:a="http://schemas.openxmlformats.org/drawingml/2006/main">
              <a:ext uri="{FF2B5EF4-FFF2-40B4-BE49-F238E27FC236}">
                <a16:creationId xmlns:a16="http://schemas.microsoft.com/office/drawing/2014/main" id="{27A89A71-9C2E-4956-AC86-53B40132FAC4}"/>
              </a:ext>
            </a:extLst>
          </p:cNvPr>
          <p:cNvSpPr>
            <a:spLocks xmlns:a="http://schemas.openxmlformats.org/drawingml/2006/main" noGrp="1"/>
          </p:cNvSpPr>
          <p:nvPr/>
        </p:nvSpPr>
        <p:spPr>
          <a:xfrm xmlns:a="http://schemas.openxmlformats.org/drawingml/2006/main">
            <a:off x="6772275" y="3352800"/>
            <a:ext cx="99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Production readiness</a:t>
            </a:r>
          </a:p>
        </p:txBody>
      </p:sp>
      <p:sp>
        <p:nvSpPr>
          <p:cNvPr id="30" name="">
            <a:extLst xmlns:a="http://schemas.openxmlformats.org/drawingml/2006/main">
              <a:ext uri="{FF2B5EF4-FFF2-40B4-BE49-F238E27FC236}">
                <a16:creationId xmlns:a16="http://schemas.microsoft.com/office/drawing/2014/main" id="{0DBC92C9-5DDF-49F2-A37C-4A675B84B351}"/>
              </a:ext>
            </a:extLst>
          </p:cNvPr>
          <p:cNvSpPr>
            <a:spLocks xmlns:a="http://schemas.openxmlformats.org/drawingml/2006/main" noGrp="1"/>
          </p:cNvSpPr>
          <p:nvPr/>
        </p:nvSpPr>
        <p:spPr>
          <a:xfrm xmlns:a="http://schemas.openxmlformats.org/drawingml/2006/main">
            <a:off x="6724650" y="3781425"/>
            <a:ext cx="108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0">
                <a:solidFill>
                  <a:srgbClr val="9FB4CD"/>
                </a:solidFill>
              </a:defRPr>
            </a:pPr>
            <a:r>
              <a:rPr sz="900" b="0">
                <a:solidFill>
                  <a:srgbClr val="9FB4CD"/>
                </a:solidFill>
              </a:rPr>
              <a:t>Assurance + operations</a:t>
            </a:r>
          </a:p>
        </p:txBody>
      </p:sp>
      <p:sp>
        <p:nvSpPr>
          <p:cNvPr id="31" name="">
            <a:extLst xmlns:a="http://schemas.openxmlformats.org/drawingml/2006/main">
              <a:ext uri="{FF2B5EF4-FFF2-40B4-BE49-F238E27FC236}">
                <a16:creationId xmlns:a16="http://schemas.microsoft.com/office/drawing/2014/main" id="{3023581D-74D8-4B98-8D6F-75BAACDC3814}"/>
              </a:ext>
            </a:extLst>
          </p:cNvPr>
          <p:cNvSpPr>
            <a:spLocks xmlns:a="http://schemas.openxmlformats.org/drawingml/2006/main" noGrp="1"/>
          </p:cNvSpPr>
          <p:nvPr/>
        </p:nvSpPr>
        <p:spPr>
          <a:xfrm xmlns:a="http://schemas.openxmlformats.org/drawingml/2006/main">
            <a:off x="8058150" y="1943100"/>
            <a:ext cx="3581400" cy="3714750"/>
          </a:xfrm>
          <a:prstGeom xmlns:a="http://schemas.openxmlformats.org/drawingml/2006/main" prst="roundRect">
            <a:avLst>
              <a:gd name="adj" fmla="val 6383"/>
            </a:avLst>
          </a:prstGeom>
          <a:solidFill xmlns:a="http://schemas.openxmlformats.org/drawingml/2006/main">
            <a:srgbClr val="0E294C"/>
          </a:solidFill>
          <a:ln xmlns:a="http://schemas.openxmlformats.org/drawingml/2006/main" w="9525">
            <a:solidFill>
              <a:srgbClr val="24466F"/>
            </a:solidFill>
            <a:prstDash val="solid"/>
          </a:ln>
        </p:spPr>
      </p:sp>
      <p:sp>
        <p:nvSpPr>
          <p:cNvPr id="32" name="">
            <a:extLst xmlns:a="http://schemas.openxmlformats.org/drawingml/2006/main">
              <a:ext uri="{FF2B5EF4-FFF2-40B4-BE49-F238E27FC236}">
                <a16:creationId xmlns:a16="http://schemas.microsoft.com/office/drawing/2014/main" id="{80870855-3DB4-445D-9355-E040FE909BA6}"/>
              </a:ext>
            </a:extLst>
          </p:cNvPr>
          <p:cNvSpPr>
            <a:spLocks xmlns:a="http://schemas.openxmlformats.org/drawingml/2006/main" noGrp="1"/>
          </p:cNvSpPr>
          <p:nvPr/>
        </p:nvSpPr>
        <p:spPr>
          <a:xfrm xmlns:a="http://schemas.openxmlformats.org/drawingml/2006/main">
            <a:off x="8343900" y="22098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80ABFF"/>
                </a:solidFill>
              </a:defRPr>
            </a:pPr>
            <a:r>
              <a:rPr sz="900" b="1">
                <a:solidFill>
                  <a:srgbClr val="80ABFF"/>
                </a:solidFill>
              </a:rPr>
              <a:t>MANAGEMENT DECISIONS</a:t>
            </a:r>
          </a:p>
        </p:txBody>
      </p:sp>
      <p:sp>
        <p:nvSpPr>
          <p:cNvPr id="33" name="">
            <a:extLst xmlns:a="http://schemas.openxmlformats.org/drawingml/2006/main">
              <a:ext uri="{FF2B5EF4-FFF2-40B4-BE49-F238E27FC236}">
                <a16:creationId xmlns:a16="http://schemas.microsoft.com/office/drawing/2014/main" id="{9E7812FE-C8C7-451B-874F-E2B30E5F7A11}"/>
              </a:ext>
            </a:extLst>
          </p:cNvPr>
          <p:cNvSpPr>
            <a:spLocks xmlns:a="http://schemas.openxmlformats.org/drawingml/2006/main" noGrp="1"/>
          </p:cNvSpPr>
          <p:nvPr/>
        </p:nvSpPr>
        <p:spPr>
          <a:xfrm xmlns:a="http://schemas.openxmlformats.org/drawingml/2006/main">
            <a:off x="8343900" y="2628900"/>
            <a:ext cx="400050" cy="400050"/>
          </a:xfrm>
          <a:prstGeom xmlns:a="http://schemas.openxmlformats.org/drawingml/2006/main" prst="roundRect">
            <a:avLst>
              <a:gd name="adj" fmla="val 33333"/>
            </a:avLst>
          </a:prstGeom>
          <a:solidFill xmlns:a="http://schemas.openxmlformats.org/drawingml/2006/main">
            <a:srgbClr val="153A64"/>
          </a:solidFill>
          <a:ln xmlns:a="http://schemas.openxmlformats.org/drawingml/2006/main" w="0">
            <a:noFill/>
            <a:prstDash val="solid"/>
          </a:ln>
        </p:spPr>
      </p:sp>
      <p:pic>
        <p:nvPicPr>
          <p:cNvPr id="87" name=""/>
          <p:cNvPicPr>
            <a:picLocks xmlns:a="http://schemas.openxmlformats.org/drawingml/2006/main" noChangeAspect="1"/>
          </p:cNvPicPr>
          <p:nvPr/>
        </p:nvPicPr>
        <p:blipFill>
          <a:blip xmlns:r="http://schemas.openxmlformats.org/officeDocument/2006/relationships" xmlns:a="http://schemas.openxmlformats.org/drawingml/2006/main" r:embed="R06f15012a5064885">
            <a:extLst>
              <a:ext uri="{96DAC541-7B7A-43D3-8B79-37D633B846F1}">
                <asvg:svgBlip xmlns:asvg="http://schemas.microsoft.com/office/drawing/2016/SVG/main" r:embed="R2cb9af273ce74390"/>
              </a:ext>
            </a:extLst>
          </a:blip>
          <a:stretch xmlns:a="http://schemas.openxmlformats.org/drawingml/2006/main"/>
        </p:blipFill>
        <p:spPr>
          <a:xfrm xmlns:a="http://schemas.openxmlformats.org/drawingml/2006/main">
            <a:off x="8448675" y="2733675"/>
            <a:ext cx="190500" cy="19050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C047A89F-C3FE-4EEA-87BD-6435C2722D85}"/>
              </a:ext>
            </a:extLst>
          </p:cNvPr>
          <p:cNvSpPr>
            <a:spLocks xmlns:a="http://schemas.openxmlformats.org/drawingml/2006/main" noGrp="1"/>
          </p:cNvSpPr>
          <p:nvPr/>
        </p:nvSpPr>
        <p:spPr>
          <a:xfrm xmlns:a="http://schemas.openxmlformats.org/drawingml/2006/main">
            <a:off x="8877300" y="2628900"/>
            <a:ext cx="24003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FFFFF"/>
                </a:solidFill>
              </a:defRPr>
            </a:pPr>
            <a:r>
              <a:rPr sz="1050" b="1">
                <a:solidFill>
                  <a:srgbClr val="FFFFFF"/>
                </a:solidFill>
              </a:rPr>
              <a:t>Approve the default processing policy</a:t>
            </a:r>
          </a:p>
        </p:txBody>
      </p:sp>
      <p:sp>
        <p:nvSpPr>
          <p:cNvPr id="36" name="">
            <a:extLst xmlns:a="http://schemas.openxmlformats.org/drawingml/2006/main">
              <a:ext uri="{FF2B5EF4-FFF2-40B4-BE49-F238E27FC236}">
                <a16:creationId xmlns:a16="http://schemas.microsoft.com/office/drawing/2014/main" id="{E1C65A1A-4C6A-4F89-9D32-6BB3E1750D62}"/>
              </a:ext>
            </a:extLst>
          </p:cNvPr>
          <p:cNvSpPr>
            <a:spLocks xmlns:a="http://schemas.openxmlformats.org/drawingml/2006/main" noGrp="1"/>
          </p:cNvSpPr>
          <p:nvPr/>
        </p:nvSpPr>
        <p:spPr>
          <a:xfrm xmlns:a="http://schemas.openxmlformats.org/drawingml/2006/main">
            <a:off x="8877300" y="2867025"/>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AFC1D6"/>
                </a:solidFill>
              </a:defRPr>
            </a:pPr>
            <a:r>
              <a:rPr sz="900" b="0">
                <a:solidFill>
                  <a:srgbClr val="AFC1D6"/>
                </a:solidFill>
              </a:rPr>
              <a:t>Pseudonymized AI by default; raw data requires exception.</a:t>
            </a:r>
          </a:p>
        </p:txBody>
      </p:sp>
      <p:sp>
        <p:nvSpPr>
          <p:cNvPr id="37" name="">
            <a:extLst xmlns:a="http://schemas.openxmlformats.org/drawingml/2006/main">
              <a:ext uri="{FF2B5EF4-FFF2-40B4-BE49-F238E27FC236}">
                <a16:creationId xmlns:a16="http://schemas.microsoft.com/office/drawing/2014/main" id="{79FD99C8-B246-418E-B642-E8961F8F951F}"/>
              </a:ext>
            </a:extLst>
          </p:cNvPr>
          <p:cNvSpPr>
            <a:spLocks xmlns:a="http://schemas.openxmlformats.org/drawingml/2006/main" noGrp="1"/>
          </p:cNvSpPr>
          <p:nvPr/>
        </p:nvSpPr>
        <p:spPr>
          <a:xfrm xmlns:a="http://schemas.openxmlformats.org/drawingml/2006/main">
            <a:off x="8343900" y="3314700"/>
            <a:ext cx="400050" cy="400050"/>
          </a:xfrm>
          <a:prstGeom xmlns:a="http://schemas.openxmlformats.org/drawingml/2006/main" prst="roundRect">
            <a:avLst>
              <a:gd name="adj" fmla="val 33333"/>
            </a:avLst>
          </a:prstGeom>
          <a:solidFill xmlns:a="http://schemas.openxmlformats.org/drawingml/2006/main">
            <a:srgbClr val="153A64"/>
          </a:solidFill>
          <a:ln xmlns:a="http://schemas.openxmlformats.org/drawingml/2006/main" w="0">
            <a:noFill/>
            <a:prstDash val="solid"/>
          </a:ln>
        </p:spPr>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2c67e025dbe343ae">
            <a:extLst>
              <a:ext uri="{96DAC541-7B7A-43D3-8B79-37D633B846F1}">
                <asvg:svgBlip xmlns:asvg="http://schemas.microsoft.com/office/drawing/2016/SVG/main" r:embed="R8623149b5f274941"/>
              </a:ext>
            </a:extLst>
          </a:blip>
          <a:stretch xmlns:a="http://schemas.openxmlformats.org/drawingml/2006/main"/>
        </p:blipFill>
        <p:spPr>
          <a:xfrm xmlns:a="http://schemas.openxmlformats.org/drawingml/2006/main">
            <a:off x="8448675" y="3419475"/>
            <a:ext cx="190500" cy="19050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534208C8-0694-4048-B5E1-830952F1AB81}"/>
              </a:ext>
            </a:extLst>
          </p:cNvPr>
          <p:cNvSpPr>
            <a:spLocks xmlns:a="http://schemas.openxmlformats.org/drawingml/2006/main" noGrp="1"/>
          </p:cNvSpPr>
          <p:nvPr/>
        </p:nvSpPr>
        <p:spPr>
          <a:xfrm xmlns:a="http://schemas.openxmlformats.org/drawingml/2006/main">
            <a:off x="8877300" y="3314700"/>
            <a:ext cx="24003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FFFFF"/>
                </a:solidFill>
              </a:defRPr>
            </a:pPr>
            <a:r>
              <a:rPr sz="1050" b="1">
                <a:solidFill>
                  <a:srgbClr val="FFFFFF"/>
                </a:solidFill>
              </a:rPr>
              <a:t>Approve all five processing profiles</a:t>
            </a:r>
          </a:p>
        </p:txBody>
      </p:sp>
      <p:sp>
        <p:nvSpPr>
          <p:cNvPr id="40" name="">
            <a:extLst xmlns:a="http://schemas.openxmlformats.org/drawingml/2006/main">
              <a:ext uri="{FF2B5EF4-FFF2-40B4-BE49-F238E27FC236}">
                <a16:creationId xmlns:a16="http://schemas.microsoft.com/office/drawing/2014/main" id="{55B121AB-F7BF-4C2B-B861-1646933E343C}"/>
              </a:ext>
            </a:extLst>
          </p:cNvPr>
          <p:cNvSpPr>
            <a:spLocks xmlns:a="http://schemas.openxmlformats.org/drawingml/2006/main" noGrp="1"/>
          </p:cNvSpPr>
          <p:nvPr/>
        </p:nvSpPr>
        <p:spPr>
          <a:xfrm xmlns:a="http://schemas.openxmlformats.org/drawingml/2006/main">
            <a:off x="8877300" y="3552825"/>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AFC1D6"/>
                </a:solidFill>
              </a:defRPr>
            </a:pPr>
            <a:r>
              <a:rPr sz="900" b="0">
                <a:solidFill>
                  <a:srgbClr val="AFC1D6"/>
                </a:solidFill>
              </a:rPr>
              <a:t>Every classification has a safe, explicit route.</a:t>
            </a:r>
          </a:p>
        </p:txBody>
      </p:sp>
      <p:sp>
        <p:nvSpPr>
          <p:cNvPr id="41" name="">
            <a:extLst xmlns:a="http://schemas.openxmlformats.org/drawingml/2006/main">
              <a:ext uri="{FF2B5EF4-FFF2-40B4-BE49-F238E27FC236}">
                <a16:creationId xmlns:a16="http://schemas.microsoft.com/office/drawing/2014/main" id="{7E8E496C-69A7-4779-80E5-07402235102B}"/>
              </a:ext>
            </a:extLst>
          </p:cNvPr>
          <p:cNvSpPr>
            <a:spLocks xmlns:a="http://schemas.openxmlformats.org/drawingml/2006/main" noGrp="1"/>
          </p:cNvSpPr>
          <p:nvPr/>
        </p:nvSpPr>
        <p:spPr>
          <a:xfrm xmlns:a="http://schemas.openxmlformats.org/drawingml/2006/main">
            <a:off x="8343900" y="4000500"/>
            <a:ext cx="400050" cy="400050"/>
          </a:xfrm>
          <a:prstGeom xmlns:a="http://schemas.openxmlformats.org/drawingml/2006/main" prst="roundRect">
            <a:avLst>
              <a:gd name="adj" fmla="val 33333"/>
            </a:avLst>
          </a:prstGeom>
          <a:solidFill xmlns:a="http://schemas.openxmlformats.org/drawingml/2006/main">
            <a:srgbClr val="153A64"/>
          </a:solidFill>
          <a:ln xmlns:a="http://schemas.openxmlformats.org/drawingml/2006/main" w="0">
            <a:noFill/>
            <a:prstDash val="solid"/>
          </a:ln>
        </p:spPr>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9f36621228744825">
            <a:extLst>
              <a:ext uri="{96DAC541-7B7A-43D3-8B79-37D633B846F1}">
                <asvg:svgBlip xmlns:asvg="http://schemas.microsoft.com/office/drawing/2016/SVG/main" r:embed="R31fa75dbcd7c4da5"/>
              </a:ext>
            </a:extLst>
          </a:blip>
          <a:stretch xmlns:a="http://schemas.openxmlformats.org/drawingml/2006/main"/>
        </p:blipFill>
        <p:spPr>
          <a:xfrm xmlns:a="http://schemas.openxmlformats.org/drawingml/2006/main">
            <a:off x="8448675" y="4105275"/>
            <a:ext cx="190500" cy="19050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406654E5-63DE-460E-AD21-FE74D2DAA248}"/>
              </a:ext>
            </a:extLst>
          </p:cNvPr>
          <p:cNvSpPr>
            <a:spLocks xmlns:a="http://schemas.openxmlformats.org/drawingml/2006/main" noGrp="1"/>
          </p:cNvSpPr>
          <p:nvPr/>
        </p:nvSpPr>
        <p:spPr>
          <a:xfrm xmlns:a="http://schemas.openxmlformats.org/drawingml/2006/main">
            <a:off x="8877300" y="4000500"/>
            <a:ext cx="24003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FFFFF"/>
                </a:solidFill>
              </a:defRPr>
            </a:pPr>
            <a:r>
              <a:rPr sz="1050" b="1">
                <a:solidFill>
                  <a:srgbClr val="FFFFFF"/>
                </a:solidFill>
              </a:rPr>
              <a:t>Assign accountable owners</a:t>
            </a:r>
          </a:p>
        </p:txBody>
      </p:sp>
      <p:sp>
        <p:nvSpPr>
          <p:cNvPr id="44" name="">
            <a:extLst xmlns:a="http://schemas.openxmlformats.org/drawingml/2006/main">
              <a:ext uri="{FF2B5EF4-FFF2-40B4-BE49-F238E27FC236}">
                <a16:creationId xmlns:a16="http://schemas.microsoft.com/office/drawing/2014/main" id="{036F7310-BD94-4D5F-BF59-EC58693F1D0A}"/>
              </a:ext>
            </a:extLst>
          </p:cNvPr>
          <p:cNvSpPr>
            <a:spLocks xmlns:a="http://schemas.openxmlformats.org/drawingml/2006/main" noGrp="1"/>
          </p:cNvSpPr>
          <p:nvPr/>
        </p:nvSpPr>
        <p:spPr>
          <a:xfrm xmlns:a="http://schemas.openxmlformats.org/drawingml/2006/main">
            <a:off x="8877300" y="4238625"/>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AFC1D6"/>
                </a:solidFill>
              </a:defRPr>
            </a:pPr>
            <a:r>
              <a:rPr sz="900" b="0">
                <a:solidFill>
                  <a:srgbClr val="AFC1D6"/>
                </a:solidFill>
              </a:rPr>
              <a:t>Security, privacy and legal reviewers own the evidence gates.</a:t>
            </a:r>
          </a:p>
        </p:txBody>
      </p:sp>
      <p:sp>
        <p:nvSpPr>
          <p:cNvPr id="45" name="">
            <a:extLst xmlns:a="http://schemas.openxmlformats.org/drawingml/2006/main">
              <a:ext uri="{FF2B5EF4-FFF2-40B4-BE49-F238E27FC236}">
                <a16:creationId xmlns:a16="http://schemas.microsoft.com/office/drawing/2014/main" id="{86C39657-44A9-4664-B6D0-1C9AAC271063}"/>
              </a:ext>
            </a:extLst>
          </p:cNvPr>
          <p:cNvSpPr>
            <a:spLocks xmlns:a="http://schemas.openxmlformats.org/drawingml/2006/main" noGrp="1"/>
          </p:cNvSpPr>
          <p:nvPr/>
        </p:nvSpPr>
        <p:spPr>
          <a:xfrm xmlns:a="http://schemas.openxmlformats.org/drawingml/2006/main">
            <a:off x="8343900" y="4686300"/>
            <a:ext cx="400050" cy="400050"/>
          </a:xfrm>
          <a:prstGeom xmlns:a="http://schemas.openxmlformats.org/drawingml/2006/main" prst="roundRect">
            <a:avLst>
              <a:gd name="adj" fmla="val 33333"/>
            </a:avLst>
          </a:prstGeom>
          <a:solidFill xmlns:a="http://schemas.openxmlformats.org/drawingml/2006/main">
            <a:srgbClr val="153A64"/>
          </a:solidFill>
          <a:ln xmlns:a="http://schemas.openxmlformats.org/drawingml/2006/main" w="0">
            <a:noFill/>
            <a:prstDash val="solid"/>
          </a:ln>
        </p:spPr>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d51a33176eb54e59">
            <a:extLst>
              <a:ext uri="{96DAC541-7B7A-43D3-8B79-37D633B846F1}">
                <asvg:svgBlip xmlns:asvg="http://schemas.microsoft.com/office/drawing/2016/SVG/main" r:embed="R1a99c11f4bf24c95"/>
              </a:ext>
            </a:extLst>
          </a:blip>
          <a:stretch xmlns:a="http://schemas.openxmlformats.org/drawingml/2006/main"/>
        </p:blipFill>
        <p:spPr>
          <a:xfrm xmlns:a="http://schemas.openxmlformats.org/drawingml/2006/main">
            <a:off x="8448675" y="4791075"/>
            <a:ext cx="190500" cy="190500"/>
          </a:xfrm>
          <a:prstGeom xmlns:a="http://schemas.openxmlformats.org/drawingml/2006/main" prst="rect">
            <a:avLst/>
          </a:prstGeom>
        </p:spPr>
      </p:pic>
      <p:sp>
        <p:nvSpPr>
          <p:cNvPr id="47" name="">
            <a:extLst xmlns:a="http://schemas.openxmlformats.org/drawingml/2006/main">
              <a:ext uri="{FF2B5EF4-FFF2-40B4-BE49-F238E27FC236}">
                <a16:creationId xmlns:a16="http://schemas.microsoft.com/office/drawing/2014/main" id="{7D966B7C-ABD7-46A4-81A9-D9EF794299DD}"/>
              </a:ext>
            </a:extLst>
          </p:cNvPr>
          <p:cNvSpPr>
            <a:spLocks xmlns:a="http://schemas.openxmlformats.org/drawingml/2006/main" noGrp="1"/>
          </p:cNvSpPr>
          <p:nvPr/>
        </p:nvSpPr>
        <p:spPr>
          <a:xfrm xmlns:a="http://schemas.openxmlformats.org/drawingml/2006/main">
            <a:off x="8877300" y="4686300"/>
            <a:ext cx="24003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FFFFF"/>
                </a:solidFill>
              </a:defRPr>
            </a:pPr>
            <a:r>
              <a:rPr sz="1050" b="1">
                <a:solidFill>
                  <a:srgbClr val="FFFFFF"/>
                </a:solidFill>
              </a:rPr>
              <a:t>Authorize Gate 1 implementation</a:t>
            </a:r>
          </a:p>
        </p:txBody>
      </p:sp>
      <p:sp>
        <p:nvSpPr>
          <p:cNvPr id="48" name="">
            <a:extLst xmlns:a="http://schemas.openxmlformats.org/drawingml/2006/main">
              <a:ext uri="{FF2B5EF4-FFF2-40B4-BE49-F238E27FC236}">
                <a16:creationId xmlns:a16="http://schemas.microsoft.com/office/drawing/2014/main" id="{CC51FF8B-179A-4B84-8962-EA8B9915EE26}"/>
              </a:ext>
            </a:extLst>
          </p:cNvPr>
          <p:cNvSpPr>
            <a:spLocks xmlns:a="http://schemas.openxmlformats.org/drawingml/2006/main" noGrp="1"/>
          </p:cNvSpPr>
          <p:nvPr/>
        </p:nvSpPr>
        <p:spPr>
          <a:xfrm xmlns:a="http://schemas.openxmlformats.org/drawingml/2006/main">
            <a:off x="8877300" y="4924425"/>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AFC1D6"/>
                </a:solidFill>
              </a:defRPr>
            </a:pPr>
            <a:r>
              <a:rPr sz="900" b="0">
                <a:solidFill>
                  <a:srgbClr val="AFC1D6"/>
                </a:solidFill>
              </a:rPr>
              <a:t>Identity, private networking, storage and audit foundation.</a:t>
            </a:r>
          </a:p>
        </p:txBody>
      </p:sp>
      <p:sp>
        <p:nvSpPr>
          <p:cNvPr id="49" name="">
            <a:extLst xmlns:a="http://schemas.openxmlformats.org/drawingml/2006/main">
              <a:ext uri="{FF2B5EF4-FFF2-40B4-BE49-F238E27FC236}">
                <a16:creationId xmlns:a16="http://schemas.microsoft.com/office/drawing/2014/main" id="{EFE6EB70-4AF8-45BC-B865-797DFC8E35C2}"/>
              </a:ext>
            </a:extLst>
          </p:cNvPr>
          <p:cNvSpPr>
            <a:spLocks xmlns:a="http://schemas.openxmlformats.org/drawingml/2006/main" noGrp="1"/>
          </p:cNvSpPr>
          <p:nvPr/>
        </p:nvSpPr>
        <p:spPr>
          <a:xfrm xmlns:a="http://schemas.openxmlformats.org/drawingml/2006/main">
            <a:off x="552450" y="4781550"/>
            <a:ext cx="6972300" cy="876300"/>
          </a:xfrm>
          <a:prstGeom xmlns:a="http://schemas.openxmlformats.org/drawingml/2006/main" prst="roundRect">
            <a:avLst>
              <a:gd name="adj" fmla="val 23913"/>
            </a:avLst>
          </a:prstGeom>
          <a:solidFill xmlns:a="http://schemas.openxmlformats.org/drawingml/2006/main">
            <a:srgbClr val="102E54"/>
          </a:solidFill>
          <a:ln xmlns:a="http://schemas.openxmlformats.org/drawingml/2006/main" w="9525">
            <a:solidFill>
              <a:srgbClr val="24466F"/>
            </a:solidFill>
            <a:prstDash val="solid"/>
          </a:ln>
        </p:spPr>
      </p:sp>
      <p:sp>
        <p:nvSpPr>
          <p:cNvPr id="50" name="">
            <a:extLst xmlns:a="http://schemas.openxmlformats.org/drawingml/2006/main">
              <a:ext uri="{FF2B5EF4-FFF2-40B4-BE49-F238E27FC236}">
                <a16:creationId xmlns:a16="http://schemas.microsoft.com/office/drawing/2014/main" id="{62BB282F-5808-4FC8-8BBD-6A0C434E1586}"/>
              </a:ext>
            </a:extLst>
          </p:cNvPr>
          <p:cNvSpPr>
            <a:spLocks xmlns:a="http://schemas.openxmlformats.org/drawingml/2006/main" noGrp="1"/>
          </p:cNvSpPr>
          <p:nvPr/>
        </p:nvSpPr>
        <p:spPr>
          <a:xfrm xmlns:a="http://schemas.openxmlformats.org/drawingml/2006/main">
            <a:off x="781050" y="5000625"/>
            <a:ext cx="438150" cy="438150"/>
          </a:xfrm>
          <a:prstGeom xmlns:a="http://schemas.openxmlformats.org/drawingml/2006/main" prst="roundRect">
            <a:avLst>
              <a:gd name="adj" fmla="val 30435"/>
            </a:avLst>
          </a:prstGeom>
          <a:solidFill xmlns:a="http://schemas.openxmlformats.org/drawingml/2006/main">
            <a:srgbClr val="17426F"/>
          </a:solidFill>
          <a:ln xmlns:a="http://schemas.openxmlformats.org/drawingml/2006/main" w="0">
            <a:noFill/>
            <a:prstDash val="solid"/>
          </a:ln>
        </p:spPr>
      </p:sp>
      <p:pic>
        <p:nvPicPr>
          <p:cNvPr id="104" name=""/>
          <p:cNvPicPr>
            <a:picLocks xmlns:a="http://schemas.openxmlformats.org/drawingml/2006/main" noChangeAspect="1"/>
          </p:cNvPicPr>
          <p:nvPr/>
        </p:nvPicPr>
        <p:blipFill>
          <a:blip xmlns:r="http://schemas.openxmlformats.org/officeDocument/2006/relationships" xmlns:a="http://schemas.openxmlformats.org/drawingml/2006/main" r:embed="Rfa4cb1d229824f00">
            <a:extLst>
              <a:ext uri="{96DAC541-7B7A-43D3-8B79-37D633B846F1}">
                <asvg:svgBlip xmlns:asvg="http://schemas.microsoft.com/office/drawing/2016/SVG/main" r:embed="R678b7e364ea34fde"/>
              </a:ext>
            </a:extLst>
          </a:blip>
          <a:stretch xmlns:a="http://schemas.openxmlformats.org/drawingml/2006/main"/>
        </p:blipFill>
        <p:spPr>
          <a:xfrm xmlns:a="http://schemas.openxmlformats.org/drawingml/2006/main">
            <a:off x="885825" y="5105400"/>
            <a:ext cx="228600" cy="228600"/>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26F19191-54B4-4DB4-A2A2-5854D5D74F2B}"/>
              </a:ext>
            </a:extLst>
          </p:cNvPr>
          <p:cNvSpPr>
            <a:spLocks xmlns:a="http://schemas.openxmlformats.org/drawingml/2006/main" noGrp="1"/>
          </p:cNvSpPr>
          <p:nvPr/>
        </p:nvSpPr>
        <p:spPr>
          <a:xfrm xmlns:a="http://schemas.openxmlformats.org/drawingml/2006/main">
            <a:off x="1409700" y="49149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FE7D9"/>
                </a:solidFill>
              </a:defRPr>
            </a:pPr>
            <a:r>
              <a:rPr sz="975" b="1">
                <a:solidFill>
                  <a:srgbClr val="8FE7D9"/>
                </a:solidFill>
              </a:rPr>
              <a:t>Recommended next step</a:t>
            </a:r>
          </a:p>
        </p:txBody>
      </p:sp>
      <p:sp>
        <p:nvSpPr>
          <p:cNvPr id="53" name="">
            <a:extLst xmlns:a="http://schemas.openxmlformats.org/drawingml/2006/main">
              <a:ext uri="{FF2B5EF4-FFF2-40B4-BE49-F238E27FC236}">
                <a16:creationId xmlns:a16="http://schemas.microsoft.com/office/drawing/2014/main" id="{9F83E49D-4CFD-4609-AB91-366B5C1FAA4E}"/>
              </a:ext>
            </a:extLst>
          </p:cNvPr>
          <p:cNvSpPr>
            <a:spLocks xmlns:a="http://schemas.openxmlformats.org/drawingml/2006/main" noGrp="1"/>
          </p:cNvSpPr>
          <p:nvPr/>
        </p:nvSpPr>
        <p:spPr>
          <a:xfrm xmlns:a="http://schemas.openxmlformats.org/drawingml/2006/main">
            <a:off x="1409700" y="5162550"/>
            <a:ext cx="5848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Run a Gate 1 architecture workshop and turn every control into an owner, acceptance test and evidence artifact.</a:t>
            </a:r>
          </a:p>
        </p:txBody>
      </p:sp>
    </p:spTree>
    <p:extLst>
      <p:ext uri="{BB962C8B-B14F-4D97-AF65-F5344CB8AC3E}">
        <p14:creationId xmlns:p14="http://schemas.microsoft.com/office/powerpoint/2010/main" val="14490219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2026-08-02T14:26:03.4410000Z</dcterms:created>
  <dcterms:modified xsi:type="dcterms:W3CDTF">2026-08-02T14:26:03.4420000Z</dcterms:modified>
</coreProperties>
</file>