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2A44"/>
                </a:solidFill>
                <a:latin typeface="Calibri"/>
              </a:rPr>
              <a:t>SA - CareTranslate Studio (Azure Backend)</a:t>
            </a:r>
          </a:p>
        </p:txBody>
      </p:sp>
      <p:pic>
        <p:nvPicPr>
          <p:cNvPr id="4" name="Picture 3" descr="multilingual-translator-studio-backen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1179576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A44"/>
                </a:solidFill>
                <a:latin typeface="Calibri"/>
              </a:rPr>
              <a:t>Editable component map (drag shapes / replace icons)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137160"/>
            <a:ext cx="256032" cy="182880"/>
          </a:xfrm>
          <a:prstGeom prst="roundRect">
            <a:avLst/>
          </a:prstGeom>
          <a:solidFill>
            <a:srgbClr val="FBF3E0"/>
          </a:solidFill>
          <a:ln w="12700">
            <a:solidFill>
              <a:srgbClr val="C9B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8972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  <a:latin typeface="Calibri"/>
              </a:rPr>
              <a:t>New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365760"/>
            <a:ext cx="256032" cy="18288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338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  <a:latin typeface="Calibri"/>
              </a:rPr>
              <a:t>Shared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77724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50392"/>
            <a:ext cx="18105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222"/>
                </a:solidFill>
                <a:latin typeface="Calibri"/>
              </a:rPr>
              <a:t>API Consumers</a:t>
            </a:r>
          </a:p>
          <a:p>
            <a:r>
              <a:rPr sz="900">
                <a:solidFill>
                  <a:srgbClr val="222222"/>
                </a:solidFill>
                <a:latin typeface="Calibri"/>
              </a:rPr>
              <a:t>Partner · BFF · Mobile · External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377440"/>
            <a:ext cx="1920240" cy="7772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450592"/>
            <a:ext cx="17190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Azure Front Door Premium (WAF)</a:t>
            </a:r>
          </a:p>
          <a:p>
            <a:r>
              <a:rPr sz="900">
                <a:solidFill>
                  <a:srgbClr val="222222"/>
                </a:solidFill>
                <a:latin typeface="Calibri"/>
              </a:rPr>
              <a:t>TLS · WAF ·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731520"/>
            <a:ext cx="50292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88888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822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  <a:latin typeface="Calibri"/>
              </a:rPr>
              <a:t>Backend Environment (CAT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143000"/>
            <a:ext cx="4663440" cy="960120"/>
          </a:xfrm>
          <a:prstGeom prst="roundRect">
            <a:avLst>
              <a:gd name="adj" fmla="val 10000"/>
            </a:avLst>
          </a:prstGeom>
          <a:solidFill>
            <a:srgbClr val="FBF3E0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1216152"/>
            <a:ext cx="446227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222"/>
                </a:solidFill>
                <a:latin typeface="Calibri"/>
              </a:rPr>
              <a:t>NS1 · API Gateway Services</a:t>
            </a:r>
          </a:p>
          <a:p>
            <a:r>
              <a:rPr sz="900">
                <a:solidFill>
                  <a:srgbClr val="222222"/>
                </a:solidFill>
                <a:latin typeface="Calibri"/>
              </a:rPr>
              <a:t>FastAPI /api/v1 · Upload · Status · Pages · Cancel/Retry · Downloads · JWT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240280"/>
            <a:ext cx="4663440" cy="1417320"/>
          </a:xfrm>
          <a:prstGeom prst="roundRect">
            <a:avLst>
              <a:gd name="adj" fmla="val 10000"/>
            </a:avLst>
          </a:prstGeom>
          <a:solidFill>
            <a:srgbClr val="FBF3E0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2313432"/>
            <a:ext cx="44622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222"/>
                </a:solidFill>
                <a:latin typeface="Calibri"/>
              </a:rPr>
              <a:t>NS2 · Orchestrator &amp; Processing</a:t>
            </a:r>
          </a:p>
          <a:p>
            <a:r>
              <a:rPr sz="900">
                <a:solidFill>
                  <a:srgbClr val="222222"/>
                </a:solidFill>
                <a:latin typeface="Calibri"/>
              </a:rPr>
              <a:t>Intake/Extract -&gt; Gateway/Profiles -&gt; Translate -&gt; Export
Implemented: GENAI_PSEUDONYMIZED, GENAI_SYNTHETIC_POC, GENAI_RAW_EXCEPTION, MANAGED_NO_LLM, BLOCKED
Proposed: RESTRICTED_LOCAL, HUMAN_ONLY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3794760"/>
            <a:ext cx="4663440" cy="1051560"/>
          </a:xfrm>
          <a:prstGeom prst="roundRect">
            <a:avLst>
              <a:gd name="adj" fmla="val 10000"/>
            </a:avLst>
          </a:prstGeom>
          <a:solidFill>
            <a:srgbClr val="FBF3E0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7208" y="3867912"/>
            <a:ext cx="44622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222"/>
                </a:solidFill>
                <a:latin typeface="Calibri"/>
              </a:rPr>
              <a:t>NS3 · Workers &amp; Agents</a:t>
            </a:r>
          </a:p>
          <a:p>
            <a:r>
              <a:rPr sz="900">
                <a:solidFill>
                  <a:srgbClr val="222222"/>
                </a:solidFill>
                <a:latin typeface="Calibri"/>
              </a:rPr>
              <a:t>Page-range DI worker · Translation worker · Retention · Prompt library · Token 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77724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850392"/>
            <a:ext cx="1170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APIM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JWT · throttle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77724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850392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App Gateway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AI path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554480"/>
            <a:ext cx="4069080" cy="2606040"/>
          </a:xfrm>
          <a:prstGeom prst="roundRect">
            <a:avLst>
              <a:gd name="adj" fmla="val 5000"/>
            </a:avLst>
          </a:prstGeom>
          <a:solidFill>
            <a:srgbClr val="FBF3E0"/>
          </a:solidFill>
          <a:ln w="2222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  <a:latin typeface="Calibri"/>
              </a:rPr>
              <a:t>AI HUB (CAT 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96596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8" y="2039112"/>
            <a:ext cx="3502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Azure OpenAI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GPT structured translation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65176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8" y="2724912"/>
            <a:ext cx="3502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Document Intelligence 4.0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prebuilt-layout · OCR · languages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33756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3410712"/>
            <a:ext cx="35021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Azure AI Translator (optional)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MANAGED_NO_LLM route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34340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44165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AZ Entra ID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App roles · SPN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4343400"/>
            <a:ext cx="1965960" cy="64008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0968" y="44165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Identity Governance</a:t>
            </a:r>
          </a:p>
          <a:p>
            <a:r>
              <a:rPr sz="800">
                <a:solidFill>
                  <a:srgbClr val="222222"/>
                </a:solidFill>
                <a:latin typeface="Calibri"/>
              </a:rPr>
              <a:t>Enterprise IDP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4600" y="5212080"/>
            <a:ext cx="9372600" cy="1051560"/>
          </a:xfrm>
          <a:prstGeom prst="roundRect">
            <a:avLst/>
          </a:prstGeom>
          <a:solidFill>
            <a:srgbClr val="FBF3E0"/>
          </a:solidFill>
          <a:ln w="19050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5257800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A44"/>
                </a:solidFill>
                <a:latin typeface="Calibri"/>
              </a:rPr>
              <a:t>Data Storage Layer · CMK encryption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51760" y="553212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61488" y="5605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2222"/>
                </a:solidFill>
                <a:latin typeface="Calibri"/>
              </a:rPr>
              <a:t>Service Bus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60" y="553212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18888" y="5605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2222"/>
                </a:solidFill>
                <a:latin typeface="Calibri"/>
              </a:rPr>
              <a:t>Blob 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553212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5605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2222"/>
                </a:solidFill>
                <a:latin typeface="Calibri"/>
              </a:rPr>
              <a:t>Azure Database
for PostgreSQL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60" y="553212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B88E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5605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2222"/>
                </a:solidFill>
                <a:latin typeface="Calibri"/>
              </a:rPr>
              <a:t>Cache for Redis
(optional)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286000" y="2743200"/>
            <a:ext cx="228600" cy="0"/>
          </a:xfrm>
          <a:prstGeom prst="line">
            <a:avLst/>
          </a:prstGeom>
          <a:ln w="22225">
            <a:solidFill>
              <a:srgbClr val="44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543800" y="1097280"/>
            <a:ext cx="274320" cy="1645920"/>
          </a:xfrm>
          <a:prstGeom prst="line">
            <a:avLst/>
          </a:prstGeom>
          <a:ln w="22225">
            <a:solidFill>
              <a:srgbClr val="44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7432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Key Vault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8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2140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Entra Identity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5020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Azure Monitor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7900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Log Analytics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CI/CD (GitHub Actions)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5372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Artifacts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698480" y="6446520"/>
            <a:ext cx="1417320" cy="32004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15875">
            <a:solidFill>
              <a:srgbClr val="999999"/>
            </a:solidFill>
          </a:ln>
          <a:effectLst>
            <a:outerShdw blurRad="50800" dist="38100" dir="27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08208" y="6519672"/>
            <a:ext cx="12161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2222"/>
                </a:solidFill>
                <a:latin typeface="Calibri"/>
              </a:rPr>
              <a:t>Private 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2A44"/>
                </a:solidFill>
                <a:latin typeface="Calibri"/>
              </a:rPr>
              <a:t>How to use / edit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Calibri"/>
              </a:rPr>
              <a:t>Slide 1 — Presentation board: high-fidelity architecture image for customer reviews.</a:t>
            </a:r>
          </a:p>
          <a:p>
            <a:r>
              <a:rPr sz="1500" b="1">
                <a:solidFill>
                  <a:srgbClr val="222222"/>
                </a:solidFill>
                <a:latin typeface="Calibri"/>
              </a:rPr>
              <a:t>Slide 2 — Editable map: native PowerPoint shapes + Azure icons (drag, recolor, rename).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>Icons source: Microsoft Azure Architecture Center official SVG pack (when downloaded into docs/diagrams/icons).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222222"/>
                </a:solidFill>
                <a:latin typeface="Calibri"/>
              </a:rPr>
              <a:t>Sell as backend-only: customers bring UI; they integrate via Front Door / APIM.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>CAT 3 = backend namespaces (API - Orchestrator - Workers).  CAT 1 = AI Hub via APIM.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>Data plane: Service Bus - Blob - Azure Database for PostgreSQL - (optional) Cache for Redis, all CMK-encrypted.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>Every component on this board is an Azure service; there is no non-Azure infrastructure in this architecture.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222222"/>
                </a:solidFill>
                <a:latin typeface="Calibri"/>
              </a:rPr>
              <a:t>Also editable in diagrams.net: Multilingual-Translation-Studio-Backend-Architecture.drawio</a:t>
            </a:r>
          </a:p>
          <a:p>
            <a:r>
              <a:rPr sz="1500" b="0">
                <a:solidFill>
                  <a:srgbClr val="222222"/>
                </a:solidFill>
                <a:latin typeface="Calibri"/>
              </a:rPr>
              <a:t>Regenerate: backend\.venv\Scripts\python.exe scripts\generate_backend_architecture_pptx.py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